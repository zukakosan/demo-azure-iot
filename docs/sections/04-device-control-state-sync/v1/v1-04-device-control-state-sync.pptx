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c2d-guidanc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c2d-guidance#comparison-of-cloud-to-device-communication-options" TargetMode="External"/><Relationship Id="rId2" Type="http://schemas.openxmlformats.org/officeDocument/2006/relationships/hyperlink" Target="https://learn.microsoft.com/ja-jp/azure/iot-hub/iot-hub-devguide-messages-c2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c2d-guidance#comparison-of-cloud-to-device-communication-options" TargetMode="External"/><Relationship Id="rId2" Type="http://schemas.openxmlformats.org/officeDocument/2006/relationships/hyperlink" Target="https://learn.microsoft.com/ja-jp/azure/iot-hub/iot-hub-devguide-messages-c2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direct-methods#invoke-a-direct-method-from-a-back-end-app" TargetMode="External"/><Relationship Id="rId2" Type="http://schemas.openxmlformats.org/officeDocument/2006/relationships/hyperlink" Target="https://learn.microsoft.com/ja-jp/azure/iot-hub/iot-hub-devguide-messages-c2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messages-c2d" TargetMode="External"/><Relationship Id="rId2" Type="http://schemas.openxmlformats.org/officeDocument/2006/relationships/hyperlink" Target="https://learn.microsoft.com/ja-jp/azure/iot-hub/how-to-cloud-to-device-messaging?pivots=programming-language-python#create-a-device-applicati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device-twin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device-twins#back-end-operation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4 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デバイスの制御と状態同期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6E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クラウドからデバイスへ働きかける手段を、用途とオフライン時の挙動で使い分ける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3611880"/>
            <a:ext cx="2926080" cy="0"/>
          </a:xfrm>
          <a:prstGeom prst="line">
            <a:avLst/>
          </a:prstGeom>
          <a:noFill/>
          <a:ln w="31750">
            <a:solidFill>
              <a:srgbClr val="4FA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97764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Direct Method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86200" y="39776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Device Twin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C2D メッセージ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39776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成功の確認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D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ワークショップ ／ 本編 15 分・8 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使い分けの軸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クラウドからデバイスへ働きかける3つの目的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クラウドからデバイスへ働きかける操作は、目的とオフライン時の要件で使い分ける。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945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94560"/>
            <a:ext cx="3429000" cy="457200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今すぐ操作したい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9808" y="2779776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ファンを今止め、結果を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その場で確認する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425196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FA3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4398264"/>
            <a:ext cx="91440" cy="91440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14" name="Text 12"/>
          <p:cNvSpPr/>
          <p:nvPr/>
        </p:nvSpPr>
        <p:spPr>
          <a:xfrm>
            <a:off x="1042416" y="42519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Direct Method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79976" y="21945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976" y="2194560"/>
            <a:ext cx="3429000" cy="457200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17" name="Text 15"/>
          <p:cNvSpPr/>
          <p:nvPr/>
        </p:nvSpPr>
        <p:spPr>
          <a:xfrm>
            <a:off x="4544568" y="219456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設定を変えたい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62856" y="2779776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送信間隔を10秒に変え、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その状態を保ちたい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62856" y="425196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0872" y="4398264"/>
            <a:ext cx="91440" cy="91440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42519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Device Twin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93024" y="21945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93024" y="2194560"/>
            <a:ext cx="3429000" cy="457200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24" name="Text 22"/>
          <p:cNvSpPr/>
          <p:nvPr/>
        </p:nvSpPr>
        <p:spPr>
          <a:xfrm>
            <a:off x="8357616" y="219456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通知・依頼を届けたい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75904" y="2779776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メンテナンス予定や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診断ログ依頼を届ける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75904" y="425196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087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4398264"/>
            <a:ext cx="91440" cy="91440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8" name="Text 26"/>
          <p:cNvSpPr/>
          <p:nvPr/>
        </p:nvSpPr>
        <p:spPr>
          <a:xfrm>
            <a:off x="8668512" y="42519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C2D メッセージ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07492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5074920"/>
            <a:ext cx="82296" cy="566928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07492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「今やって結果を教えて」は Direct Method、「この状態にしておいて」は Twin、「この通知・依頼を届けて」は C2D。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https://learn.microsoft.com/ja-jp/azure/iot-hub/iot-hub-devguide-c2d-guidance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第4章  デバイスの制御と状態同期 — Direct Method・Device Twin・C2D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3手段の比較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Direct Method・Device Twin・C2D の使い分け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同じ「クラウド→デバイス」でも、要求の形とオフライン時の扱いが異なる。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5096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3657600"/>
                <a:gridCol w="4791456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方法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主な用途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オフライン時の扱い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Direct Method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即時操作し、その場で応答を確認する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接続待ち内に接続できなければ失敗。後日配送用のキューは持たない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Device Twin (Desired)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最終的に期待する構成へ合わせる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期待値が保持され、再接続時に適用できる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C2D メッセージ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デバイスへの一方向の通知・依頼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一定期間キューに保持（既定 TTL 1時間・最大2日）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98348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498348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98348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継続的に維持する構成は Twin に期待値として保持し、個別の通知・依頼は C2D で届ける。すべてを C2D にはしない。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https://learn.microsoft.com/ja-jp/azure/iot-hub/iot-hub-devguide-c2d-guidance#comparison-of-cloud-to-device-communication-options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https://learn.microsoft.com/ja-jp/azure/iot-hub/iot-hub-devguide-messages-c2d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第4章  デバイスの制御と状態同期 — Direct Method・Device Twin・C2D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制御可否ではない違い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C2D でも制御できるが、Direct Method と何が違うか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C2D でも開始・停止は実装できる。違いは要求・応答と未接続時の扱いにある。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11055096" cy="457200"/>
          </a:xfrm>
          <a:prstGeom prst="rect">
            <a:avLst/>
          </a:prstGeom>
          <a:solidFill>
            <a:srgbClr val="0A2A44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157984"/>
            <a:ext cx="1078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C2D で {"action": "start"} を送り、受信ハンドラで送信を開始できる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48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840480"/>
                <a:gridCol w="474573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比較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Direct Method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C2D メッセージ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基本の形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要求と応答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一方向のメッセージ配送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実行結果の確認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応答でステータス・本文を返せる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返送と要求の対応付けをアプリで実装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未接続時の扱い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長期キューには保持しない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有効期限内はキューに保持できる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選ぶときの意図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「今、開始して。結果を教えて」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「これを届けて。受信したら処理して」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498348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98348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498348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遅れて届いた操作を実行してよいかも選定基準。停止中に届いた「開始」を再接続後に実行すると意図と異なる場合がある。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https://learn.microsoft.com/ja-jp/azure/iot-hub/iot-hub-devguide-c2d-guidance#comparison-of-cloud-to-device-communication-options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https://learn.microsoft.com/ja-jp/azure/iot-hub/iot-hub-devguide-messages-c2d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第4章  デバイスの制御と状態同期 — Direct Method・Device Twin・C2D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成功の意味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送信成功・応答・実行成功は同じではない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クラウドへの送信成功、デバイスからの応答、アプリの実行完了は別の事実。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5096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931920"/>
                <a:gridCol w="428853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観点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Direct Method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C2D メッセージ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クラウドが確認するもの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要求に対するデバイスの応答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Hub への送信・キューへの受け付け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未接続時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接続待ち内に接続できなければ失敗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キューに保持し、有効期限内の受信を待てる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結果の解釈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応答タイムアウトでも未実行とは限らない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送信成功でも受信・処理成功とは限らない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297680"/>
            <a:ext cx="3380232" cy="548640"/>
          </a:xfrm>
          <a:prstGeom prst="roundRect">
            <a:avLst>
              <a:gd name="adj" fmla="val 13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297680"/>
            <a:ext cx="338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クラウドへ送信成功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0312" y="4572000"/>
            <a:ext cx="310896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04360" y="4297680"/>
            <a:ext cx="3380232" cy="548640"/>
          </a:xfrm>
          <a:prstGeom prst="roundRect">
            <a:avLst>
              <a:gd name="adj" fmla="val 13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04360" y="4297680"/>
            <a:ext cx="338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デバイスで受信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57744" y="4572000"/>
            <a:ext cx="310896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241792" y="4297680"/>
            <a:ext cx="3380232" cy="548640"/>
          </a:xfrm>
          <a:prstGeom prst="roundRect">
            <a:avLst>
              <a:gd name="adj" fmla="val 13333"/>
            </a:avLst>
          </a:prstGeom>
          <a:solidFill>
            <a:srgbClr val="EAF2FB"/>
          </a:solidFill>
          <a:ln w="19050">
            <a:solidFill>
              <a:srgbClr val="E087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41792" y="4297680"/>
            <a:ext cx="338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アプリの処理完了（別に確認）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502920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502920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502920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応答タイムアウトは「期限内に結果を確認できなかった」、C2D の送信成功は「IoT Hub が受け付けた」までを意味する。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https://learn.microsoft.com/ja-jp/azure/iot-hub/iot-hub-devguide-direct-methods#invoke-a-direct-method-from-a-back-end-app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https://learn.microsoft.com/ja-jp/azure/iot-hub/iot-hub-devguide-messages-c2d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第4章  デバイスの制御と状態同期 — Direct Method・Device Twin・C2D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保持と再接続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C2D の保持と再接続後の受信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C2D は IoT Hub のデバイス別キューに保持され、有効期限内に再接続すれば受信できる。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クラウド送信ツール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01368" y="2468880"/>
            <a:ext cx="0" cy="2240280"/>
          </a:xfrm>
          <a:prstGeom prst="line">
            <a:avLst/>
          </a:prstGeom>
          <a:noFill/>
          <a:ln w="12700">
            <a:solidFill>
              <a:srgbClr val="D6E1E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29000" y="201168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0B4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のキュー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0" cy="2240280"/>
          </a:xfrm>
          <a:prstGeom prst="line">
            <a:avLst/>
          </a:prstGeom>
          <a:noFill/>
          <a:ln w="12700">
            <a:solidFill>
              <a:srgbClr val="D6E1E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91072" y="201168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25512" y="2468880"/>
            <a:ext cx="0" cy="2240280"/>
          </a:xfrm>
          <a:prstGeom prst="line">
            <a:avLst/>
          </a:prstGeom>
          <a:noFill/>
          <a:ln w="12700">
            <a:solidFill>
              <a:srgbClr val="D6E1E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153144" y="201168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5E6B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3144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C2D ハンドラ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87584" y="2468880"/>
            <a:ext cx="0" cy="2240280"/>
          </a:xfrm>
          <a:prstGeom prst="line">
            <a:avLst/>
          </a:prstGeom>
          <a:noFill/>
          <a:ln w="12700">
            <a:solidFill>
              <a:srgbClr val="D6E1E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618488" y="2697480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デバイス停止中（未接続）にキューへ保持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01368" y="3127248"/>
            <a:ext cx="286207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801368" y="2852928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Device ID 指定で C2D 送信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621024"/>
            <a:ext cx="286207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headEnd type="triangl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4663440" y="334670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再接続 + ハンドラ登録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4114800"/>
            <a:ext cx="572414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663440" y="3840480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保持していた C2D を配送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846320"/>
            <a:ext cx="5344668" cy="566928"/>
          </a:xfrm>
          <a:prstGeom prst="roundRect">
            <a:avLst>
              <a:gd name="adj" fmla="val 9677"/>
            </a:avLst>
          </a:prstGeom>
          <a:solidFill>
            <a:srgbClr val="EAF2FB"/>
          </a:solidFill>
          <a:ln w="12700">
            <a:solidFill>
              <a:srgbClr val="1470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846320"/>
            <a:ext cx="50703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有効期限内に再接続 → 未受信の C2D を受け取れる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77356" y="4846320"/>
            <a:ext cx="5344668" cy="566928"/>
          </a:xfrm>
          <a:prstGeom prst="roundRect">
            <a:avLst>
              <a:gd name="adj" fmla="val 9677"/>
            </a:avLst>
          </a:prstGeom>
          <a:solidFill>
            <a:srgbClr val="F4F9FE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3660" y="4846320"/>
            <a:ext cx="50703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受信前に TTL 切れ → 後から再接続しても受信できない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55595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既定 TTL 1時間・最大2日。保持するのは停止中のアプリではなく IoT Hub。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https://learn.microsoft.com/ja-jp/azure/iot-hub/iot-hub-devguide-messages-c2d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https://learn.microsoft.com/ja-jp/azure/iot-hub/how-to-cloud-to-device-messaging?pivots=programming-language-python#create-a-device-application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第4章  デバイスの制御と状態同期 — Direct Method・Device Twin・C2D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状態同期の基礎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Device Twin の構造（Desired・Reported・Tags）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Device Twin は、期待する構成・報告された状態・分類情報を保持する。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22876" y="2194560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47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2876" y="2322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Device Twin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42332" y="2761488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8636" y="2889504"/>
            <a:ext cx="109728" cy="109728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2" name="Text 10"/>
          <p:cNvSpPr/>
          <p:nvPr/>
        </p:nvSpPr>
        <p:spPr>
          <a:xfrm>
            <a:off x="5271516" y="2807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Desired Properties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88636" y="3090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送信間隔を5分に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42332" y="3566160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8636" y="3694176"/>
            <a:ext cx="109728" cy="109728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16" name="Text 14"/>
          <p:cNvSpPr/>
          <p:nvPr/>
        </p:nvSpPr>
        <p:spPr>
          <a:xfrm>
            <a:off x="5271516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Reported Properties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88636" y="38953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5分へ変更済みと報告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42332" y="4370832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88636" y="4498848"/>
            <a:ext cx="109728" cy="109728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0" name="Text 18"/>
          <p:cNvSpPr/>
          <p:nvPr/>
        </p:nvSpPr>
        <p:spPr>
          <a:xfrm>
            <a:off x="5271516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Tags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88636" y="47000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拠点・機種・展開グループ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2651760"/>
            <a:ext cx="3973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デバイスが書く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017520"/>
            <a:ext cx="3973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Reported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54196" y="3931920"/>
            <a:ext cx="822960" cy="0"/>
          </a:xfrm>
          <a:prstGeom prst="line">
            <a:avLst/>
          </a:prstGeom>
          <a:noFill/>
          <a:ln w="25400">
            <a:solidFill>
              <a:srgbClr val="4FA3E3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648956" y="2651760"/>
            <a:ext cx="3973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クラウドが書く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48956" y="3017520"/>
            <a:ext cx="3973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Desired / Tags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11796" y="3127248"/>
            <a:ext cx="82296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headEnd type="triangl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66928" y="525780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25780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25780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Desired は期待状態、Reported は実状態、Tags はクラウド側の分類情報。Tags はデバイスへ配送しない。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https://learn.microsoft.com/ja-jp/azure/iot-hub/iot-hub-devguide-device-twins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第4章  デバイスの制御と状態同期 — Direct Method・Device Twin・C2D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適用の確認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Desired と Reported の状態同期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Desired の更新は適用完了を意味しない。実際の適用は Reported で確認する。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4688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651760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Desired 更新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" y="34930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クラウドが送信間隔を5分に設定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72384" y="2898648"/>
            <a:ext cx="32004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42900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24688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2651760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8" name="Text 16"/>
          <p:cNvSpPr/>
          <p:nvPr/>
        </p:nvSpPr>
        <p:spPr>
          <a:xfrm>
            <a:off x="4416552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デバイス適用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38728" y="34930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変更を受け取り、送信間隔へ反映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34456" y="2898648"/>
            <a:ext cx="32004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291072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91072" y="24688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2651760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5" name="Text 23"/>
          <p:cNvSpPr/>
          <p:nvPr/>
        </p:nvSpPr>
        <p:spPr>
          <a:xfrm>
            <a:off x="7278624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91072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Reported 更新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34930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適用結果を書き戻す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96528" y="2898648"/>
            <a:ext cx="32004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153144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53144" y="24688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0696" y="2651760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32" name="Text 30"/>
          <p:cNvSpPr/>
          <p:nvPr/>
        </p:nvSpPr>
        <p:spPr>
          <a:xfrm>
            <a:off x="10140696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53144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クラウド確認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62872" y="34930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Reported を読み、期待値と照合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470916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470916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" y="470916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Desired と Reported は非同期。更新した事実と、各デバイスでの適用成功は分けて確認する。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https://learn.microsoft.com/ja-jp/azure/iot-hub/iot-hub-devguide-device-twins#back-end-operations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第4章  デバイスの制御と状態同期 — Direct Method・Device Twin・C2D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理解度の確認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登録した3手段を事例で選び分ける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次の場面で、どの手段を選ぶか説明してください。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48840"/>
            <a:ext cx="82296" cy="676656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276856"/>
            <a:ext cx="420624" cy="42062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81328" y="2148840"/>
            <a:ext cx="9866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ファンを今すぐ停止し、結果を確認したい。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990088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990088"/>
            <a:ext cx="82296" cy="676656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118104"/>
            <a:ext cx="420624" cy="42062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1328" y="2990088"/>
            <a:ext cx="9866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オフライン中のデバイスにも、送信間隔の変更を届けて保ちたい。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831336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831336"/>
            <a:ext cx="82296" cy="676656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959352"/>
            <a:ext cx="420624" cy="42062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81328" y="3831336"/>
            <a:ext cx="9866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「再接続後に診断ログを送ってほしい」と「送信間隔を10秒に保ってほしい」を選び分ける。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4672584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4672584"/>
            <a:ext cx="82296" cy="676656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4800600"/>
            <a:ext cx="420624" cy="42062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81328" y="4672584"/>
            <a:ext cx="9866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応答タイムアウトと C2D の送信成功から、それぞれ何が分かり、何が分からないか。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553212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532120"/>
            <a:ext cx="82296" cy="566928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53212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次章: IoT Hub が受け取った D2C を、条件に応じて後続サービスへ配送するメッセージルーティングを扱う。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第4章  デバイスの制御と状態同期 — Direct Method・Device Twin・C2D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デバイスの制御と状態同期</dc:title>
  <dc:subject>PptxGenJS Presentation</dc:subject>
  <dc:creator>Azure IoT Workshop</dc:creator>
  <cp:lastModifiedBy>Azure IoT Workshop</cp:lastModifiedBy>
  <cp:revision>1</cp:revision>
  <dcterms:created xsi:type="dcterms:W3CDTF">2026-09-10T05:50:51Z</dcterms:created>
  <dcterms:modified xsi:type="dcterms:W3CDTF">2026-09-10T05:50:51Z</dcterms:modified>
</cp:coreProperties>
</file>