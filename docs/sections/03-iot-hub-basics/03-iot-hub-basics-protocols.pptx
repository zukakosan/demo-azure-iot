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14"/>
  </p:notesMasterIdLst>
  <p:sldIdLst>
    <p:sldId id="2147482959" r:id="rId2"/>
    <p:sldId id="2147482970" r:id="rId3"/>
    <p:sldId id="2147482969" r:id="rId4"/>
    <p:sldId id="2147482968" r:id="rId5"/>
    <p:sldId id="2147482967" r:id="rId6"/>
    <p:sldId id="2147482966" r:id="rId7"/>
    <p:sldId id="2147482965" r:id="rId8"/>
    <p:sldId id="2147482964" r:id="rId9"/>
    <p:sldId id="2147482963" r:id="rId10"/>
    <p:sldId id="2147482962" r:id="rId11"/>
    <p:sldId id="2147482961" r:id="rId12"/>
    <p:sldId id="21474829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9" autoAdjust="0"/>
    <p:restoredTop sz="94660"/>
  </p:normalViewPr>
  <p:slideViewPr>
    <p:cSldViewPr snapToGrid="0">
      <p:cViewPr varScale="1">
        <p:scale>
          <a:sx n="71" d="100"/>
          <a:sy n="71" d="100"/>
        </p:scale>
        <p:origin x="295"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B12CE-51AA-444A-B069-8A62B7B4D946}"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B9661-DB4E-4668-8338-52F158F69289}" type="slidenum">
              <a:rPr lang="en-US" smtClean="0"/>
              <a:t>‹#›</a:t>
            </a:fld>
            <a:endParaRPr lang="en-US"/>
          </a:p>
        </p:txBody>
      </p:sp>
    </p:spTree>
    <p:extLst>
      <p:ext uri="{BB962C8B-B14F-4D97-AF65-F5344CB8AC3E}">
        <p14:creationId xmlns:p14="http://schemas.microsoft.com/office/powerpoint/2010/main" val="908720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03-01 </a:t>
            </a:r>
            <a:r>
              <a:rPr lang="ja-JP" altLang="en-US"/>
              <a:t>デバイス・</a:t>
            </a:r>
            <a:r>
              <a:rPr lang="en-US" altLang="ja-JP"/>
              <a:t>IoT Hub</a:t>
            </a:r>
            <a:r>
              <a:rPr lang="ja-JP" altLang="en-US"/>
              <a:t>・バックエンドの役割</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前章で選んだ直接接続を拡大する。「</a:t>
            </a:r>
            <a:r>
              <a:rPr lang="en-US" altLang="ja-JP"/>
              <a:t>IoT Hub </a:t>
            </a:r>
            <a:r>
              <a:rPr lang="ja-JP" altLang="en-US"/>
              <a:t>が全部処理する」という理解を避け、以降の登録・認証・送受信の担当を固定する。</a:t>
            </a:r>
          </a:p>
          <a:p>
            <a:endParaRPr lang="ja-JP" altLang="en-US"/>
          </a:p>
          <a:p>
            <a:r>
              <a:rPr lang="en-US" altLang="ja-JP"/>
              <a:t>### </a:t>
            </a:r>
            <a:r>
              <a:rPr lang="ja-JP" altLang="en-US"/>
              <a:t>投影本文</a:t>
            </a:r>
          </a:p>
          <a:p>
            <a:endParaRPr lang="ja-JP" altLang="en-US"/>
          </a:p>
          <a:p>
            <a:r>
              <a:rPr lang="ja-JP" altLang="en-US"/>
              <a:t>**デバイスアプリがデータを送り、</a:t>
            </a:r>
            <a:r>
              <a:rPr lang="en-US" altLang="ja-JP"/>
              <a:t>IoT Hub </a:t>
            </a:r>
            <a:r>
              <a:rPr lang="ja-JP" altLang="en-US"/>
              <a:t>が通信を仲介し、バックエンドがデータを利用する。**</a:t>
            </a:r>
          </a:p>
          <a:p>
            <a:endParaRPr lang="ja-JP" altLang="en-US"/>
          </a:p>
          <a:p>
            <a:r>
              <a:rPr lang="en-US" altLang="ja-JP"/>
              <a:t>| </a:t>
            </a:r>
            <a:r>
              <a:rPr lang="ja-JP" altLang="en-US"/>
              <a:t>主体 </a:t>
            </a:r>
            <a:r>
              <a:rPr lang="en-US" altLang="ja-JP"/>
              <a:t>| </a:t>
            </a:r>
            <a:r>
              <a:rPr lang="ja-JP" altLang="en-US"/>
              <a:t>担当すること </a:t>
            </a:r>
            <a:r>
              <a:rPr lang="en-US" altLang="ja-JP"/>
              <a:t>|</a:t>
            </a:r>
          </a:p>
          <a:p>
            <a:r>
              <a:rPr lang="en-US" altLang="ja-JP"/>
              <a:t>| --- | --- |</a:t>
            </a:r>
          </a:p>
          <a:p>
            <a:r>
              <a:rPr lang="en-US" altLang="ja-JP"/>
              <a:t>| </a:t>
            </a:r>
            <a:r>
              <a:rPr lang="ja-JP" altLang="en-US"/>
              <a:t>デバイスアプリ </a:t>
            </a:r>
            <a:r>
              <a:rPr lang="en-US" altLang="ja-JP"/>
              <a:t>| </a:t>
            </a:r>
            <a:r>
              <a:rPr lang="ja-JP" altLang="en-US"/>
              <a:t>測定値を作って送る。受け取った操作や設定変更を実行する </a:t>
            </a:r>
            <a:r>
              <a:rPr lang="en-US" altLang="ja-JP"/>
              <a:t>|</a:t>
            </a:r>
          </a:p>
          <a:p>
            <a:r>
              <a:rPr lang="en-US" altLang="ja-JP"/>
              <a:t>| Azure IoT Hub | </a:t>
            </a:r>
            <a:r>
              <a:rPr lang="ja-JP" altLang="en-US"/>
              <a:t>デバイスを認証し、デバイスとの通信と後続への配送を担う </a:t>
            </a:r>
            <a:r>
              <a:rPr lang="en-US" altLang="ja-JP"/>
              <a:t>|</a:t>
            </a:r>
          </a:p>
          <a:p>
            <a:r>
              <a:rPr lang="en-US" altLang="ja-JP"/>
              <a:t>| </a:t>
            </a:r>
            <a:r>
              <a:rPr lang="ja-JP" altLang="en-US"/>
              <a:t>バックエンドアプリ・ツール </a:t>
            </a:r>
            <a:r>
              <a:rPr lang="en-US" altLang="ja-JP"/>
              <a:t>| </a:t>
            </a:r>
            <a:r>
              <a:rPr lang="ja-JP" altLang="en-US"/>
              <a:t>テレメトリを読み、保存・業務処理を行う。デバイスへの操作を要求する </a:t>
            </a:r>
            <a:r>
              <a:rPr lang="en-US" altLang="ja-JP"/>
              <a:t>|</a:t>
            </a:r>
          </a:p>
          <a:p>
            <a:endParaRPr lang="en-US" altLang="ja-JP"/>
          </a:p>
          <a:p>
            <a:r>
              <a:rPr lang="en-US" altLang="ja-JP"/>
              <a:t>IoT Hub </a:t>
            </a:r>
            <a:r>
              <a:rPr lang="ja-JP" altLang="en-US"/>
              <a:t>は接続・通信の基盤であり、長期保存・分析・デバイス上の処理はアプリや後続サービスと組み合わせる（</a:t>
            </a:r>
            <a:r>
              <a:rPr lang="en-US" altLang="ja-JP"/>
              <a:t>[IoT Hub </a:t>
            </a:r>
            <a:r>
              <a:rPr lang="ja-JP" altLang="en-US"/>
              <a:t>の概要</a:t>
            </a:r>
            <a:r>
              <a:rPr lang="en-US" altLang="ja-JP"/>
              <a:t>](https://learn.microsoft.com/ja-jp/azure/iot-hub/iot-concepts-and-iot-hub)</a:t>
            </a:r>
            <a:r>
              <a:rPr lang="ja-JP" altLang="en-US"/>
              <a:t>、</a:t>
            </a:r>
            <a:r>
              <a:rPr lang="en-US" altLang="ja-JP"/>
              <a:t>[</a:t>
            </a:r>
            <a:r>
              <a:rPr lang="ja-JP" altLang="en-US"/>
              <a:t>デバイスとサービスの </a:t>
            </a:r>
            <a:r>
              <a:rPr lang="en-US" altLang="ja-JP"/>
              <a:t>SDK](https://learn.microsoft.com/ja-jp/azure/iot-hub/iot-hub-devguide-sdks)</a:t>
            </a:r>
            <a:r>
              <a:rPr lang="ja-JP" altLang="en-US"/>
              <a:t>）。</a:t>
            </a:r>
          </a:p>
          <a:p>
            <a:endParaRPr lang="ja-JP" altLang="en-US"/>
          </a:p>
          <a:p>
            <a:r>
              <a:rPr lang="ja-JP" altLang="en-US"/>
              <a:t>**今回</a:t>
            </a:r>
            <a:r>
              <a:rPr lang="en-US" altLang="ja-JP"/>
              <a:t>: </a:t>
            </a:r>
            <a:r>
              <a:rPr lang="ja-JP" altLang="en-US"/>
              <a:t>温度センサー役のローカル </a:t>
            </a:r>
            <a:r>
              <a:rPr lang="en-US" altLang="ja-JP"/>
              <a:t>PC → IoT Hub → </a:t>
            </a:r>
            <a:r>
              <a:rPr lang="ja-JP" altLang="en-US"/>
              <a:t>受信ツール。**</a:t>
            </a:r>
          </a:p>
          <a:p>
            <a:endParaRPr lang="ja-JP" altLang="en-US"/>
          </a:p>
          <a:p>
            <a:r>
              <a:rPr lang="en-US" altLang="ja-JP"/>
              <a:t>### </a:t>
            </a:r>
            <a:r>
              <a:rPr lang="ja-JP" altLang="en-US"/>
              <a:t>図の構成</a:t>
            </a:r>
          </a:p>
          <a:p>
            <a:endParaRPr lang="ja-JP" altLang="en-US"/>
          </a:p>
          <a:p>
            <a:r>
              <a:rPr lang="en-US" altLang="ja-JP"/>
              <a:t>- </a:t>
            </a:r>
            <a:r>
              <a:rPr lang="ja-JP" altLang="en-US"/>
              <a:t>上部に横一列で「デバイスアプリ」「</a:t>
            </a:r>
            <a:r>
              <a:rPr lang="en-US" altLang="ja-JP"/>
              <a:t>IoT Hub</a:t>
            </a:r>
            <a:r>
              <a:rPr lang="ja-JP" altLang="en-US"/>
              <a:t>」「バックエンド」を配置し、表の担当をそれぞれの直下に置く。</a:t>
            </a:r>
          </a:p>
          <a:p>
            <a:r>
              <a:rPr lang="en-US" altLang="ja-JP"/>
              <a:t>- </a:t>
            </a:r>
            <a:r>
              <a:rPr lang="ja-JP" altLang="en-US"/>
              <a:t>データの矢印は左から右。「温度・湿度を送信」「受信アプリが読み取り」とラベルを付ける。右側の線は読み取りによるデータの流れであり、</a:t>
            </a:r>
            <a:r>
              <a:rPr lang="en-US" altLang="ja-JP"/>
              <a:t>Hub</a:t>
            </a:r>
            <a:r>
              <a:rPr lang="ja-JP" altLang="en-US"/>
              <a:t>が無条件にアプリへプッシュする意味ではない。</a:t>
            </a:r>
          </a:p>
          <a:p>
            <a:r>
              <a:rPr lang="en-US" altLang="ja-JP"/>
              <a:t>- </a:t>
            </a:r>
            <a:r>
              <a:rPr lang="ja-JP" altLang="en-US"/>
              <a:t>左に「ローカル </a:t>
            </a:r>
            <a:r>
              <a:rPr lang="en-US" altLang="ja-JP"/>
              <a:t>PC</a:t>
            </a:r>
            <a:r>
              <a:rPr lang="ja-JP" altLang="en-US"/>
              <a:t>」、中央に「</a:t>
            </a:r>
            <a:r>
              <a:rPr lang="en-US" altLang="ja-JP"/>
              <a:t>Azure</a:t>
            </a:r>
            <a:r>
              <a:rPr lang="ja-JP" altLang="en-US"/>
              <a:t>」、右に「実行場所は任意」と明記する。バックエンドを必ず</a:t>
            </a:r>
            <a:r>
              <a:rPr lang="en-US" altLang="ja-JP"/>
              <a:t>Azure</a:t>
            </a:r>
            <a:r>
              <a:rPr lang="ja-JP" altLang="en-US"/>
              <a:t>上で動かす図にしない。</a:t>
            </a:r>
          </a:p>
          <a:p>
            <a:r>
              <a:rPr lang="en-US" altLang="ja-JP"/>
              <a:t>- </a:t>
            </a:r>
            <a:r>
              <a:rPr lang="ja-JP" altLang="en-US"/>
              <a:t>保存・分析は右端に薄い破線で追加し、「今回の受信確認とは別」と書く。操作の矢印は</a:t>
            </a:r>
            <a:r>
              <a:rPr lang="en-US" altLang="ja-JP"/>
              <a:t>03-10</a:t>
            </a:r>
            <a:r>
              <a:rPr lang="ja-JP" altLang="en-US"/>
              <a:t>で追加する。</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30</a:t>
            </a:r>
            <a:r>
              <a:rPr lang="ja-JP" altLang="en-US"/>
              <a:t>秒。バックエンドとは、デバイスの外でデータ利用や操作要求を行うアプリ側のことと説明する。</a:t>
            </a:r>
          </a:p>
          <a:p>
            <a:r>
              <a:rPr lang="en-US" altLang="ja-JP"/>
              <a:t>- </a:t>
            </a:r>
            <a:r>
              <a:rPr lang="ja-JP" altLang="en-US"/>
              <a:t>本講義では受信ツールもバックエンドの役割を担う。デバイス役と受信役が同じ</a:t>
            </a:r>
            <a:r>
              <a:rPr lang="en-US" altLang="ja-JP"/>
              <a:t>PC</a:t>
            </a:r>
            <a:r>
              <a:rPr lang="ja-JP" altLang="en-US"/>
              <a:t>上でも、役割・資格情報は別になる。</a:t>
            </a:r>
          </a:p>
          <a:p>
            <a:r>
              <a:rPr lang="en-US" altLang="ja-JP"/>
              <a:t>- </a:t>
            </a:r>
            <a:r>
              <a:rPr lang="ja-JP" altLang="en-US"/>
              <a:t>問いかけ</a:t>
            </a:r>
            <a:r>
              <a:rPr lang="en-US" altLang="ja-JP"/>
              <a:t>: </a:t>
            </a:r>
            <a:r>
              <a:rPr lang="ja-JP" altLang="en-US"/>
              <a:t>「温度を測るプログラムはどこにありますか」。答えはデバイス側。</a:t>
            </a:r>
          </a:p>
          <a:p>
            <a:r>
              <a:rPr lang="en-US" altLang="ja-JP"/>
              <a:t>- </a:t>
            </a:r>
            <a:r>
              <a:rPr lang="ja-JP" altLang="en-US"/>
              <a:t>次への接続</a:t>
            </a:r>
            <a:r>
              <a:rPr lang="en-US" altLang="ja-JP"/>
              <a:t>: </a:t>
            </a:r>
            <a:r>
              <a:rPr lang="ja-JP" altLang="en-US"/>
              <a:t>「この</a:t>
            </a:r>
            <a:r>
              <a:rPr lang="en-US" altLang="ja-JP"/>
              <a:t>3</a:t>
            </a:r>
            <a:r>
              <a:rPr lang="ja-JP" altLang="en-US"/>
              <a:t>者が通信するまでに、クラウド側とデバイス側で何を準備するでしょうか」。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03-02 Hub </a:t>
            </a:r>
            <a:r>
              <a:rPr lang="ja-JP" altLang="en-US"/>
              <a:t>作成からデバイス接続までの手順</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a:t>
            </a:r>
            <a:r>
              <a:rPr lang="en-US" altLang="ja-JP"/>
              <a:t>Azure</a:t>
            </a:r>
            <a:r>
              <a:rPr lang="ja-JP" altLang="en-US"/>
              <a:t>上に登録がある」と「アプリが動いて通信している」を分け、接続できない場合にも確認箇所の見当が付くようにする。</a:t>
            </a:r>
          </a:p>
          <a:p>
            <a:endParaRPr lang="ja-JP" altLang="en-US"/>
          </a:p>
          <a:p>
            <a:r>
              <a:rPr lang="en-US" altLang="ja-JP"/>
              <a:t>### </a:t>
            </a:r>
            <a:r>
              <a:rPr lang="ja-JP" altLang="en-US"/>
              <a:t>投影本文</a:t>
            </a:r>
          </a:p>
          <a:p>
            <a:endParaRPr lang="ja-JP" altLang="en-US"/>
          </a:p>
          <a:p>
            <a:r>
              <a:rPr lang="ja-JP" altLang="en-US"/>
              <a:t>**</a:t>
            </a:r>
            <a:r>
              <a:rPr lang="en-US" altLang="ja-JP"/>
              <a:t>Hub </a:t>
            </a:r>
            <a:r>
              <a:rPr lang="ja-JP" altLang="en-US"/>
              <a:t>と </a:t>
            </a:r>
            <a:r>
              <a:rPr lang="en-US" altLang="ja-JP"/>
              <a:t>Device ID </a:t>
            </a:r>
            <a:r>
              <a:rPr lang="ja-JP" altLang="en-US"/>
              <a:t>を作っても、デバイスアプリが自動で接続するわけではない。**</a:t>
            </a:r>
          </a:p>
          <a:p>
            <a:endParaRPr lang="ja-JP" altLang="en-US"/>
          </a:p>
          <a:p>
            <a:r>
              <a:rPr lang="en-US" altLang="ja-JP"/>
              <a:t>| </a:t>
            </a:r>
            <a:r>
              <a:rPr lang="ja-JP" altLang="en-US"/>
              <a:t>段階 </a:t>
            </a:r>
            <a:r>
              <a:rPr lang="en-US" altLang="ja-JP"/>
              <a:t>| </a:t>
            </a:r>
            <a:r>
              <a:rPr lang="ja-JP" altLang="en-US"/>
              <a:t>誰が何をするか </a:t>
            </a:r>
            <a:r>
              <a:rPr lang="en-US" altLang="ja-JP"/>
              <a:t>| </a:t>
            </a:r>
            <a:r>
              <a:rPr lang="ja-JP" altLang="en-US"/>
              <a:t>この段階で用意・確認できること </a:t>
            </a:r>
            <a:r>
              <a:rPr lang="en-US" altLang="ja-JP"/>
              <a:t>|</a:t>
            </a:r>
          </a:p>
          <a:p>
            <a:r>
              <a:rPr lang="en-US" altLang="ja-JP"/>
              <a:t>| --- | --- | --- |</a:t>
            </a:r>
          </a:p>
          <a:p>
            <a:r>
              <a:rPr lang="en-US" altLang="ja-JP"/>
              <a:t>| 1. Hub </a:t>
            </a:r>
            <a:r>
              <a:rPr lang="ja-JP" altLang="en-US"/>
              <a:t>作成 </a:t>
            </a:r>
            <a:r>
              <a:rPr lang="en-US" altLang="ja-JP"/>
              <a:t>| </a:t>
            </a:r>
            <a:r>
              <a:rPr lang="ja-JP" altLang="en-US"/>
              <a:t>管理者が</a:t>
            </a:r>
            <a:r>
              <a:rPr lang="en-US" altLang="ja-JP"/>
              <a:t>Azure</a:t>
            </a:r>
            <a:r>
              <a:rPr lang="ja-JP" altLang="en-US"/>
              <a:t>に</a:t>
            </a:r>
            <a:r>
              <a:rPr lang="en-US" altLang="ja-JP"/>
              <a:t>IoT Hub</a:t>
            </a:r>
            <a:r>
              <a:rPr lang="ja-JP" altLang="en-US"/>
              <a:t>を作る </a:t>
            </a:r>
            <a:r>
              <a:rPr lang="en-US" altLang="ja-JP"/>
              <a:t>| </a:t>
            </a:r>
            <a:r>
              <a:rPr lang="ja-JP" altLang="en-US"/>
              <a:t>接続先の</a:t>
            </a:r>
            <a:r>
              <a:rPr lang="en-US" altLang="ja-JP"/>
              <a:t>Hub |</a:t>
            </a:r>
          </a:p>
          <a:p>
            <a:r>
              <a:rPr lang="en-US" altLang="ja-JP"/>
              <a:t>| 2. </a:t>
            </a:r>
            <a:r>
              <a:rPr lang="ja-JP" altLang="en-US"/>
              <a:t>デバイス登録 </a:t>
            </a:r>
            <a:r>
              <a:rPr lang="en-US" altLang="ja-JP"/>
              <a:t>| </a:t>
            </a:r>
            <a:r>
              <a:rPr lang="ja-JP" altLang="en-US"/>
              <a:t>登録担当が</a:t>
            </a:r>
            <a:r>
              <a:rPr lang="en-US" altLang="ja-JP"/>
              <a:t>Hub</a:t>
            </a:r>
            <a:r>
              <a:rPr lang="ja-JP" altLang="en-US"/>
              <a:t>に</a:t>
            </a:r>
            <a:r>
              <a:rPr lang="en-US" altLang="ja-JP"/>
              <a:t>ID</a:t>
            </a:r>
            <a:r>
              <a:rPr lang="ja-JP" altLang="en-US"/>
              <a:t>と認証方式を登録する </a:t>
            </a:r>
            <a:r>
              <a:rPr lang="en-US" altLang="ja-JP"/>
              <a:t>| </a:t>
            </a:r>
            <a:r>
              <a:rPr lang="ja-JP" altLang="en-US"/>
              <a:t>その</a:t>
            </a:r>
            <a:r>
              <a:rPr lang="en-US" altLang="ja-JP"/>
              <a:t>Hub</a:t>
            </a:r>
            <a:r>
              <a:rPr lang="ja-JP" altLang="en-US"/>
              <a:t>で受け入れるデバイスの情報 </a:t>
            </a:r>
            <a:r>
              <a:rPr lang="en-US" altLang="ja-JP"/>
              <a:t>|</a:t>
            </a:r>
          </a:p>
          <a:p>
            <a:r>
              <a:rPr lang="en-US" altLang="ja-JP"/>
              <a:t>| 3. </a:t>
            </a:r>
            <a:r>
              <a:rPr lang="ja-JP" altLang="en-US"/>
              <a:t>接続設定 </a:t>
            </a:r>
            <a:r>
              <a:rPr lang="en-US" altLang="ja-JP"/>
              <a:t>| </a:t>
            </a:r>
            <a:r>
              <a:rPr lang="ja-JP" altLang="en-US"/>
              <a:t>開発・設定担当がアプリに接続先と資格情報を渡す </a:t>
            </a:r>
            <a:r>
              <a:rPr lang="en-US" altLang="ja-JP"/>
              <a:t>| </a:t>
            </a:r>
            <a:r>
              <a:rPr lang="ja-JP" altLang="en-US"/>
              <a:t>接続に必要な設定 </a:t>
            </a:r>
            <a:r>
              <a:rPr lang="en-US" altLang="ja-JP"/>
              <a:t>|</a:t>
            </a:r>
          </a:p>
          <a:p>
            <a:r>
              <a:rPr lang="en-US" altLang="ja-JP"/>
              <a:t>| 4. </a:t>
            </a:r>
            <a:r>
              <a:rPr lang="ja-JP" altLang="en-US"/>
              <a:t>接続 </a:t>
            </a:r>
            <a:r>
              <a:rPr lang="en-US" altLang="ja-JP"/>
              <a:t>| </a:t>
            </a:r>
            <a:r>
              <a:rPr lang="ja-JP" altLang="en-US"/>
              <a:t>デバイスアプリが起動し、認証を伴う接続を行う </a:t>
            </a:r>
            <a:r>
              <a:rPr lang="en-US" altLang="ja-JP"/>
              <a:t>| </a:t>
            </a:r>
            <a:r>
              <a:rPr lang="ja-JP" altLang="en-US"/>
              <a:t>接続処理の結果 </a:t>
            </a:r>
            <a:r>
              <a:rPr lang="en-US" altLang="ja-JP"/>
              <a:t>|</a:t>
            </a:r>
          </a:p>
          <a:p>
            <a:r>
              <a:rPr lang="en-US" altLang="ja-JP"/>
              <a:t>| 5. </a:t>
            </a:r>
            <a:r>
              <a:rPr lang="ja-JP" altLang="en-US"/>
              <a:t>送受信確認 </a:t>
            </a:r>
            <a:r>
              <a:rPr lang="en-US" altLang="ja-JP"/>
              <a:t>| </a:t>
            </a:r>
            <a:r>
              <a:rPr lang="ja-JP" altLang="en-US"/>
              <a:t>デバイスが送り、受信担当がツールで読む </a:t>
            </a:r>
            <a:r>
              <a:rPr lang="en-US" altLang="ja-JP"/>
              <a:t>| </a:t>
            </a:r>
            <a:r>
              <a:rPr lang="ja-JP" altLang="en-US"/>
              <a:t>対象デバイスのメッセージ </a:t>
            </a:r>
            <a:r>
              <a:rPr lang="en-US" altLang="ja-JP"/>
              <a:t>|</a:t>
            </a:r>
          </a:p>
          <a:p>
            <a:endParaRPr lang="en-US" altLang="ja-JP"/>
          </a:p>
          <a:p>
            <a:r>
              <a:rPr lang="en-US" altLang="ja-JP"/>
              <a:t>ID</a:t>
            </a:r>
            <a:r>
              <a:rPr lang="ja-JP" altLang="en-US"/>
              <a:t>レジストリはデバイス</a:t>
            </a:r>
            <a:r>
              <a:rPr lang="en-US" altLang="ja-JP"/>
              <a:t>ID</a:t>
            </a:r>
            <a:r>
              <a:rPr lang="ja-JP" altLang="en-US"/>
              <a:t>と認証情報を管理する場所であり、登録しただけではアプリは動作しない（</a:t>
            </a:r>
            <a:r>
              <a:rPr lang="en-US" altLang="ja-JP"/>
              <a:t>[ID </a:t>
            </a:r>
            <a:r>
              <a:rPr lang="ja-JP" altLang="en-US"/>
              <a:t>レジストリ</a:t>
            </a:r>
            <a:r>
              <a:rPr lang="en-US" altLang="ja-JP"/>
              <a:t>](https://learn.microsoft.com/ja-jp/azure/iot-hub/iot-hub-devguide-identity-registry)</a:t>
            </a:r>
            <a:r>
              <a:rPr lang="ja-JP" altLang="en-US"/>
              <a:t>）。</a:t>
            </a:r>
          </a:p>
          <a:p>
            <a:endParaRPr lang="ja-JP" altLang="en-US"/>
          </a:p>
          <a:p>
            <a:r>
              <a:rPr lang="ja-JP" altLang="en-US"/>
              <a:t>**今回は手動登録。多数台の自動プロビジョニングは第</a:t>
            </a:r>
            <a:r>
              <a:rPr lang="en-US" altLang="ja-JP"/>
              <a:t>7</a:t>
            </a:r>
            <a:r>
              <a:rPr lang="ja-JP" altLang="en-US"/>
              <a:t>章で扱う。**</a:t>
            </a:r>
          </a:p>
          <a:p>
            <a:endParaRPr lang="ja-JP" altLang="en-US"/>
          </a:p>
          <a:p>
            <a:r>
              <a:rPr lang="en-US" altLang="ja-JP"/>
              <a:t>### </a:t>
            </a:r>
            <a:r>
              <a:rPr lang="ja-JP" altLang="en-US"/>
              <a:t>図の構成</a:t>
            </a:r>
          </a:p>
          <a:p>
            <a:endParaRPr lang="ja-JP" altLang="en-US"/>
          </a:p>
          <a:p>
            <a:r>
              <a:rPr lang="en-US" altLang="ja-JP"/>
              <a:t>- 5</a:t>
            </a:r>
            <a:r>
              <a:rPr lang="ja-JP" altLang="en-US"/>
              <a:t>段階を左から右へ並べ、</a:t>
            </a:r>
            <a:r>
              <a:rPr lang="en-US" altLang="ja-JP"/>
              <a:t>1</a:t>
            </a:r>
            <a:r>
              <a:rPr lang="ja-JP" altLang="en-US"/>
              <a:t>・</a:t>
            </a:r>
            <a:r>
              <a:rPr lang="en-US" altLang="ja-JP"/>
              <a:t>2</a:t>
            </a:r>
            <a:r>
              <a:rPr lang="ja-JP" altLang="en-US"/>
              <a:t>の上に「クラウド側の準備」、</a:t>
            </a:r>
            <a:r>
              <a:rPr lang="en-US" altLang="ja-JP"/>
              <a:t>3</a:t>
            </a:r>
            <a:r>
              <a:rPr lang="ja-JP" altLang="en-US"/>
              <a:t>に「アプリの準備」、</a:t>
            </a:r>
            <a:r>
              <a:rPr lang="en-US" altLang="ja-JP"/>
              <a:t>4</a:t>
            </a:r>
            <a:r>
              <a:rPr lang="ja-JP" altLang="en-US"/>
              <a:t>・</a:t>
            </a:r>
            <a:r>
              <a:rPr lang="en-US" altLang="ja-JP"/>
              <a:t>5</a:t>
            </a:r>
            <a:r>
              <a:rPr lang="ja-JP" altLang="en-US"/>
              <a:t>に「実行と確認」を置く。</a:t>
            </a:r>
          </a:p>
          <a:p>
            <a:r>
              <a:rPr lang="en-US" altLang="ja-JP"/>
              <a:t>- </a:t>
            </a:r>
            <a:r>
              <a:rPr lang="ja-JP" altLang="en-US"/>
              <a:t>各段階の下に表の「用意・確認できること」を配置する。完了マークが後続段階へ自動伝播する表現は使わない。</a:t>
            </a:r>
          </a:p>
          <a:p>
            <a:r>
              <a:rPr lang="en-US" altLang="ja-JP"/>
              <a:t>- </a:t>
            </a:r>
            <a:r>
              <a:rPr lang="ja-JP" altLang="en-US"/>
              <a:t>下部の確認例は「登録済み ≠ 接続中」。ポータルの状態欄だけを現在の接続証明として扱わない。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分。担当名は説明上の役割であり、</a:t>
            </a:r>
            <a:r>
              <a:rPr lang="en-US" altLang="ja-JP"/>
              <a:t>5</a:t>
            </a:r>
            <a:r>
              <a:rPr lang="ja-JP" altLang="en-US"/>
              <a:t>人を配置する必須要件ではない。登録まで済んだ状態とアプリを起動した状態を図上で指し分ける。</a:t>
            </a:r>
          </a:p>
          <a:p>
            <a:r>
              <a:rPr lang="en-US" altLang="ja-JP"/>
              <a:t>- </a:t>
            </a:r>
            <a:r>
              <a:rPr lang="ja-JP" altLang="en-US"/>
              <a:t>本編の対象はデバイス</a:t>
            </a:r>
            <a:r>
              <a:rPr lang="en-US" altLang="ja-JP"/>
              <a:t>SDK</a:t>
            </a:r>
            <a:r>
              <a:rPr lang="ja-JP" altLang="en-US"/>
              <a:t>で接続する今回のアプリ。全プロトコルの接続の持ち方を一律に説明しない。</a:t>
            </a:r>
          </a:p>
          <a:p>
            <a:r>
              <a:rPr lang="en-US" altLang="ja-JP"/>
              <a:t>- </a:t>
            </a:r>
            <a:r>
              <a:rPr lang="ja-JP" altLang="en-US"/>
              <a:t>接続できない場合の入口は「登録先の</a:t>
            </a:r>
            <a:r>
              <a:rPr lang="en-US" altLang="ja-JP"/>
              <a:t>Hub</a:t>
            </a:r>
            <a:r>
              <a:rPr lang="ja-JP" altLang="en-US"/>
              <a:t>、</a:t>
            </a:r>
            <a:r>
              <a:rPr lang="en-US" altLang="ja-JP"/>
              <a:t>Device ID</a:t>
            </a:r>
            <a:r>
              <a:rPr lang="ja-JP" altLang="en-US"/>
              <a:t>、資格情報、ネットワーク」。診断コマンドや切り分け手順は広げない。</a:t>
            </a:r>
          </a:p>
          <a:p>
            <a:r>
              <a:rPr lang="en-US" altLang="ja-JP"/>
              <a:t>- </a:t>
            </a:r>
            <a:r>
              <a:rPr lang="ja-JP" altLang="en-US"/>
              <a:t>次への接続</a:t>
            </a:r>
            <a:r>
              <a:rPr lang="en-US" altLang="ja-JP"/>
              <a:t>: </a:t>
            </a:r>
            <a:r>
              <a:rPr lang="ja-JP" altLang="en-US"/>
              <a:t>「</a:t>
            </a:r>
            <a:r>
              <a:rPr lang="en-US" altLang="ja-JP"/>
              <a:t>3</a:t>
            </a:r>
            <a:r>
              <a:rPr lang="ja-JP" altLang="en-US"/>
              <a:t>段階目で渡すものは、</a:t>
            </a:r>
            <a:r>
              <a:rPr lang="en-US" altLang="ja-JP"/>
              <a:t>Device ID</a:t>
            </a:r>
            <a:r>
              <a:rPr lang="ja-JP" altLang="en-US"/>
              <a:t>だけで十分でしょうか」。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03-03 Device ID </a:t>
            </a:r>
            <a:r>
              <a:rPr lang="ja-JP" altLang="en-US"/>
              <a:t>とデバイスの資格情報</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識別子と認証材料を具体的に分ける。方式名の暗記ではなく、接続文字列を公開してはいけない理由を説明する。</a:t>
            </a:r>
          </a:p>
          <a:p>
            <a:endParaRPr lang="ja-JP" altLang="en-US"/>
          </a:p>
          <a:p>
            <a:r>
              <a:rPr lang="en-US" altLang="ja-JP"/>
              <a:t>### </a:t>
            </a:r>
            <a:r>
              <a:rPr lang="ja-JP" altLang="en-US"/>
              <a:t>投影本文</a:t>
            </a:r>
          </a:p>
          <a:p>
            <a:endParaRPr lang="ja-JP" altLang="en-US"/>
          </a:p>
          <a:p>
            <a:r>
              <a:rPr lang="ja-JP" altLang="en-US"/>
              <a:t>**</a:t>
            </a:r>
            <a:r>
              <a:rPr lang="en-US" altLang="ja-JP"/>
              <a:t>Device ID </a:t>
            </a:r>
            <a:r>
              <a:rPr lang="ja-JP" altLang="en-US"/>
              <a:t>は名前。資格情報は、そのデバイスとして認証するために使う。**</a:t>
            </a:r>
          </a:p>
          <a:p>
            <a:endParaRPr lang="ja-JP" altLang="en-US"/>
          </a:p>
          <a:p>
            <a:r>
              <a:rPr lang="en-US" altLang="ja-JP"/>
              <a:t>| </a:t>
            </a:r>
            <a:r>
              <a:rPr lang="ja-JP" altLang="en-US"/>
              <a:t>要素 </a:t>
            </a:r>
            <a:r>
              <a:rPr lang="en-US" altLang="ja-JP"/>
              <a:t>| </a:t>
            </a:r>
            <a:r>
              <a:rPr lang="ja-JP" altLang="en-US"/>
              <a:t>今回の説明例 </a:t>
            </a:r>
            <a:r>
              <a:rPr lang="en-US" altLang="ja-JP"/>
              <a:t>| </a:t>
            </a:r>
            <a:r>
              <a:rPr lang="ja-JP" altLang="en-US"/>
              <a:t>意味 </a:t>
            </a:r>
            <a:r>
              <a:rPr lang="en-US" altLang="ja-JP"/>
              <a:t>|</a:t>
            </a:r>
          </a:p>
          <a:p>
            <a:r>
              <a:rPr lang="en-US" altLang="ja-JP"/>
              <a:t>| --- | --- | --- |</a:t>
            </a:r>
          </a:p>
          <a:p>
            <a:r>
              <a:rPr lang="en-US" altLang="ja-JP"/>
              <a:t>| </a:t>
            </a:r>
            <a:r>
              <a:rPr lang="ja-JP" altLang="en-US"/>
              <a:t>接続先 </a:t>
            </a:r>
            <a:r>
              <a:rPr lang="en-US" altLang="ja-JP"/>
              <a:t>| `iot-training-hub.azure-devices.net` | </a:t>
            </a:r>
            <a:r>
              <a:rPr lang="ja-JP" altLang="en-US"/>
              <a:t>どの</a:t>
            </a:r>
            <a:r>
              <a:rPr lang="en-US" altLang="ja-JP"/>
              <a:t>Hub</a:t>
            </a:r>
            <a:r>
              <a:rPr lang="ja-JP" altLang="en-US"/>
              <a:t>に接続するか </a:t>
            </a:r>
            <a:r>
              <a:rPr lang="en-US" altLang="ja-JP"/>
              <a:t>|</a:t>
            </a:r>
          </a:p>
          <a:p>
            <a:r>
              <a:rPr lang="en-US" altLang="ja-JP"/>
              <a:t>| Device ID | `temp-sensor-01` | Hub</a:t>
            </a:r>
            <a:r>
              <a:rPr lang="ja-JP" altLang="en-US"/>
              <a:t>内のどのデバイスか </a:t>
            </a:r>
            <a:r>
              <a:rPr lang="en-US" altLang="ja-JP"/>
              <a:t>|</a:t>
            </a:r>
          </a:p>
          <a:p>
            <a:r>
              <a:rPr lang="en-US" altLang="ja-JP"/>
              <a:t>| </a:t>
            </a:r>
            <a:r>
              <a:rPr lang="ja-JP" altLang="en-US"/>
              <a:t>資格情報 </a:t>
            </a:r>
            <a:r>
              <a:rPr lang="en-US" altLang="ja-JP"/>
              <a:t>| </a:t>
            </a:r>
            <a:r>
              <a:rPr lang="ja-JP" altLang="en-US"/>
              <a:t>対称キー、または証明書と対応する秘密鍵 </a:t>
            </a:r>
            <a:r>
              <a:rPr lang="en-US" altLang="ja-JP"/>
              <a:t>| </a:t>
            </a:r>
            <a:r>
              <a:rPr lang="ja-JP" altLang="en-US"/>
              <a:t>そのデバイスとして認証する材料 </a:t>
            </a:r>
            <a:r>
              <a:rPr lang="en-US" altLang="ja-JP"/>
              <a:t>|</a:t>
            </a:r>
          </a:p>
          <a:p>
            <a:endParaRPr lang="en-US" altLang="ja-JP"/>
          </a:p>
          <a:p>
            <a:r>
              <a:rPr lang="ja-JP" altLang="en-US"/>
              <a:t>デバイス認証の入口は、**対称キーで生成する有効期限付きの</a:t>
            </a:r>
            <a:r>
              <a:rPr lang="en-US" altLang="ja-JP"/>
              <a:t>SAS</a:t>
            </a:r>
            <a:r>
              <a:rPr lang="ja-JP" altLang="en-US"/>
              <a:t>トークン**と**</a:t>
            </a:r>
            <a:r>
              <a:rPr lang="en-US" altLang="ja-JP"/>
              <a:t>X.509</a:t>
            </a:r>
            <a:r>
              <a:rPr lang="ja-JP" altLang="en-US"/>
              <a:t>形式のデジタル証明書**。</a:t>
            </a:r>
            <a:r>
              <a:rPr lang="en-US" altLang="ja-JP"/>
              <a:t>ID</a:t>
            </a:r>
            <a:r>
              <a:rPr lang="ja-JP" altLang="en-US"/>
              <a:t>を知っているだけでは認証できない（</a:t>
            </a:r>
            <a:r>
              <a:rPr lang="en-US" altLang="ja-JP"/>
              <a:t>[SAS </a:t>
            </a:r>
            <a:r>
              <a:rPr lang="ja-JP" altLang="en-US"/>
              <a:t>による認証</a:t>
            </a:r>
            <a:r>
              <a:rPr lang="en-US" altLang="ja-JP"/>
              <a:t>](https://learn.microsoft.com/ja-jp/azure/iot-hub/authenticate-authorize-sas)</a:t>
            </a:r>
            <a:r>
              <a:rPr lang="ja-JP" altLang="en-US"/>
              <a:t>、</a:t>
            </a:r>
            <a:r>
              <a:rPr lang="en-US" altLang="ja-JP"/>
              <a:t>[X.509 </a:t>
            </a:r>
            <a:r>
              <a:rPr lang="ja-JP" altLang="en-US"/>
              <a:t>による認証</a:t>
            </a:r>
            <a:r>
              <a:rPr lang="en-US" altLang="ja-JP"/>
              <a:t>](https://learn.microsoft.com/ja-jp/azure/iot-hub/authenticate-authorize-x509)</a:t>
            </a:r>
            <a:r>
              <a:rPr lang="ja-JP" altLang="en-US"/>
              <a:t>）。</a:t>
            </a:r>
          </a:p>
          <a:p>
            <a:endParaRPr lang="ja-JP" altLang="en-US"/>
          </a:p>
          <a:p>
            <a:r>
              <a:rPr lang="ja-JP" altLang="en-US"/>
              <a:t>今回の対称キー方式の接続文字列の形（説明用・接続不可）</a:t>
            </a:r>
            <a:r>
              <a:rPr lang="en-US" altLang="ja-JP"/>
              <a:t>:</a:t>
            </a:r>
          </a:p>
          <a:p>
            <a:endParaRPr lang="en-US" altLang="ja-JP"/>
          </a:p>
          <a:p>
            <a:r>
              <a:rPr lang="en-US" altLang="ja-JP"/>
              <a:t>```text</a:t>
            </a:r>
          </a:p>
          <a:p>
            <a:r>
              <a:rPr lang="en-US" altLang="ja-JP"/>
              <a:t>HostName=iot-training-hub.azure-devices.net;</a:t>
            </a:r>
          </a:p>
          <a:p>
            <a:r>
              <a:rPr lang="en-US" altLang="ja-JP"/>
              <a:t>DeviceId=temp-sensor-01;</a:t>
            </a:r>
          </a:p>
          <a:p>
            <a:r>
              <a:rPr lang="en-US" altLang="ja-JP"/>
              <a:t>SharedAccessKey=&lt;</a:t>
            </a:r>
            <a:r>
              <a:rPr lang="ja-JP" altLang="en-US"/>
              <a:t>非表示</a:t>
            </a:r>
            <a:r>
              <a:rPr lang="en-US" altLang="ja-JP"/>
              <a:t>&gt;</a:t>
            </a:r>
          </a:p>
          <a:p>
            <a:r>
              <a:rPr lang="en-US" altLang="ja-JP"/>
              <a:t>```</a:t>
            </a:r>
          </a:p>
          <a:p>
            <a:endParaRPr lang="en-US" altLang="ja-JP"/>
          </a:p>
          <a:p>
            <a:r>
              <a:rPr lang="en-US" altLang="ja-JP"/>
              <a:t>**</a:t>
            </a:r>
            <a:r>
              <a:rPr lang="ja-JP" altLang="en-US"/>
              <a:t>接続文字列は</a:t>
            </a:r>
            <a:r>
              <a:rPr lang="en-US" altLang="ja-JP"/>
              <a:t>URL</a:t>
            </a:r>
            <a:r>
              <a:rPr lang="ja-JP" altLang="en-US"/>
              <a:t>ではなく、キーを含む秘密情報。画面・コード・ログに公開しない。**（</a:t>
            </a:r>
            <a:r>
              <a:rPr lang="en-US" altLang="ja-JP"/>
              <a:t>[</a:t>
            </a:r>
            <a:r>
              <a:rPr lang="ja-JP" altLang="en-US"/>
              <a:t>デバイスの </a:t>
            </a:r>
            <a:r>
              <a:rPr lang="en-US" altLang="ja-JP"/>
              <a:t>SAS </a:t>
            </a:r>
            <a:r>
              <a:rPr lang="ja-JP" altLang="en-US"/>
              <a:t>資格情報</a:t>
            </a:r>
            <a:r>
              <a:rPr lang="en-US" altLang="ja-JP"/>
              <a:t>](https://learn.microsoft.com/ja-jp/azure/iot-hub/authenticate-authorize-sas)</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左に「</a:t>
            </a:r>
            <a:r>
              <a:rPr lang="en-US" altLang="ja-JP"/>
              <a:t>Hub</a:t>
            </a:r>
            <a:r>
              <a:rPr lang="ja-JP" altLang="en-US"/>
              <a:t>側</a:t>
            </a:r>
            <a:r>
              <a:rPr lang="en-US" altLang="ja-JP"/>
              <a:t>: </a:t>
            </a:r>
            <a:r>
              <a:rPr lang="ja-JP" altLang="en-US"/>
              <a:t>登録済みの</a:t>
            </a:r>
            <a:r>
              <a:rPr lang="en-US" altLang="ja-JP"/>
              <a:t>Device ID</a:t>
            </a:r>
            <a:r>
              <a:rPr lang="ja-JP" altLang="en-US"/>
              <a:t>と認証方式」、右に「アプリ側</a:t>
            </a:r>
            <a:r>
              <a:rPr lang="en-US" altLang="ja-JP"/>
              <a:t>: </a:t>
            </a:r>
            <a:r>
              <a:rPr lang="ja-JP" altLang="en-US"/>
              <a:t>接続先・</a:t>
            </a:r>
            <a:r>
              <a:rPr lang="en-US" altLang="ja-JP"/>
              <a:t>ID</a:t>
            </a:r>
            <a:r>
              <a:rPr lang="ja-JP" altLang="en-US"/>
              <a:t>・資格情報」を置く。</a:t>
            </a:r>
          </a:p>
          <a:p>
            <a:r>
              <a:rPr lang="en-US" altLang="ja-JP"/>
              <a:t>- Device ID</a:t>
            </a:r>
            <a:r>
              <a:rPr lang="ja-JP" altLang="en-US"/>
              <a:t>同士を細線で対応付け、その下に「</a:t>
            </a:r>
            <a:r>
              <a:rPr lang="en-US" altLang="ja-JP"/>
              <a:t>ID</a:t>
            </a:r>
            <a:r>
              <a:rPr lang="ja-JP" altLang="en-US"/>
              <a:t>の一致だけでなく資格情報を検証」と書く。</a:t>
            </a:r>
          </a:p>
          <a:p>
            <a:r>
              <a:rPr lang="en-US" altLang="ja-JP"/>
              <a:t>- </a:t>
            </a:r>
            <a:r>
              <a:rPr lang="ja-JP" altLang="en-US"/>
              <a:t>接続文字列は</a:t>
            </a:r>
            <a:r>
              <a:rPr lang="en-US" altLang="ja-JP"/>
              <a:t>3</a:t>
            </a:r>
            <a:r>
              <a:rPr lang="ja-JP" altLang="en-US"/>
              <a:t>つのフィールドが対応するように改行表示し、「実際は</a:t>
            </a:r>
            <a:r>
              <a:rPr lang="en-US" altLang="ja-JP"/>
              <a:t>1</a:t>
            </a:r>
            <a:r>
              <a:rPr lang="ja-JP" altLang="en-US"/>
              <a:t>行」と添える。実キーらしいランダム文字列は生成しない。</a:t>
            </a:r>
          </a:p>
          <a:p>
            <a:r>
              <a:rPr lang="en-US" altLang="ja-JP"/>
              <a:t>- </a:t>
            </a:r>
            <a:r>
              <a:rPr lang="ja-JP" altLang="en-US"/>
              <a:t>認証方式は本文の</a:t>
            </a:r>
            <a:r>
              <a:rPr lang="en-US" altLang="ja-JP"/>
              <a:t>2</a:t>
            </a:r>
            <a:r>
              <a:rPr lang="ja-JP" altLang="en-US"/>
              <a:t>方式だけを短く示す。証明書チェーンや発行手順の図は追加しない。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分。接続文字列の例は対称キー方式専用。</a:t>
            </a:r>
            <a:r>
              <a:rPr lang="en-US" altLang="ja-JP"/>
              <a:t>X.509</a:t>
            </a:r>
            <a:r>
              <a:rPr lang="ja-JP" altLang="en-US"/>
              <a:t>でも同じ </a:t>
            </a:r>
            <a:r>
              <a:rPr lang="en-US" altLang="ja-JP"/>
              <a:t>`SharedAccessKey` </a:t>
            </a:r>
            <a:r>
              <a:rPr lang="ja-JP" altLang="en-US"/>
              <a:t>を使うとは説明しない。接続先・</a:t>
            </a:r>
            <a:r>
              <a:rPr lang="en-US" altLang="ja-JP"/>
              <a:t>ID</a:t>
            </a:r>
            <a:r>
              <a:rPr lang="ja-JP" altLang="en-US"/>
              <a:t>・キーを表と対応付けて確認する。</a:t>
            </a:r>
          </a:p>
          <a:p>
            <a:r>
              <a:rPr lang="en-US" altLang="ja-JP"/>
              <a:t>- </a:t>
            </a:r>
            <a:r>
              <a:rPr lang="ja-JP" altLang="en-US"/>
              <a:t>対称キーと</a:t>
            </a:r>
            <a:r>
              <a:rPr lang="en-US" altLang="ja-JP"/>
              <a:t>SAS</a:t>
            </a:r>
            <a:r>
              <a:rPr lang="ja-JP" altLang="en-US"/>
              <a:t>トークンは同じものではない。</a:t>
            </a:r>
            <a:r>
              <a:rPr lang="en-US" altLang="ja-JP"/>
              <a:t>SDK</a:t>
            </a:r>
            <a:r>
              <a:rPr lang="ja-JP" altLang="en-US"/>
              <a:t>はキーを使って</a:t>
            </a:r>
            <a:r>
              <a:rPr lang="en-US" altLang="ja-JP"/>
              <a:t>SAS</a:t>
            </a:r>
            <a:r>
              <a:rPr lang="ja-JP" altLang="en-US"/>
              <a:t>トークンを生成する。期限・更新処理の詳細はここでは省く（</a:t>
            </a:r>
            <a:r>
              <a:rPr lang="en-US" altLang="ja-JP"/>
              <a:t>[SAS </a:t>
            </a:r>
            <a:r>
              <a:rPr lang="ja-JP" altLang="en-US"/>
              <a:t>トークンの生成</a:t>
            </a:r>
            <a:r>
              <a:rPr lang="en-US" altLang="ja-JP"/>
              <a:t>](https://learn.microsoft.com/ja-jp/azure/iot-hub/authenticate-authorize-sas)</a:t>
            </a:r>
            <a:r>
              <a:rPr lang="ja-JP" altLang="en-US"/>
              <a:t>）。</a:t>
            </a:r>
          </a:p>
          <a:p>
            <a:r>
              <a:rPr lang="en-US" altLang="ja-JP"/>
              <a:t>- </a:t>
            </a:r>
            <a:r>
              <a:rPr lang="ja-JP" altLang="en-US"/>
              <a:t>図の「</a:t>
            </a:r>
            <a:r>
              <a:rPr lang="en-US" altLang="ja-JP"/>
              <a:t>Hub</a:t>
            </a:r>
            <a:r>
              <a:rPr lang="ja-JP" altLang="en-US"/>
              <a:t>側の登録情報」にデバイスの秘密鍵は含めない。</a:t>
            </a:r>
            <a:r>
              <a:rPr lang="en-US" altLang="ja-JP"/>
              <a:t>X.509</a:t>
            </a:r>
            <a:r>
              <a:rPr lang="ja-JP" altLang="en-US"/>
              <a:t>の秘密鍵はデバイス側で保護し、証明書と対応する秘密鍵を持つことを認証で確認する（</a:t>
            </a:r>
            <a:r>
              <a:rPr lang="en-US" altLang="ja-JP"/>
              <a:t>[X.509 </a:t>
            </a:r>
            <a:r>
              <a:rPr lang="ja-JP" altLang="en-US"/>
              <a:t>による認証</a:t>
            </a:r>
            <a:r>
              <a:rPr lang="en-US" altLang="ja-JP"/>
              <a:t>](https://learn.microsoft.com/ja-jp/azure/iot-hub/authenticate-authorize-x509)</a:t>
            </a:r>
            <a:r>
              <a:rPr lang="ja-JP" altLang="en-US"/>
              <a:t>）。</a:t>
            </a:r>
          </a:p>
          <a:p>
            <a:r>
              <a:rPr lang="en-US" altLang="ja-JP"/>
              <a:t>- </a:t>
            </a:r>
            <a:r>
              <a:rPr lang="ja-JP" altLang="en-US"/>
              <a:t>デバイス固有の資格情報を別デバイスへ使い回さない。秘密鍵・キーの保管や更新の設計は第</a:t>
            </a:r>
            <a:r>
              <a:rPr lang="en-US" altLang="ja-JP"/>
              <a:t>7</a:t>
            </a:r>
            <a:r>
              <a:rPr lang="ja-JP" altLang="en-US"/>
              <a:t>章へつなぐ（</a:t>
            </a:r>
            <a:r>
              <a:rPr lang="en-US" altLang="ja-JP"/>
              <a:t>[</a:t>
            </a:r>
            <a:r>
              <a:rPr lang="ja-JP" altLang="en-US"/>
              <a:t>セキュリティ推奨事項</a:t>
            </a:r>
            <a:r>
              <a:rPr lang="en-US" altLang="ja-JP"/>
              <a:t>](https://learn.microsoft.com/ja-jp/azure/iot-hub/secure-azure-iot-hub#identity-and-access-management)</a:t>
            </a:r>
            <a:r>
              <a:rPr lang="ja-JP" altLang="en-US"/>
              <a:t>）。</a:t>
            </a:r>
          </a:p>
          <a:p>
            <a:r>
              <a:rPr lang="en-US" altLang="ja-JP"/>
              <a:t>- </a:t>
            </a:r>
            <a:r>
              <a:rPr lang="ja-JP" altLang="en-US"/>
              <a:t>次への接続</a:t>
            </a:r>
            <a:r>
              <a:rPr lang="en-US" altLang="ja-JP"/>
              <a:t>: </a:t>
            </a:r>
            <a:r>
              <a:rPr lang="ja-JP" altLang="en-US"/>
              <a:t>「デバイスを認証できることと、クラウド側から他のデバイスを操作してよいことは別です」。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03-04 </a:t>
            </a:r>
            <a:r>
              <a:rPr lang="ja-JP" altLang="en-US"/>
              <a:t>認証・権限・通信保護の違い</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なりすまし、不正な操作、通信経路での漏えいという異なる問いを、</a:t>
            </a:r>
            <a:r>
              <a:rPr lang="en-US" altLang="ja-JP"/>
              <a:t>3</a:t>
            </a:r>
            <a:r>
              <a:rPr lang="ja-JP" altLang="en-US"/>
              <a:t>つの基礎概念に結び付ける。サービス側の認証をデバイスへ流用する誤解を防ぐ。</a:t>
            </a:r>
          </a:p>
          <a:p>
            <a:endParaRPr lang="ja-JP" altLang="en-US"/>
          </a:p>
          <a:p>
            <a:r>
              <a:rPr lang="en-US" altLang="ja-JP"/>
              <a:t>### </a:t>
            </a:r>
            <a:r>
              <a:rPr lang="ja-JP" altLang="en-US"/>
              <a:t>投影本文</a:t>
            </a:r>
          </a:p>
          <a:p>
            <a:endParaRPr lang="ja-JP" altLang="en-US"/>
          </a:p>
          <a:p>
            <a:r>
              <a:rPr lang="ja-JP" altLang="en-US"/>
              <a:t>**誰として接続するか、何を許可するか、通信内容をどう守るかは別の問い。**</a:t>
            </a:r>
          </a:p>
          <a:p>
            <a:endParaRPr lang="ja-JP" altLang="en-US"/>
          </a:p>
          <a:p>
            <a:r>
              <a:rPr lang="en-US" altLang="ja-JP"/>
              <a:t>| </a:t>
            </a:r>
            <a:r>
              <a:rPr lang="ja-JP" altLang="en-US"/>
              <a:t>観点 </a:t>
            </a:r>
            <a:r>
              <a:rPr lang="en-US" altLang="ja-JP"/>
              <a:t>| </a:t>
            </a:r>
            <a:r>
              <a:rPr lang="ja-JP" altLang="en-US"/>
              <a:t>確認する問い </a:t>
            </a:r>
            <a:r>
              <a:rPr lang="en-US" altLang="ja-JP"/>
              <a:t>| </a:t>
            </a:r>
            <a:r>
              <a:rPr lang="ja-JP" altLang="en-US"/>
              <a:t>具体例 </a:t>
            </a:r>
            <a:r>
              <a:rPr lang="en-US" altLang="ja-JP"/>
              <a:t>|</a:t>
            </a:r>
          </a:p>
          <a:p>
            <a:r>
              <a:rPr lang="en-US" altLang="ja-JP"/>
              <a:t>| --- | --- | --- |</a:t>
            </a:r>
          </a:p>
          <a:p>
            <a:r>
              <a:rPr lang="en-US" altLang="ja-JP"/>
              <a:t>| </a:t>
            </a:r>
            <a:r>
              <a:rPr lang="ja-JP" altLang="en-US"/>
              <a:t>認証 </a:t>
            </a:r>
            <a:r>
              <a:rPr lang="en-US" altLang="ja-JP"/>
              <a:t>| </a:t>
            </a:r>
            <a:r>
              <a:rPr lang="ja-JP" altLang="en-US"/>
              <a:t>誰として接続するか </a:t>
            </a:r>
            <a:r>
              <a:rPr lang="en-US" altLang="ja-JP"/>
              <a:t>| `temp-sensor-01` </a:t>
            </a:r>
            <a:r>
              <a:rPr lang="ja-JP" altLang="en-US"/>
              <a:t>として資格情報を検証する </a:t>
            </a:r>
            <a:r>
              <a:rPr lang="en-US" altLang="ja-JP"/>
              <a:t>|</a:t>
            </a:r>
          </a:p>
          <a:p>
            <a:r>
              <a:rPr lang="en-US" altLang="ja-JP"/>
              <a:t>| </a:t>
            </a:r>
            <a:r>
              <a:rPr lang="ja-JP" altLang="en-US"/>
              <a:t>認可・権限 </a:t>
            </a:r>
            <a:r>
              <a:rPr lang="en-US" altLang="ja-JP"/>
              <a:t>| </a:t>
            </a:r>
            <a:r>
              <a:rPr lang="ja-JP" altLang="en-US"/>
              <a:t>その主体に何を許すか </a:t>
            </a:r>
            <a:r>
              <a:rPr lang="en-US" altLang="ja-JP"/>
              <a:t>| </a:t>
            </a:r>
            <a:r>
              <a:rPr lang="ja-JP" altLang="en-US"/>
              <a:t>自分のテレメトリ送信と、サービス側からの操作を分ける </a:t>
            </a:r>
            <a:r>
              <a:rPr lang="en-US" altLang="ja-JP"/>
              <a:t>|</a:t>
            </a:r>
          </a:p>
          <a:p>
            <a:r>
              <a:rPr lang="en-US" altLang="ja-JP"/>
              <a:t>| </a:t>
            </a:r>
            <a:r>
              <a:rPr lang="ja-JP" altLang="en-US"/>
              <a:t>通信保護 </a:t>
            </a:r>
            <a:r>
              <a:rPr lang="en-US" altLang="ja-JP"/>
              <a:t>| </a:t>
            </a:r>
            <a:r>
              <a:rPr lang="ja-JP" altLang="en-US"/>
              <a:t>経路上で内容を守れるか </a:t>
            </a:r>
            <a:r>
              <a:rPr lang="en-US" altLang="ja-JP"/>
              <a:t>| TLS</a:t>
            </a:r>
            <a:r>
              <a:rPr lang="ja-JP" altLang="en-US"/>
              <a:t>で通信を暗号化する </a:t>
            </a:r>
            <a:r>
              <a:rPr lang="en-US" altLang="ja-JP"/>
              <a:t>|</a:t>
            </a:r>
          </a:p>
          <a:p>
            <a:endParaRPr lang="en-US" altLang="ja-JP"/>
          </a:p>
          <a:p>
            <a:r>
              <a:rPr lang="ja-JP" altLang="en-US"/>
              <a:t>デバイス側は **</a:t>
            </a:r>
            <a:r>
              <a:rPr lang="en-US" altLang="ja-JP"/>
              <a:t>SAS / X.509**</a:t>
            </a:r>
            <a:r>
              <a:rPr lang="ja-JP" altLang="en-US"/>
              <a:t>。デバイス管理・操作を行うサービス</a:t>
            </a:r>
            <a:r>
              <a:rPr lang="en-US" altLang="ja-JP"/>
              <a:t>API</a:t>
            </a:r>
            <a:r>
              <a:rPr lang="ja-JP" altLang="en-US"/>
              <a:t>は **</a:t>
            </a:r>
            <a:r>
              <a:rPr lang="en-US" altLang="ja-JP"/>
              <a:t>Entra ID</a:t>
            </a:r>
            <a:r>
              <a:rPr lang="ja-JP" altLang="en-US"/>
              <a:t>で認証 </a:t>
            </a:r>
            <a:r>
              <a:rPr lang="en-US" altLang="ja-JP"/>
              <a:t>+ Azure RBAC</a:t>
            </a:r>
            <a:r>
              <a:rPr lang="ja-JP" altLang="en-US"/>
              <a:t>で権限付与**、または **共有アクセスポリシー（</a:t>
            </a:r>
            <a:r>
              <a:rPr lang="en-US" altLang="ja-JP"/>
              <a:t>Hub</a:t>
            </a:r>
            <a:r>
              <a:rPr lang="ja-JP" altLang="en-US"/>
              <a:t>側の権限設定）の</a:t>
            </a:r>
            <a:r>
              <a:rPr lang="en-US" altLang="ja-JP"/>
              <a:t>SAS**</a:t>
            </a:r>
            <a:r>
              <a:rPr lang="ja-JP" altLang="en-US"/>
              <a:t>を使う。</a:t>
            </a:r>
            <a:r>
              <a:rPr lang="en-US" altLang="ja-JP"/>
              <a:t>Entra ID</a:t>
            </a:r>
            <a:r>
              <a:rPr lang="ja-JP" altLang="en-US"/>
              <a:t>認証はデバイス</a:t>
            </a:r>
            <a:r>
              <a:rPr lang="en-US" altLang="ja-JP"/>
              <a:t>API</a:t>
            </a:r>
            <a:r>
              <a:rPr lang="ja-JP" altLang="en-US"/>
              <a:t>には使えない（</a:t>
            </a:r>
            <a:r>
              <a:rPr lang="en-US" altLang="ja-JP"/>
              <a:t>[SAS </a:t>
            </a:r>
            <a:r>
              <a:rPr lang="ja-JP" altLang="en-US"/>
              <a:t>とアクセス権</a:t>
            </a:r>
            <a:r>
              <a:rPr lang="en-US" altLang="ja-JP"/>
              <a:t>](https://learn.microsoft.com/ja-jp/azure/iot-hub/authenticate-authorize-sas)</a:t>
            </a:r>
            <a:r>
              <a:rPr lang="ja-JP" altLang="en-US"/>
              <a:t>、</a:t>
            </a:r>
            <a:r>
              <a:rPr lang="en-US" altLang="ja-JP"/>
              <a:t>[Microsoft Entra ID </a:t>
            </a:r>
            <a:r>
              <a:rPr lang="ja-JP" altLang="en-US"/>
              <a:t>によるサービス </a:t>
            </a:r>
            <a:r>
              <a:rPr lang="en-US" altLang="ja-JP"/>
              <a:t>API </a:t>
            </a:r>
            <a:r>
              <a:rPr lang="ja-JP" altLang="en-US"/>
              <a:t>の認証</a:t>
            </a:r>
            <a:r>
              <a:rPr lang="en-US" altLang="ja-JP"/>
              <a:t>](https://learn.microsoft.com/ja-jp/azure/iot-hub/authenticate-authorize-azure-ad)</a:t>
            </a:r>
            <a:r>
              <a:rPr lang="ja-JP" altLang="en-US"/>
              <a:t>）。</a:t>
            </a:r>
          </a:p>
          <a:p>
            <a:endParaRPr lang="ja-JP" altLang="en-US"/>
          </a:p>
          <a:p>
            <a:r>
              <a:rPr lang="ja-JP" altLang="en-US"/>
              <a:t>**デバイス用とサービス側の資格情報を分ける。</a:t>
            </a:r>
            <a:r>
              <a:rPr lang="en-US" altLang="ja-JP"/>
              <a:t>TLS</a:t>
            </a:r>
            <a:r>
              <a:rPr lang="ja-JP" altLang="en-US"/>
              <a:t>を使っていても、キーの公開が安全になるわけではない。**（</a:t>
            </a:r>
            <a:r>
              <a:rPr lang="en-US" altLang="ja-JP"/>
              <a:t>[TLS </a:t>
            </a:r>
            <a:r>
              <a:rPr lang="ja-JP" altLang="en-US"/>
              <a:t>サポート</a:t>
            </a:r>
            <a:r>
              <a:rPr lang="en-US" altLang="ja-JP"/>
              <a:t>](https://learn.microsoft.com/ja-jp/azure/iot-hub/iot-hub-tls-support)</a:t>
            </a:r>
            <a:r>
              <a:rPr lang="ja-JP" altLang="en-US"/>
              <a:t>、</a:t>
            </a:r>
            <a:r>
              <a:rPr lang="en-US" altLang="ja-JP"/>
              <a:t>[</a:t>
            </a:r>
            <a:r>
              <a:rPr lang="ja-JP" altLang="en-US"/>
              <a:t>セキュリティ推奨事項</a:t>
            </a:r>
            <a:r>
              <a:rPr lang="en-US" altLang="ja-JP"/>
              <a:t>](https://learn.microsoft.com/ja-jp/azure/iot-hub/secure-azure-iot-hub#identity-and-access-management)</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上部を</a:t>
            </a:r>
            <a:r>
              <a:rPr lang="en-US" altLang="ja-JP"/>
              <a:t>3</a:t>
            </a:r>
            <a:r>
              <a:rPr lang="ja-JP" altLang="en-US"/>
              <a:t>行の比較表、下部を「デバイス側 → </a:t>
            </a:r>
            <a:r>
              <a:rPr lang="en-US" altLang="ja-JP"/>
              <a:t>Hub ← </a:t>
            </a:r>
            <a:r>
              <a:rPr lang="ja-JP" altLang="en-US"/>
              <a:t>サービス側」の小図とする。</a:t>
            </a:r>
          </a:p>
          <a:p>
            <a:r>
              <a:rPr lang="en-US" altLang="ja-JP"/>
              <a:t>- </a:t>
            </a:r>
            <a:r>
              <a:rPr lang="ja-JP" altLang="en-US"/>
              <a:t>左の矢印に「デバイス固有の資格情報」、右に「サービス側の認証と権限」を記す。キーを横断共有する線は描かない。</a:t>
            </a:r>
          </a:p>
          <a:p>
            <a:r>
              <a:rPr lang="en-US" altLang="ja-JP"/>
              <a:t>- TLS</a:t>
            </a:r>
            <a:r>
              <a:rPr lang="ja-JP" altLang="en-US"/>
              <a:t>は通信経路に付ける注記とし、</a:t>
            </a:r>
            <a:r>
              <a:rPr lang="en-US" altLang="ja-JP"/>
              <a:t>SAS / X.509</a:t>
            </a:r>
            <a:r>
              <a:rPr lang="ja-JP" altLang="en-US"/>
              <a:t>と並列の第三の認証方式にはしない。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3</a:t>
            </a:r>
            <a:r>
              <a:rPr lang="ja-JP" altLang="en-US"/>
              <a:t>分。</a:t>
            </a:r>
            <a:r>
              <a:rPr lang="en-US" altLang="ja-JP"/>
              <a:t>Microsoft Entra ID</a:t>
            </a:r>
            <a:r>
              <a:rPr lang="ja-JP" altLang="en-US"/>
              <a:t>はバックエンドの認証主体を扱い、</a:t>
            </a:r>
            <a:r>
              <a:rPr lang="en-US" altLang="ja-JP"/>
              <a:t>Azure RBAC</a:t>
            </a:r>
            <a:r>
              <a:rPr lang="ja-JP" altLang="en-US"/>
              <a:t>は役割に応じたアクセス権を割り当てる仕組みと説明する。追加の</a:t>
            </a:r>
            <a:r>
              <a:rPr lang="en-US" altLang="ja-JP"/>
              <a:t>1</a:t>
            </a:r>
            <a:r>
              <a:rPr lang="ja-JP" altLang="en-US"/>
              <a:t>分で、表の「誰か」「何を許すか」「通信を守るか」を順に具体例と対応付ける（</a:t>
            </a:r>
            <a:r>
              <a:rPr lang="en-US" altLang="ja-JP"/>
              <a:t>[Entra ID </a:t>
            </a:r>
            <a:r>
              <a:rPr lang="ja-JP" altLang="en-US"/>
              <a:t>と </a:t>
            </a:r>
            <a:r>
              <a:rPr lang="en-US" altLang="ja-JP"/>
              <a:t>RBAC](https://learn.microsoft.com/ja-jp/azure/iot-hub/authenticate-authorize-azure-ad)</a:t>
            </a:r>
            <a:r>
              <a:rPr lang="ja-JP" altLang="en-US"/>
              <a:t>）。</a:t>
            </a:r>
          </a:p>
          <a:p>
            <a:r>
              <a:rPr lang="en-US" altLang="ja-JP"/>
              <a:t>- API</a:t>
            </a:r>
            <a:r>
              <a:rPr lang="ja-JP" altLang="en-US"/>
              <a:t>はアプリがサービスの機能を呼び出す窓口。本ページの「サービス側」はデバイス管理・操作などのサービス</a:t>
            </a:r>
            <a:r>
              <a:rPr lang="en-US" altLang="ja-JP"/>
              <a:t>API</a:t>
            </a:r>
            <a:r>
              <a:rPr lang="ja-JP" altLang="en-US"/>
              <a:t>を指し、すべての受信ツールが両認証方式に対応するという意味ではない。</a:t>
            </a:r>
          </a:p>
          <a:p>
            <a:r>
              <a:rPr lang="en-US" altLang="ja-JP"/>
              <a:t>- </a:t>
            </a:r>
            <a:r>
              <a:rPr lang="ja-JP" altLang="en-US"/>
              <a:t>この表の認証方式はデバイス</a:t>
            </a:r>
            <a:r>
              <a:rPr lang="en-US" altLang="ja-JP"/>
              <a:t>API</a:t>
            </a:r>
            <a:r>
              <a:rPr lang="ja-JP" altLang="en-US"/>
              <a:t>とサービス</a:t>
            </a:r>
            <a:r>
              <a:rPr lang="en-US" altLang="ja-JP"/>
              <a:t>API</a:t>
            </a:r>
            <a:r>
              <a:rPr lang="ja-JP" altLang="en-US"/>
              <a:t>の説明。</a:t>
            </a:r>
            <a:r>
              <a:rPr lang="en-US" altLang="ja-JP"/>
              <a:t>Hub</a:t>
            </a:r>
            <a:r>
              <a:rPr lang="ja-JP" altLang="en-US"/>
              <a:t>リソースを作成する管理操作は別の操作面であり、サービス用</a:t>
            </a:r>
            <a:r>
              <a:rPr lang="en-US" altLang="ja-JP"/>
              <a:t>SAS</a:t>
            </a:r>
            <a:r>
              <a:rPr lang="ja-JP" altLang="en-US"/>
              <a:t>を</a:t>
            </a:r>
            <a:r>
              <a:rPr lang="en-US" altLang="ja-JP"/>
              <a:t>Hub</a:t>
            </a:r>
            <a:r>
              <a:rPr lang="ja-JP" altLang="en-US"/>
              <a:t>作成の資格情報として示さない（</a:t>
            </a:r>
            <a:r>
              <a:rPr lang="en-US" altLang="ja-JP"/>
              <a:t>[IoT Hub SDK </a:t>
            </a:r>
            <a:r>
              <a:rPr lang="ja-JP" altLang="en-US"/>
              <a:t>の分類</a:t>
            </a:r>
            <a:r>
              <a:rPr lang="en-US" altLang="ja-JP"/>
              <a:t>](https://learn.microsoft.com/ja-jp/azure/iot-hub/iot-hub-devguide-sdks)</a:t>
            </a:r>
            <a:r>
              <a:rPr lang="ja-JP" altLang="en-US"/>
              <a:t>）。</a:t>
            </a:r>
          </a:p>
          <a:p>
            <a:r>
              <a:rPr lang="en-US" altLang="ja-JP"/>
              <a:t>- </a:t>
            </a:r>
            <a:r>
              <a:rPr lang="ja-JP" altLang="en-US"/>
              <a:t>権限ロール名の一覧、</a:t>
            </a:r>
            <a:r>
              <a:rPr lang="en-US" altLang="ja-JP"/>
              <a:t>TLS</a:t>
            </a:r>
            <a:r>
              <a:rPr lang="ja-JP" altLang="en-US"/>
              <a:t>バージョン、脅威分類、証明書運用は説明しない。第</a:t>
            </a:r>
            <a:r>
              <a:rPr lang="en-US" altLang="ja-JP"/>
              <a:t>7</a:t>
            </a:r>
            <a:r>
              <a:rPr lang="ja-JP" altLang="en-US"/>
              <a:t>章では権限・保護・更新の具体的な設計へ進む。</a:t>
            </a:r>
          </a:p>
          <a:p>
            <a:r>
              <a:rPr lang="en-US" altLang="ja-JP"/>
              <a:t>- </a:t>
            </a:r>
            <a:r>
              <a:rPr lang="ja-JP" altLang="en-US"/>
              <a:t>次への接続</a:t>
            </a:r>
            <a:r>
              <a:rPr lang="en-US" altLang="ja-JP"/>
              <a:t>: </a:t>
            </a:r>
            <a:r>
              <a:rPr lang="ja-JP" altLang="en-US"/>
              <a:t>「接続する主体と保護が分かったところで、どの通信方式を使うかを比べます」。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03-05 IoT Hub </a:t>
            </a:r>
            <a:r>
              <a:rPr lang="ja-JP" altLang="en-US"/>
              <a:t>の通信プロトコルと選び分け</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認証・</a:t>
            </a:r>
            <a:r>
              <a:rPr lang="en-US" altLang="ja-JP"/>
              <a:t>TLS</a:t>
            </a:r>
            <a:r>
              <a:rPr lang="ja-JP" altLang="en-US"/>
              <a:t>の説明を受け、デバイスと</a:t>
            </a:r>
            <a:r>
              <a:rPr lang="en-US" altLang="ja-JP"/>
              <a:t>Hub</a:t>
            </a:r>
            <a:r>
              <a:rPr lang="ja-JP" altLang="en-US"/>
              <a:t>の間で使う通信方式を比較する。名前の列挙ではなく、指示の受信方法、デバイス</a:t>
            </a:r>
            <a:r>
              <a:rPr lang="en-US" altLang="ja-JP"/>
              <a:t>ID</a:t>
            </a:r>
            <a:r>
              <a:rPr lang="ja-JP" altLang="en-US"/>
              <a:t>の多重化、ポートの違いを判断材料にする。</a:t>
            </a:r>
            <a:r>
              <a:rPr lang="en-US" altLang="ja-JP"/>
              <a:t>SDK</a:t>
            </a:r>
            <a:r>
              <a:rPr lang="ja-JP" altLang="en-US"/>
              <a:t>による実装は次ページで扱う。</a:t>
            </a:r>
          </a:p>
          <a:p>
            <a:endParaRPr lang="ja-JP" altLang="en-US"/>
          </a:p>
          <a:p>
            <a:r>
              <a:rPr lang="en-US" altLang="ja-JP"/>
              <a:t>### </a:t>
            </a:r>
            <a:r>
              <a:rPr lang="ja-JP" altLang="en-US"/>
              <a:t>投影本文</a:t>
            </a:r>
          </a:p>
          <a:p>
            <a:endParaRPr lang="ja-JP" altLang="en-US"/>
          </a:p>
          <a:p>
            <a:r>
              <a:rPr lang="ja-JP" altLang="en-US"/>
              <a:t>**通信プロトコルはデータをやり取りする方式。デバイスの制約と受信方法に合わせて選ぶ。**</a:t>
            </a:r>
          </a:p>
          <a:p>
            <a:endParaRPr lang="ja-JP" altLang="en-US"/>
          </a:p>
          <a:p>
            <a:r>
              <a:rPr lang="en-US" altLang="ja-JP"/>
              <a:t>| </a:t>
            </a:r>
            <a:r>
              <a:rPr lang="ja-JP" altLang="en-US"/>
              <a:t>観点 </a:t>
            </a:r>
            <a:r>
              <a:rPr lang="en-US" altLang="ja-JP"/>
              <a:t>| MQTT | AMQP | HTTPS |</a:t>
            </a:r>
          </a:p>
          <a:p>
            <a:r>
              <a:rPr lang="en-US" altLang="ja-JP"/>
              <a:t>| --- | --- | --- | --- |</a:t>
            </a:r>
          </a:p>
          <a:p>
            <a:r>
              <a:rPr lang="en-US" altLang="ja-JP"/>
              <a:t>| </a:t>
            </a:r>
            <a:r>
              <a:rPr lang="ja-JP" altLang="en-US"/>
              <a:t>主な選択場面 </a:t>
            </a:r>
            <a:r>
              <a:rPr lang="en-US" altLang="ja-JP"/>
              <a:t>| </a:t>
            </a:r>
            <a:r>
              <a:rPr lang="ja-JP" altLang="en-US"/>
              <a:t>一般的なデバイスの直接接続 </a:t>
            </a:r>
            <a:r>
              <a:rPr lang="en-US" altLang="ja-JP"/>
              <a:t>| </a:t>
            </a:r>
            <a:r>
              <a:rPr lang="ja-JP" altLang="en-US"/>
              <a:t>複数デバイスを集約するゲートウェイ </a:t>
            </a:r>
            <a:r>
              <a:rPr lang="en-US" altLang="ja-JP"/>
              <a:t>| </a:t>
            </a:r>
            <a:r>
              <a:rPr lang="ja-JP" altLang="en-US"/>
              <a:t>他の方式を利用できないデバイス </a:t>
            </a:r>
            <a:r>
              <a:rPr lang="en-US" altLang="ja-JP"/>
              <a:t>|</a:t>
            </a:r>
          </a:p>
          <a:p>
            <a:r>
              <a:rPr lang="en-US" altLang="ja-JP"/>
              <a:t>| </a:t>
            </a:r>
            <a:r>
              <a:rPr lang="ja-JP" altLang="en-US"/>
              <a:t>クラウド→デバイスのメッセージ受信（</a:t>
            </a:r>
            <a:r>
              <a:rPr lang="en-US" altLang="ja-JP"/>
              <a:t>C2D</a:t>
            </a:r>
            <a:r>
              <a:rPr lang="ja-JP" altLang="en-US"/>
              <a:t>） </a:t>
            </a:r>
            <a:r>
              <a:rPr lang="en-US" altLang="ja-JP"/>
              <a:t>| </a:t>
            </a:r>
            <a:r>
              <a:rPr lang="ja-JP" altLang="en-US"/>
              <a:t>サーバーからプッシュ </a:t>
            </a:r>
            <a:r>
              <a:rPr lang="en-US" altLang="ja-JP"/>
              <a:t>| </a:t>
            </a:r>
            <a:r>
              <a:rPr lang="ja-JP" altLang="en-US"/>
              <a:t>サーバーからプッシュ </a:t>
            </a:r>
            <a:r>
              <a:rPr lang="en-US" altLang="ja-JP"/>
              <a:t>| </a:t>
            </a:r>
            <a:r>
              <a:rPr lang="ja-JP" altLang="en-US"/>
              <a:t>デバイスから定期的に問い合わせる（ポーリング） </a:t>
            </a:r>
            <a:r>
              <a:rPr lang="en-US" altLang="ja-JP"/>
              <a:t>|</a:t>
            </a:r>
          </a:p>
          <a:p>
            <a:r>
              <a:rPr lang="en-US" altLang="ja-JP"/>
              <a:t>| 1</a:t>
            </a:r>
            <a:r>
              <a:rPr lang="ja-JP" altLang="en-US"/>
              <a:t>つの</a:t>
            </a:r>
            <a:r>
              <a:rPr lang="en-US" altLang="ja-JP"/>
              <a:t>TLS</a:t>
            </a:r>
            <a:r>
              <a:rPr lang="ja-JP" altLang="en-US"/>
              <a:t>接続で扱うデバイス</a:t>
            </a:r>
            <a:r>
              <a:rPr lang="en-US" altLang="ja-JP"/>
              <a:t>ID | 1</a:t>
            </a:r>
            <a:r>
              <a:rPr lang="ja-JP" altLang="en-US"/>
              <a:t>つ </a:t>
            </a:r>
            <a:r>
              <a:rPr lang="en-US" altLang="ja-JP"/>
              <a:t>| </a:t>
            </a:r>
            <a:r>
              <a:rPr lang="ja-JP" altLang="en-US"/>
              <a:t>複数</a:t>
            </a:r>
            <a:r>
              <a:rPr lang="en-US" altLang="ja-JP"/>
              <a:t>ID</a:t>
            </a:r>
            <a:r>
              <a:rPr lang="ja-JP" altLang="en-US"/>
              <a:t>を多重化できる </a:t>
            </a:r>
            <a:r>
              <a:rPr lang="en-US" altLang="ja-JP"/>
              <a:t>| 1</a:t>
            </a:r>
            <a:r>
              <a:rPr lang="ja-JP" altLang="en-US"/>
              <a:t>つ </a:t>
            </a:r>
            <a:r>
              <a:rPr lang="en-US" altLang="ja-JP"/>
              <a:t>|</a:t>
            </a:r>
          </a:p>
          <a:p>
            <a:r>
              <a:rPr lang="en-US" altLang="ja-JP"/>
              <a:t>| </a:t>
            </a:r>
            <a:r>
              <a:rPr lang="ja-JP" altLang="en-US"/>
              <a:t>送信先ポート </a:t>
            </a:r>
            <a:r>
              <a:rPr lang="en-US" altLang="ja-JP"/>
              <a:t>| 8883 / WebSocket</a:t>
            </a:r>
            <a:r>
              <a:rPr lang="ja-JP" altLang="en-US"/>
              <a:t>経由は</a:t>
            </a:r>
            <a:r>
              <a:rPr lang="en-US" altLang="ja-JP"/>
              <a:t>443 | 5671 / WebSocket</a:t>
            </a:r>
            <a:r>
              <a:rPr lang="ja-JP" altLang="en-US"/>
              <a:t>経由は</a:t>
            </a:r>
            <a:r>
              <a:rPr lang="en-US" altLang="ja-JP"/>
              <a:t>443 | 443 |</a:t>
            </a:r>
          </a:p>
          <a:p>
            <a:endParaRPr lang="en-US" altLang="ja-JP"/>
          </a:p>
          <a:p>
            <a:r>
              <a:rPr lang="en-US" altLang="ja-JP"/>
              <a:t>IoT Hub</a:t>
            </a:r>
            <a:r>
              <a:rPr lang="ja-JP" altLang="en-US"/>
              <a:t>のデバイス側通信を比較。</a:t>
            </a:r>
            <a:r>
              <a:rPr lang="en-US" altLang="ja-JP"/>
              <a:t>C2D</a:t>
            </a:r>
            <a:r>
              <a:rPr lang="ja-JP" altLang="en-US"/>
              <a:t>メッセージを速やかに受け取る用途は</a:t>
            </a:r>
            <a:r>
              <a:rPr lang="en-US" altLang="ja-JP"/>
              <a:t>MQTT / AMQP</a:t>
            </a:r>
            <a:r>
              <a:rPr lang="ja-JP" altLang="en-US"/>
              <a:t>を選ぶ。操作機能全般の対応比較ではない（</a:t>
            </a:r>
            <a:r>
              <a:rPr lang="en-US" altLang="ja-JP"/>
              <a:t>[</a:t>
            </a:r>
            <a:r>
              <a:rPr lang="ja-JP" altLang="en-US"/>
              <a:t>対応プロトコル・選択基準・ポート</a:t>
            </a:r>
            <a:r>
              <a:rPr lang="en-US" altLang="ja-JP"/>
              <a:t>](https://learn.microsoft.com/ja-jp/azure/iot-hub/iot-hub-devguide-protocols)</a:t>
            </a:r>
            <a:r>
              <a:rPr lang="ja-JP" altLang="en-US"/>
              <a:t>）。</a:t>
            </a:r>
          </a:p>
          <a:p>
            <a:endParaRPr lang="ja-JP" altLang="en-US"/>
          </a:p>
          <a:p>
            <a:r>
              <a:rPr lang="ja-JP" altLang="en-US"/>
              <a:t>**</a:t>
            </a:r>
            <a:r>
              <a:rPr lang="en-US" altLang="ja-JP"/>
              <a:t>443</a:t>
            </a:r>
            <a:r>
              <a:rPr lang="ja-JP" altLang="en-US"/>
              <a:t>番ポートを使う通信が、すべて</a:t>
            </a:r>
            <a:r>
              <a:rPr lang="en-US" altLang="ja-JP"/>
              <a:t>HTTPS</a:t>
            </a:r>
            <a:r>
              <a:rPr lang="ja-JP" altLang="en-US"/>
              <a:t>方式になるわけではない。** </a:t>
            </a:r>
            <a:r>
              <a:rPr lang="en-US" altLang="ja-JP"/>
              <a:t>MQTT / AMQP</a:t>
            </a:r>
            <a:r>
              <a:rPr lang="ja-JP" altLang="en-US"/>
              <a:t>は</a:t>
            </a:r>
            <a:r>
              <a:rPr lang="en-US" altLang="ja-JP"/>
              <a:t>WebSocket</a:t>
            </a:r>
            <a:r>
              <a:rPr lang="ja-JP" altLang="en-US"/>
              <a:t>経由でも利用できる（</a:t>
            </a:r>
            <a:r>
              <a:rPr lang="en-US" altLang="ja-JP"/>
              <a:t>[WebSocket</a:t>
            </a:r>
            <a:r>
              <a:rPr lang="ja-JP" altLang="en-US"/>
              <a:t>とポート番号</a:t>
            </a:r>
            <a:r>
              <a:rPr lang="en-US" altLang="ja-JP"/>
              <a:t>](https://learn.microsoft.com/ja-jp/azure/iot-hub/iot-hub-devguide-protocols#port-numbers)</a:t>
            </a:r>
            <a:r>
              <a:rPr lang="ja-JP" altLang="en-US"/>
              <a:t>）。</a:t>
            </a:r>
          </a:p>
          <a:p>
            <a:endParaRPr lang="ja-JP" altLang="en-US"/>
          </a:p>
          <a:p>
            <a:r>
              <a:rPr lang="ja-JP" altLang="en-US"/>
              <a:t>**</a:t>
            </a:r>
            <a:r>
              <a:rPr lang="en-US" altLang="ja-JP"/>
              <a:t>IoT Hub</a:t>
            </a:r>
            <a:r>
              <a:rPr lang="ja-JP" altLang="en-US"/>
              <a:t>の</a:t>
            </a:r>
            <a:r>
              <a:rPr lang="en-US" altLang="ja-JP"/>
              <a:t>MQTT</a:t>
            </a:r>
            <a:r>
              <a:rPr lang="ja-JP" altLang="en-US"/>
              <a:t>対応は機能が限定され、汎用</a:t>
            </a:r>
            <a:r>
              <a:rPr lang="en-US" altLang="ja-JP"/>
              <a:t>MQTT</a:t>
            </a:r>
            <a:r>
              <a:rPr lang="ja-JP" altLang="en-US"/>
              <a:t>ブローカーと同じではない。**（</a:t>
            </a:r>
            <a:r>
              <a:rPr lang="en-US" altLang="ja-JP"/>
              <a:t>[MQTT</a:t>
            </a:r>
            <a:r>
              <a:rPr lang="ja-JP" altLang="en-US"/>
              <a:t>サポートの範囲</a:t>
            </a:r>
            <a:r>
              <a:rPr lang="en-US" altLang="ja-JP"/>
              <a:t>](https://learn.microsoft.com/ja-jp/azure/iot-hub/iot-mqtt-connect-to-iot-hub)</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中央に</a:t>
            </a:r>
            <a:r>
              <a:rPr lang="en-US" altLang="ja-JP"/>
              <a:t>4</a:t>
            </a:r>
            <a:r>
              <a:rPr lang="ja-JP" altLang="en-US"/>
              <a:t>行の比較表を配置し、同じ観点を同じ行で対比する。優劣のランキングにはしない。</a:t>
            </a:r>
          </a:p>
          <a:p>
            <a:r>
              <a:rPr lang="en-US" altLang="ja-JP"/>
              <a:t>- WebSocket</a:t>
            </a:r>
            <a:r>
              <a:rPr lang="ja-JP" altLang="en-US"/>
              <a:t>は</a:t>
            </a:r>
            <a:r>
              <a:rPr lang="en-US" altLang="ja-JP"/>
              <a:t>MQTT / AMQP</a:t>
            </a:r>
            <a:r>
              <a:rPr lang="ja-JP" altLang="en-US"/>
              <a:t>のポート欄に併記し、独立した機能選択の列にはしない。</a:t>
            </a:r>
          </a:p>
          <a:p>
            <a:r>
              <a:rPr lang="en-US" altLang="ja-JP"/>
              <a:t>- </a:t>
            </a:r>
            <a:r>
              <a:rPr lang="ja-JP" altLang="en-US"/>
              <a:t>表の下に選択基準と</a:t>
            </a:r>
            <a:r>
              <a:rPr lang="en-US" altLang="ja-JP"/>
              <a:t>2</a:t>
            </a:r>
            <a:r>
              <a:rPr lang="ja-JP" altLang="en-US"/>
              <a:t>つの留保を通常の本文サイズで配置する。</a:t>
            </a:r>
            <a:r>
              <a:rPr lang="en-US" altLang="ja-JP"/>
              <a:t>Learn</a:t>
            </a:r>
            <a:r>
              <a:rPr lang="ja-JP" altLang="en-US"/>
              <a:t>へのリンクは同じスライド下端に残す。</a:t>
            </a:r>
          </a:p>
          <a:p>
            <a:r>
              <a:rPr lang="en-US" altLang="ja-JP"/>
              <a:t>- </a:t>
            </a:r>
            <a:r>
              <a:rPr lang="ja-JP" altLang="en-US"/>
              <a:t>対象はデバイス側の接続。受信バックエンドの読み取り口やサービス</a:t>
            </a:r>
            <a:r>
              <a:rPr lang="en-US" altLang="ja-JP"/>
              <a:t>API</a:t>
            </a:r>
            <a:r>
              <a:rPr lang="ja-JP" altLang="en-US"/>
              <a:t>を同じ比較表に混在させない。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分。方式の定義と表の比較</a:t>
            </a:r>
            <a:r>
              <a:rPr lang="en-US" altLang="ja-JP"/>
              <a:t>75</a:t>
            </a:r>
            <a:r>
              <a:rPr lang="ja-JP" altLang="en-US"/>
              <a:t>秒、</a:t>
            </a:r>
            <a:r>
              <a:rPr lang="en-US" altLang="ja-JP"/>
              <a:t>WebSocket</a:t>
            </a:r>
            <a:r>
              <a:rPr lang="ja-JP" altLang="en-US"/>
              <a:t>と</a:t>
            </a:r>
            <a:r>
              <a:rPr lang="en-US" altLang="ja-JP"/>
              <a:t>MQTT</a:t>
            </a:r>
            <a:r>
              <a:rPr lang="ja-JP" altLang="en-US"/>
              <a:t>の留保</a:t>
            </a:r>
            <a:r>
              <a:rPr lang="en-US" altLang="ja-JP"/>
              <a:t>30</a:t>
            </a:r>
            <a:r>
              <a:rPr lang="ja-JP" altLang="en-US"/>
              <a:t>秒、</a:t>
            </a:r>
            <a:r>
              <a:rPr lang="en-US" altLang="ja-JP"/>
              <a:t>SDK</a:t>
            </a:r>
            <a:r>
              <a:rPr lang="ja-JP" altLang="en-US"/>
              <a:t>への接続</a:t>
            </a:r>
            <a:r>
              <a:rPr lang="en-US" altLang="ja-JP"/>
              <a:t>15</a:t>
            </a:r>
            <a:r>
              <a:rPr lang="ja-JP" altLang="en-US"/>
              <a:t>秒。</a:t>
            </a:r>
          </a:p>
          <a:p>
            <a:r>
              <a:rPr lang="en-US" altLang="ja-JP"/>
              <a:t>- </a:t>
            </a:r>
            <a:r>
              <a:rPr lang="ja-JP" altLang="en-US"/>
              <a:t>クラウドからデバイスへのメッセージを</a:t>
            </a:r>
            <a:r>
              <a:rPr lang="en-US" altLang="ja-JP"/>
              <a:t>C2D</a:t>
            </a:r>
            <a:r>
              <a:rPr lang="ja-JP" altLang="en-US"/>
              <a:t>と呼ぶ。表の「メッセージ受信」は</a:t>
            </a:r>
            <a:r>
              <a:rPr lang="en-US" altLang="ja-JP"/>
              <a:t>C2D</a:t>
            </a:r>
            <a:r>
              <a:rPr lang="ja-JP" altLang="en-US"/>
              <a:t>の説明であり、すべての操作機能が</a:t>
            </a:r>
            <a:r>
              <a:rPr lang="en-US" altLang="ja-JP"/>
              <a:t>HTTPS</a:t>
            </a:r>
            <a:r>
              <a:rPr lang="ja-JP" altLang="en-US"/>
              <a:t>で利用できるという意味ではない。</a:t>
            </a:r>
            <a:r>
              <a:rPr lang="en-US" altLang="ja-JP"/>
              <a:t>Direct Method</a:t>
            </a:r>
            <a:r>
              <a:rPr lang="ja-JP" altLang="en-US"/>
              <a:t>などの使い分けは第</a:t>
            </a:r>
            <a:r>
              <a:rPr lang="en-US" altLang="ja-JP"/>
              <a:t>4</a:t>
            </a:r>
            <a:r>
              <a:rPr lang="ja-JP" altLang="en-US"/>
              <a:t>章へ残す。</a:t>
            </a:r>
          </a:p>
          <a:p>
            <a:r>
              <a:rPr lang="en-US" altLang="ja-JP"/>
              <a:t>- AMQP</a:t>
            </a:r>
            <a:r>
              <a:rPr lang="ja-JP" altLang="en-US"/>
              <a:t>の多重化は、異なるデバイス</a:t>
            </a:r>
            <a:r>
              <a:rPr lang="en-US" altLang="ja-JP"/>
              <a:t>ID</a:t>
            </a:r>
            <a:r>
              <a:rPr lang="ja-JP" altLang="en-US"/>
              <a:t>と資格情報を</a:t>
            </a:r>
            <a:r>
              <a:rPr lang="en-US" altLang="ja-JP"/>
              <a:t>1</a:t>
            </a:r>
            <a:r>
              <a:rPr lang="ja-JP" altLang="en-US"/>
              <a:t>つの接続で扱うこと。ゲートウェイが必ず</a:t>
            </a:r>
            <a:r>
              <a:rPr lang="en-US" altLang="ja-JP"/>
              <a:t>AMQP</a:t>
            </a:r>
            <a:r>
              <a:rPr lang="ja-JP" altLang="en-US"/>
              <a:t>を使うという断定にはしない（</a:t>
            </a:r>
            <a:r>
              <a:rPr lang="en-US" altLang="ja-JP"/>
              <a:t>[</a:t>
            </a:r>
            <a:r>
              <a:rPr lang="ja-JP" altLang="en-US"/>
              <a:t>通信プロトコルの選択</a:t>
            </a:r>
            <a:r>
              <a:rPr lang="en-US" altLang="ja-JP"/>
              <a:t>](https://learn.microsoft.com/ja-jp/azure/iot-hub/iot-hub-devguide-protocols)</a:t>
            </a:r>
            <a:r>
              <a:rPr lang="ja-JP" altLang="en-US"/>
              <a:t>）。</a:t>
            </a:r>
          </a:p>
          <a:p>
            <a:r>
              <a:rPr lang="en-US" altLang="ja-JP"/>
              <a:t>- HTTPS</a:t>
            </a:r>
            <a:r>
              <a:rPr lang="ja-JP" altLang="en-US"/>
              <a:t>の</a:t>
            </a:r>
            <a:r>
              <a:rPr lang="en-US" altLang="ja-JP"/>
              <a:t>C2D</a:t>
            </a:r>
            <a:r>
              <a:rPr lang="ja-JP" altLang="en-US"/>
              <a:t>ポーリングは、</a:t>
            </a:r>
            <a:r>
              <a:rPr lang="en-US" altLang="ja-JP"/>
              <a:t>Learn</a:t>
            </a:r>
            <a:r>
              <a:rPr lang="ja-JP" altLang="en-US"/>
              <a:t>ではデバイスごとに</a:t>
            </a:r>
            <a:r>
              <a:rPr lang="en-US" altLang="ja-JP"/>
              <a:t>25</a:t>
            </a:r>
            <a:r>
              <a:rPr lang="ja-JP" altLang="en-US"/>
              <a:t>分に</a:t>
            </a:r>
            <a:r>
              <a:rPr lang="en-US" altLang="ja-JP"/>
              <a:t>1</a:t>
            </a:r>
            <a:r>
              <a:rPr lang="ja-JP" altLang="en-US"/>
              <a:t>回以内がガイドライン。これはテレメトリの送信間隔の制限ではない。頻繁なポーリングの実装を勧めない（</a:t>
            </a:r>
            <a:r>
              <a:rPr lang="en-US" altLang="ja-JP"/>
              <a:t>[HTTPS</a:t>
            </a:r>
            <a:r>
              <a:rPr lang="ja-JP" altLang="en-US"/>
              <a:t>のポーリングに関する注意</a:t>
            </a:r>
            <a:r>
              <a:rPr lang="en-US" altLang="ja-JP"/>
              <a:t>](https://learn.microsoft.com/ja-jp/azure/iot-hub/iot-hub-devguide-protocols)</a:t>
            </a:r>
            <a:r>
              <a:rPr lang="ja-JP" altLang="en-US"/>
              <a:t>）。</a:t>
            </a:r>
          </a:p>
          <a:p>
            <a:r>
              <a:rPr lang="en-US" altLang="ja-JP"/>
              <a:t>- 443</a:t>
            </a:r>
            <a:r>
              <a:rPr lang="ja-JP" altLang="en-US"/>
              <a:t>番ポートだけで通信可否が決まるわけではない。</a:t>
            </a:r>
            <a:r>
              <a:rPr lang="en-US" altLang="ja-JP"/>
              <a:t>WebSocket</a:t>
            </a:r>
            <a:r>
              <a:rPr lang="ja-JP" altLang="en-US"/>
              <a:t>利用時にもネットワーク側の許可と</a:t>
            </a:r>
            <a:r>
              <a:rPr lang="en-US" altLang="ja-JP"/>
              <a:t>SDK</a:t>
            </a:r>
            <a:r>
              <a:rPr lang="ja-JP" altLang="en-US"/>
              <a:t>の対応を確認する。本編ではプロキシ設定や実装詳細に広げない。</a:t>
            </a:r>
          </a:p>
          <a:p>
            <a:r>
              <a:rPr lang="en-US" altLang="ja-JP"/>
              <a:t>- MQTT</a:t>
            </a:r>
            <a:r>
              <a:rPr lang="ja-JP" altLang="en-US"/>
              <a:t>の対応範囲と汎用ブローカーとの違いは</a:t>
            </a:r>
            <a:r>
              <a:rPr lang="en-US" altLang="ja-JP"/>
              <a:t>Learn</a:t>
            </a:r>
            <a:r>
              <a:rPr lang="ja-JP" altLang="en-US"/>
              <a:t>への参照に留め、</a:t>
            </a:r>
            <a:r>
              <a:rPr lang="en-US" altLang="ja-JP"/>
              <a:t>MQTT v5</a:t>
            </a:r>
            <a:r>
              <a:rPr lang="ja-JP" altLang="en-US"/>
              <a:t>や別サービスの比較を本章に追加しない（</a:t>
            </a:r>
            <a:r>
              <a:rPr lang="en-US" altLang="ja-JP"/>
              <a:t>[MQTT</a:t>
            </a:r>
            <a:r>
              <a:rPr lang="ja-JP" altLang="en-US"/>
              <a:t>サポート</a:t>
            </a:r>
            <a:r>
              <a:rPr lang="en-US" altLang="ja-JP"/>
              <a:t>](https://learn.microsoft.com/ja-jp/azure/iot-hub/iot-mqtt-connect-to-iot-hub)</a:t>
            </a:r>
            <a:r>
              <a:rPr lang="ja-JP" altLang="en-US"/>
              <a:t>）。</a:t>
            </a:r>
          </a:p>
          <a:p>
            <a:r>
              <a:rPr lang="en-US" altLang="ja-JP"/>
              <a:t>- </a:t>
            </a:r>
            <a:r>
              <a:rPr lang="ja-JP" altLang="en-US"/>
              <a:t>次への接続</a:t>
            </a:r>
            <a:r>
              <a:rPr lang="en-US" altLang="ja-JP"/>
              <a:t>: </a:t>
            </a:r>
            <a:r>
              <a:rPr lang="ja-JP" altLang="en-US"/>
              <a:t>「通信方式を、アプリから使うためのライブラリが</a:t>
            </a:r>
            <a:r>
              <a:rPr lang="en-US" altLang="ja-JP"/>
              <a:t>SDK</a:t>
            </a:r>
            <a:r>
              <a:rPr lang="ja-JP" altLang="en-US"/>
              <a:t>です」。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03-06 SDK </a:t>
            </a:r>
            <a:r>
              <a:rPr lang="ja-JP" altLang="en-US"/>
              <a:t>の役割と用途別の使い分け</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en-US" altLang="ja-JP"/>
              <a:t>SDK</a:t>
            </a:r>
            <a:r>
              <a:rPr lang="ja-JP" altLang="en-US"/>
              <a:t>とプロトコルを対立する選択肢にしない。特に「バックエンドなら全部サービス</a:t>
            </a:r>
            <a:r>
              <a:rPr lang="en-US" altLang="ja-JP"/>
              <a:t>SDK</a:t>
            </a:r>
            <a:r>
              <a:rPr lang="ja-JP" altLang="en-US"/>
              <a:t>」という誤解を解く。</a:t>
            </a:r>
          </a:p>
          <a:p>
            <a:endParaRPr lang="ja-JP" altLang="en-US"/>
          </a:p>
          <a:p>
            <a:r>
              <a:rPr lang="en-US" altLang="ja-JP"/>
              <a:t>### </a:t>
            </a:r>
            <a:r>
              <a:rPr lang="ja-JP" altLang="en-US"/>
              <a:t>投影本文</a:t>
            </a:r>
          </a:p>
          <a:p>
            <a:endParaRPr lang="ja-JP" altLang="en-US"/>
          </a:p>
          <a:p>
            <a:r>
              <a:rPr lang="ja-JP" altLang="en-US"/>
              <a:t>**プロトコルは通信の方式。</a:t>
            </a:r>
            <a:r>
              <a:rPr lang="en-US" altLang="ja-JP"/>
              <a:t>SDK</a:t>
            </a:r>
            <a:r>
              <a:rPr lang="ja-JP" altLang="en-US"/>
              <a:t>は、その通信機能をアプリから使うためのライブラリ。**</a:t>
            </a:r>
          </a:p>
          <a:p>
            <a:endParaRPr lang="ja-JP" altLang="en-US"/>
          </a:p>
          <a:p>
            <a:r>
              <a:rPr lang="ja-JP" altLang="en-US"/>
              <a:t>前ページの通信方式をアプリから利用する際は、</a:t>
            </a:r>
            <a:r>
              <a:rPr lang="en-US" altLang="ja-JP"/>
              <a:t>SDK</a:t>
            </a:r>
            <a:r>
              <a:rPr lang="ja-JP" altLang="en-US"/>
              <a:t>の対応範囲も確認する。</a:t>
            </a:r>
            <a:r>
              <a:rPr lang="en-US" altLang="ja-JP"/>
              <a:t>SDK</a:t>
            </a:r>
            <a:r>
              <a:rPr lang="ja-JP" altLang="en-US"/>
              <a:t>ごとに使えるプロトコルは異なる（</a:t>
            </a:r>
            <a:r>
              <a:rPr lang="en-US" altLang="ja-JP"/>
              <a:t>[</a:t>
            </a:r>
            <a:r>
              <a:rPr lang="ja-JP" altLang="en-US"/>
              <a:t>通信プロトコルの選択</a:t>
            </a:r>
            <a:r>
              <a:rPr lang="en-US" altLang="ja-JP"/>
              <a:t>](https://learn.microsoft.com/ja-jp/azure/iot-hub/iot-hub-devguide-protocols)</a:t>
            </a:r>
            <a:r>
              <a:rPr lang="ja-JP" altLang="en-US"/>
              <a:t>）。</a:t>
            </a:r>
          </a:p>
          <a:p>
            <a:endParaRPr lang="ja-JP" altLang="en-US"/>
          </a:p>
          <a:p>
            <a:r>
              <a:rPr lang="en-US" altLang="ja-JP"/>
              <a:t>| </a:t>
            </a:r>
            <a:r>
              <a:rPr lang="ja-JP" altLang="en-US"/>
              <a:t>やりたいこと </a:t>
            </a:r>
            <a:r>
              <a:rPr lang="en-US" altLang="ja-JP"/>
              <a:t>| </a:t>
            </a:r>
            <a:r>
              <a:rPr lang="ja-JP" altLang="en-US"/>
              <a:t>使うライブラリ </a:t>
            </a:r>
            <a:r>
              <a:rPr lang="en-US" altLang="ja-JP"/>
              <a:t>|</a:t>
            </a:r>
          </a:p>
          <a:p>
            <a:r>
              <a:rPr lang="en-US" altLang="ja-JP"/>
              <a:t>| --- | --- |</a:t>
            </a:r>
          </a:p>
          <a:p>
            <a:r>
              <a:rPr lang="en-US" altLang="ja-JP"/>
              <a:t>| </a:t>
            </a:r>
            <a:r>
              <a:rPr lang="ja-JP" altLang="en-US"/>
              <a:t>デバイスから送信し、指示を受ける </a:t>
            </a:r>
            <a:r>
              <a:rPr lang="en-US" altLang="ja-JP"/>
              <a:t>| IoT Hub </a:t>
            </a:r>
            <a:r>
              <a:rPr lang="ja-JP" altLang="en-US"/>
              <a:t>デバイス </a:t>
            </a:r>
            <a:r>
              <a:rPr lang="en-US" altLang="ja-JP"/>
              <a:t>SDK |</a:t>
            </a:r>
          </a:p>
          <a:p>
            <a:r>
              <a:rPr lang="en-US" altLang="ja-JP"/>
              <a:t>| </a:t>
            </a:r>
            <a:r>
              <a:rPr lang="ja-JP" altLang="en-US"/>
              <a:t>デバイス</a:t>
            </a:r>
            <a:r>
              <a:rPr lang="en-US" altLang="ja-JP"/>
              <a:t>ID</a:t>
            </a:r>
            <a:r>
              <a:rPr lang="ja-JP" altLang="en-US"/>
              <a:t>を管理し、操作や設定変更を要求する </a:t>
            </a:r>
            <a:r>
              <a:rPr lang="en-US" altLang="ja-JP"/>
              <a:t>| IoT Hub </a:t>
            </a:r>
            <a:r>
              <a:rPr lang="ja-JP" altLang="en-US"/>
              <a:t>サービス </a:t>
            </a:r>
            <a:r>
              <a:rPr lang="en-US" altLang="ja-JP"/>
              <a:t>SDK |</a:t>
            </a:r>
          </a:p>
          <a:p>
            <a:r>
              <a:rPr lang="en-US" altLang="ja-JP"/>
              <a:t>| Hub</a:t>
            </a:r>
            <a:r>
              <a:rPr lang="ja-JP" altLang="en-US"/>
              <a:t>リソース自体を作成・管理する </a:t>
            </a:r>
            <a:r>
              <a:rPr lang="en-US" altLang="ja-JP"/>
              <a:t>| IoT Hub </a:t>
            </a:r>
            <a:r>
              <a:rPr lang="ja-JP" altLang="en-US"/>
              <a:t>管理 </a:t>
            </a:r>
            <a:r>
              <a:rPr lang="en-US" altLang="ja-JP"/>
              <a:t>SDK |</a:t>
            </a:r>
          </a:p>
          <a:p>
            <a:r>
              <a:rPr lang="en-US" altLang="ja-JP"/>
              <a:t>| </a:t>
            </a:r>
            <a:r>
              <a:rPr lang="ja-JP" altLang="en-US"/>
              <a:t>組み込みエンドポイントから</a:t>
            </a:r>
            <a:r>
              <a:rPr lang="en-US" altLang="ja-JP"/>
              <a:t>D2C</a:t>
            </a:r>
            <a:r>
              <a:rPr lang="ja-JP" altLang="en-US"/>
              <a:t>を読む </a:t>
            </a:r>
            <a:r>
              <a:rPr lang="en-US" altLang="ja-JP"/>
              <a:t>| Event Hubs SDK |</a:t>
            </a:r>
          </a:p>
          <a:p>
            <a:endParaRPr lang="en-US" altLang="ja-JP"/>
          </a:p>
          <a:p>
            <a:r>
              <a:rPr lang="en-US" altLang="ja-JP"/>
              <a:t>SDK</a:t>
            </a:r>
            <a:r>
              <a:rPr lang="ja-JP" altLang="en-US"/>
              <a:t>は実行する役割に合わせて選ぶ。</a:t>
            </a:r>
            <a:r>
              <a:rPr lang="en-US" altLang="ja-JP"/>
              <a:t>D2C</a:t>
            </a:r>
            <a:r>
              <a:rPr lang="ja-JP" altLang="en-US"/>
              <a:t>はデバイスからクラウドへの通信（</a:t>
            </a:r>
            <a:r>
              <a:rPr lang="en-US" altLang="ja-JP"/>
              <a:t>Device-to-Cloud</a:t>
            </a:r>
            <a:r>
              <a:rPr lang="ja-JP" altLang="en-US"/>
              <a:t>）を指す（</a:t>
            </a:r>
            <a:r>
              <a:rPr lang="en-US" altLang="ja-JP"/>
              <a:t>[IoT Hub SDK](https://learn.microsoft.com/ja-jp/azure/iot-hub/iot-hub-devguide-sdks)</a:t>
            </a:r>
            <a:r>
              <a:rPr lang="ja-JP" altLang="en-US"/>
              <a:t>、</a:t>
            </a:r>
            <a:r>
              <a:rPr lang="en-US" altLang="ja-JP"/>
              <a:t>[D2C </a:t>
            </a:r>
            <a:r>
              <a:rPr lang="ja-JP" altLang="en-US"/>
              <a:t>読み取りの </a:t>
            </a:r>
            <a:r>
              <a:rPr lang="en-US" altLang="ja-JP"/>
              <a:t>SDK](https://learn.microsoft.com/ja-jp/azure/iot-hub/iot-hub-devguide-messages-read-builtin#sdk-samples)</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左に「デバイスアプリ → デバイス</a:t>
            </a:r>
            <a:r>
              <a:rPr lang="en-US" altLang="ja-JP"/>
              <a:t>SDK → </a:t>
            </a:r>
            <a:r>
              <a:rPr lang="ja-JP" altLang="en-US"/>
              <a:t>通信プロトコル → </a:t>
            </a:r>
            <a:r>
              <a:rPr lang="en-US" altLang="ja-JP"/>
              <a:t>IoT Hub</a:t>
            </a:r>
            <a:r>
              <a:rPr lang="ja-JP" altLang="en-US"/>
              <a:t>」の縦配置、右に</a:t>
            </a:r>
            <a:r>
              <a:rPr lang="en-US" altLang="ja-JP"/>
              <a:t>4</a:t>
            </a:r>
            <a:r>
              <a:rPr lang="ja-JP" altLang="en-US"/>
              <a:t>行の対応表を置く。</a:t>
            </a:r>
          </a:p>
          <a:p>
            <a:r>
              <a:rPr lang="en-US" altLang="ja-JP"/>
              <a:t>- </a:t>
            </a:r>
            <a:r>
              <a:rPr lang="ja-JP" altLang="en-US"/>
              <a:t>図中の通信プロトコル欄は「</a:t>
            </a:r>
            <a:r>
              <a:rPr lang="en-US" altLang="ja-JP"/>
              <a:t>MQTT</a:t>
            </a:r>
            <a:r>
              <a:rPr lang="ja-JP" altLang="en-US"/>
              <a:t>など」とする。</a:t>
            </a:r>
            <a:r>
              <a:rPr lang="en-US" altLang="ja-JP"/>
              <a:t>3</a:t>
            </a:r>
            <a:r>
              <a:rPr lang="ja-JP" altLang="en-US"/>
              <a:t>種類を同時利用する線や、すべての</a:t>
            </a:r>
            <a:r>
              <a:rPr lang="en-US" altLang="ja-JP"/>
              <a:t>SDK</a:t>
            </a:r>
            <a:r>
              <a:rPr lang="ja-JP" altLang="en-US"/>
              <a:t>が全方式対応と読める線は描かない。</a:t>
            </a:r>
          </a:p>
          <a:p>
            <a:r>
              <a:rPr lang="en-US" altLang="ja-JP"/>
              <a:t>- </a:t>
            </a:r>
            <a:r>
              <a:rPr lang="ja-JP" altLang="en-US"/>
              <a:t>受信側の</a:t>
            </a:r>
            <a:r>
              <a:rPr lang="en-US" altLang="ja-JP"/>
              <a:t>Event Hubs SDK</a:t>
            </a:r>
            <a:r>
              <a:rPr lang="ja-JP" altLang="en-US"/>
              <a:t>に「読み取り口は</a:t>
            </a:r>
            <a:r>
              <a:rPr lang="en-US" altLang="ja-JP"/>
              <a:t>03-08</a:t>
            </a:r>
            <a:r>
              <a:rPr lang="ja-JP" altLang="en-US"/>
              <a:t>」と添え、ここでは受信の詳細図を増やさない。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30</a:t>
            </a:r>
            <a:r>
              <a:rPr lang="ja-JP" altLang="en-US"/>
              <a:t>秒。</a:t>
            </a:r>
            <a:r>
              <a:rPr lang="en-US" altLang="ja-JP"/>
              <a:t>API</a:t>
            </a:r>
            <a:r>
              <a:rPr lang="ja-JP" altLang="en-US"/>
              <a:t>名・対応言語の暗記は求めない。管理</a:t>
            </a:r>
            <a:r>
              <a:rPr lang="en-US" altLang="ja-JP"/>
              <a:t>SDK</a:t>
            </a:r>
            <a:r>
              <a:rPr lang="ja-JP" altLang="en-US"/>
              <a:t>の行は「</a:t>
            </a:r>
            <a:r>
              <a:rPr lang="en-US" altLang="ja-JP"/>
              <a:t>Hub</a:t>
            </a:r>
            <a:r>
              <a:rPr lang="ja-JP" altLang="en-US"/>
              <a:t>作成はデバイス</a:t>
            </a:r>
            <a:r>
              <a:rPr lang="en-US" altLang="ja-JP"/>
              <a:t>SDK</a:t>
            </a:r>
            <a:r>
              <a:rPr lang="ja-JP" altLang="en-US"/>
              <a:t>の役割ではない」の確認に留める。送信アプリと受信アプリに対応する</a:t>
            </a:r>
            <a:r>
              <a:rPr lang="en-US" altLang="ja-JP"/>
              <a:t>SDK</a:t>
            </a:r>
            <a:r>
              <a:rPr lang="ja-JP" altLang="en-US"/>
              <a:t>を表で指し分ける。</a:t>
            </a:r>
          </a:p>
          <a:p>
            <a:r>
              <a:rPr lang="en-US" altLang="ja-JP"/>
              <a:t>- MQTT</a:t>
            </a:r>
            <a:r>
              <a:rPr lang="ja-JP" altLang="en-US"/>
              <a:t>は通信方式の一つ。</a:t>
            </a:r>
            <a:r>
              <a:rPr lang="en-US" altLang="ja-JP"/>
              <a:t>IoT Hub</a:t>
            </a:r>
            <a:r>
              <a:rPr lang="ja-JP" altLang="en-US"/>
              <a:t>は汎用</a:t>
            </a:r>
            <a:r>
              <a:rPr lang="en-US" altLang="ja-JP"/>
              <a:t>MQTT</a:t>
            </a:r>
            <a:r>
              <a:rPr lang="ja-JP" altLang="en-US"/>
              <a:t>ブローカーではなく、任意トピックによるデバイス間通信のサービスではない（</a:t>
            </a:r>
            <a:r>
              <a:rPr lang="en-US" altLang="ja-JP"/>
              <a:t>[IoT Hub </a:t>
            </a:r>
            <a:r>
              <a:rPr lang="ja-JP" altLang="en-US"/>
              <a:t>の </a:t>
            </a:r>
            <a:r>
              <a:rPr lang="en-US" altLang="ja-JP"/>
              <a:t>MQTT </a:t>
            </a:r>
            <a:r>
              <a:rPr lang="ja-JP" altLang="en-US"/>
              <a:t>サポート</a:t>
            </a:r>
            <a:r>
              <a:rPr lang="en-US" altLang="ja-JP"/>
              <a:t>](https://learn.microsoft.com/ja-jp/azure/iot-hub/iot-mqtt-connect-to-iot-hub)</a:t>
            </a:r>
            <a:r>
              <a:rPr lang="ja-JP" altLang="en-US"/>
              <a:t>）。</a:t>
            </a:r>
          </a:p>
          <a:p>
            <a:r>
              <a:rPr lang="en-US" altLang="ja-JP"/>
              <a:t>- </a:t>
            </a:r>
            <a:r>
              <a:rPr lang="ja-JP" altLang="en-US"/>
              <a:t>次への接続</a:t>
            </a:r>
            <a:r>
              <a:rPr lang="en-US" altLang="ja-JP"/>
              <a:t>: </a:t>
            </a:r>
            <a:r>
              <a:rPr lang="ja-JP" altLang="en-US"/>
              <a:t>「まずデバイス</a:t>
            </a:r>
            <a:r>
              <a:rPr lang="en-US" altLang="ja-JP"/>
              <a:t>SDK</a:t>
            </a:r>
            <a:r>
              <a:rPr lang="ja-JP" altLang="en-US"/>
              <a:t>を使う側で、送る本文を見ます」。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03-07 </a:t>
            </a:r>
            <a:r>
              <a:rPr lang="ja-JP" altLang="en-US"/>
              <a:t>温度テレメトリの本文と送信処理</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抽象的な</a:t>
            </a:r>
            <a:r>
              <a:rPr lang="en-US" altLang="ja-JP"/>
              <a:t>D2C</a:t>
            </a:r>
            <a:r>
              <a:rPr lang="ja-JP" altLang="en-US"/>
              <a:t>を温度・湿度の本文に落とす。アプリが生成するデータと、</a:t>
            </a:r>
            <a:r>
              <a:rPr lang="en-US" altLang="ja-JP"/>
              <a:t>IoT Hub</a:t>
            </a:r>
            <a:r>
              <a:rPr lang="ja-JP" altLang="en-US"/>
              <a:t>が提供する通信を区別する。</a:t>
            </a:r>
          </a:p>
          <a:p>
            <a:endParaRPr lang="ja-JP" altLang="en-US"/>
          </a:p>
          <a:p>
            <a:r>
              <a:rPr lang="en-US" altLang="ja-JP"/>
              <a:t>### </a:t>
            </a:r>
            <a:r>
              <a:rPr lang="ja-JP" altLang="en-US"/>
              <a:t>投影本文</a:t>
            </a:r>
          </a:p>
          <a:p>
            <a:endParaRPr lang="ja-JP" altLang="en-US"/>
          </a:p>
          <a:p>
            <a:r>
              <a:rPr lang="ja-JP" altLang="en-US"/>
              <a:t>**テレメトリは、測定値やイベントをデバイスから送るデータ。本文はデバイスアプリが作る。**（</a:t>
            </a:r>
            <a:r>
              <a:rPr lang="en-US" altLang="ja-JP"/>
              <a:t>[IoT Hub </a:t>
            </a:r>
            <a:r>
              <a:rPr lang="ja-JP" altLang="en-US"/>
              <a:t>のメッセージング</a:t>
            </a:r>
            <a:r>
              <a:rPr lang="en-US" altLang="ja-JP"/>
              <a:t>](https://learn.microsoft.com/ja-jp/azure/iot-hub/iot-concepts-and-iot-hub)</a:t>
            </a:r>
            <a:r>
              <a:rPr lang="ja-JP" altLang="en-US"/>
              <a:t>）</a:t>
            </a:r>
          </a:p>
          <a:p>
            <a:endParaRPr lang="ja-JP" altLang="en-US"/>
          </a:p>
          <a:p>
            <a:r>
              <a:rPr lang="ja-JP" altLang="en-US"/>
              <a:t>本文の説明例（この講義では温度は摂氏、湿度は相対湿度</a:t>
            </a:r>
            <a:r>
              <a:rPr lang="en-US" altLang="ja-JP"/>
              <a:t>%</a:t>
            </a:r>
            <a:r>
              <a:rPr lang="ja-JP" altLang="en-US"/>
              <a:t>）</a:t>
            </a:r>
            <a:r>
              <a:rPr lang="en-US" altLang="ja-JP"/>
              <a:t>:</a:t>
            </a:r>
          </a:p>
          <a:p>
            <a:endParaRPr lang="en-US" altLang="ja-JP"/>
          </a:p>
          <a:p>
            <a:r>
              <a:rPr lang="en-US" altLang="ja-JP"/>
              <a:t>```json</a:t>
            </a:r>
          </a:p>
          <a:p>
            <a:r>
              <a:rPr lang="en-US" altLang="ja-JP"/>
              <a:t>{"temperature":25,"humidity":45}</a:t>
            </a:r>
          </a:p>
          <a:p>
            <a:r>
              <a:rPr lang="en-US" altLang="ja-JP"/>
              <a:t>```</a:t>
            </a:r>
          </a:p>
          <a:p>
            <a:endParaRPr lang="en-US" altLang="ja-JP"/>
          </a:p>
          <a:p>
            <a:r>
              <a:rPr lang="en-US" altLang="ja-JP"/>
              <a:t>1. </a:t>
            </a:r>
            <a:r>
              <a:rPr lang="ja-JP" altLang="en-US"/>
              <a:t>アプリが温度・湿度の値を用意する。</a:t>
            </a:r>
          </a:p>
          <a:p>
            <a:r>
              <a:rPr lang="en-US" altLang="ja-JP"/>
              <a:t>2. JSON</a:t>
            </a:r>
            <a:r>
              <a:rPr lang="ja-JP" altLang="en-US"/>
              <a:t>の本文をメッセージにし、デバイス</a:t>
            </a:r>
            <a:r>
              <a:rPr lang="en-US" altLang="ja-JP"/>
              <a:t>SDK</a:t>
            </a:r>
            <a:r>
              <a:rPr lang="ja-JP" altLang="en-US"/>
              <a:t>で送る。</a:t>
            </a:r>
          </a:p>
          <a:p>
            <a:r>
              <a:rPr lang="en-US" altLang="ja-JP"/>
              <a:t>3. IoT Hub</a:t>
            </a:r>
            <a:r>
              <a:rPr lang="ja-JP" altLang="en-US"/>
              <a:t>を経由して、受信側が読み取る。</a:t>
            </a:r>
          </a:p>
          <a:p>
            <a:endParaRPr lang="ja-JP" altLang="en-US"/>
          </a:p>
          <a:p>
            <a:r>
              <a:rPr lang="ja-JP" altLang="en-US"/>
              <a:t>今回の実装はランダム値を使った模擬センサー。**起動・接続だけでは送信せず、</a:t>
            </a:r>
            <a:r>
              <a:rPr lang="en-US" altLang="ja-JP"/>
              <a:t>`start` </a:t>
            </a:r>
            <a:r>
              <a:rPr lang="ja-JP" altLang="en-US"/>
              <a:t>の操作後に送信する。**（</a:t>
            </a:r>
            <a:r>
              <a:rPr lang="en-US" altLang="ja-JP"/>
              <a:t>[</a:t>
            </a:r>
            <a:r>
              <a:rPr lang="ja-JP" altLang="en-US"/>
              <a:t>デモ実装</a:t>
            </a:r>
            <a:r>
              <a:rPr lang="en-US" altLang="ja-JP"/>
              <a:t>](../../../demo/01_iothub-send-tel.py)</a:t>
            </a:r>
            <a:r>
              <a:rPr lang="ja-JP" altLang="en-US"/>
              <a:t>）</a:t>
            </a:r>
          </a:p>
          <a:p>
            <a:endParaRPr lang="ja-JP" altLang="en-US"/>
          </a:p>
          <a:p>
            <a:r>
              <a:rPr lang="ja-JP" altLang="en-US"/>
              <a:t>**本文の項目名・単位・意味はアプリ側で決める。</a:t>
            </a:r>
            <a:r>
              <a:rPr lang="en-US" altLang="ja-JP"/>
              <a:t>IoT Hub</a:t>
            </a:r>
            <a:r>
              <a:rPr lang="ja-JP" altLang="en-US"/>
              <a:t>への送信だけで分析が完了するわけではない。**（</a:t>
            </a:r>
            <a:r>
              <a:rPr lang="en-US" altLang="ja-JP"/>
              <a:t>[</a:t>
            </a:r>
            <a:r>
              <a:rPr lang="ja-JP" altLang="en-US"/>
              <a:t>メッセージの構造</a:t>
            </a:r>
            <a:r>
              <a:rPr lang="en-US" altLang="ja-JP"/>
              <a:t>](https://learn.microsoft.com/ja-jp/azure/iot-hub/iot-hub-devguide-messages-construct)</a:t>
            </a:r>
            <a:r>
              <a:rPr lang="ja-JP" altLang="en-US"/>
              <a:t>、</a:t>
            </a:r>
            <a:r>
              <a:rPr lang="en-US" altLang="ja-JP"/>
              <a:t>[IoT Hub </a:t>
            </a:r>
            <a:r>
              <a:rPr lang="ja-JP" altLang="en-US"/>
              <a:t>の役割</a:t>
            </a:r>
            <a:r>
              <a:rPr lang="en-US" altLang="ja-JP"/>
              <a:t>](https://learn.microsoft.com/ja-jp/azure/iot-hub/iot-concepts-and-iot-hub)</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左に</a:t>
            </a:r>
            <a:r>
              <a:rPr lang="en-US" altLang="ja-JP"/>
              <a:t>JSON</a:t>
            </a:r>
            <a:r>
              <a:rPr lang="ja-JP" altLang="en-US"/>
              <a:t>を大きく配置し、</a:t>
            </a:r>
            <a:r>
              <a:rPr lang="en-US" altLang="ja-JP"/>
              <a:t>`temperature` </a:t>
            </a:r>
            <a:r>
              <a:rPr lang="ja-JP" altLang="en-US"/>
              <a:t>と </a:t>
            </a:r>
            <a:r>
              <a:rPr lang="en-US" altLang="ja-JP"/>
              <a:t>`humidity` </a:t>
            </a:r>
            <a:r>
              <a:rPr lang="ja-JP" altLang="en-US"/>
              <a:t>に単位の注記を付ける。単位は説明例の約束であり、</a:t>
            </a:r>
            <a:r>
              <a:rPr lang="en-US" altLang="ja-JP"/>
              <a:t>IoT Hub</a:t>
            </a:r>
            <a:r>
              <a:rPr lang="ja-JP" altLang="en-US"/>
              <a:t>による自動判定ではない。</a:t>
            </a:r>
          </a:p>
          <a:p>
            <a:r>
              <a:rPr lang="en-US" altLang="ja-JP"/>
              <a:t>- </a:t>
            </a:r>
            <a:r>
              <a:rPr lang="ja-JP" altLang="en-US"/>
              <a:t>右に「値を生成 → メッセージ化 → </a:t>
            </a:r>
            <a:r>
              <a:rPr lang="en-US" altLang="ja-JP"/>
              <a:t>SDK</a:t>
            </a:r>
            <a:r>
              <a:rPr lang="ja-JP" altLang="en-US"/>
              <a:t>で送信」を置く。</a:t>
            </a:r>
            <a:r>
              <a:rPr lang="en-US" altLang="ja-JP"/>
              <a:t>IoT Hub</a:t>
            </a:r>
            <a:r>
              <a:rPr lang="ja-JP" altLang="en-US"/>
              <a:t>が温度を生成する図にはしない。</a:t>
            </a:r>
          </a:p>
          <a:p>
            <a:r>
              <a:rPr lang="en-US" altLang="ja-JP"/>
              <a:t>- </a:t>
            </a:r>
            <a:r>
              <a:rPr lang="ja-JP" altLang="en-US"/>
              <a:t>下部に「既存デモ</a:t>
            </a:r>
            <a:r>
              <a:rPr lang="en-US" altLang="ja-JP"/>
              <a:t>: </a:t>
            </a:r>
            <a:r>
              <a:rPr lang="ja-JP" altLang="en-US"/>
              <a:t>接続 → </a:t>
            </a:r>
            <a:r>
              <a:rPr lang="en-US" altLang="ja-JP"/>
              <a:t>start → </a:t>
            </a:r>
            <a:r>
              <a:rPr lang="ja-JP" altLang="en-US"/>
              <a:t>送信」と表示する。</a:t>
            </a:r>
            <a:r>
              <a:rPr lang="en-US" altLang="ja-JP"/>
              <a:t>Direct Method</a:t>
            </a:r>
            <a:r>
              <a:rPr lang="ja-JP" altLang="en-US"/>
              <a:t>の手順や応答仕様はここでは示さない。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`start` </a:t>
            </a:r>
            <a:r>
              <a:rPr lang="ja-JP" altLang="en-US"/>
              <a:t>は第</a:t>
            </a:r>
            <a:r>
              <a:rPr lang="en-US" altLang="ja-JP"/>
              <a:t>4</a:t>
            </a:r>
            <a:r>
              <a:rPr lang="ja-JP" altLang="en-US"/>
              <a:t>章で説明する操作名であり、このページでは「送信開始の指示」とだけ伝える。</a:t>
            </a:r>
          </a:p>
          <a:p>
            <a:r>
              <a:rPr lang="en-US" altLang="ja-JP"/>
              <a:t>- </a:t>
            </a:r>
            <a:r>
              <a:rPr lang="ja-JP" altLang="en-US"/>
              <a:t>実装の </a:t>
            </a:r>
            <a:r>
              <a:rPr lang="en-US" altLang="ja-JP"/>
              <a:t>`send_telemetry()` </a:t>
            </a:r>
            <a:r>
              <a:rPr lang="ja-JP" altLang="en-US"/>
              <a:t>は温度</a:t>
            </a:r>
            <a:r>
              <a:rPr lang="en-US" altLang="ja-JP"/>
              <a:t>20〜30</a:t>
            </a:r>
            <a:r>
              <a:rPr lang="ja-JP" altLang="en-US"/>
              <a:t>、湿度</a:t>
            </a:r>
            <a:r>
              <a:rPr lang="en-US" altLang="ja-JP"/>
              <a:t>30〜60</a:t>
            </a:r>
            <a:r>
              <a:rPr lang="ja-JP" altLang="en-US"/>
              <a:t>の範囲の乱数を生成する。表示の整数値は説明用であり、実際の出力は小数を含む（</a:t>
            </a:r>
            <a:r>
              <a:rPr lang="en-US" altLang="ja-JP"/>
              <a:t>[</a:t>
            </a:r>
            <a:r>
              <a:rPr lang="ja-JP" altLang="en-US"/>
              <a:t>デモ実装</a:t>
            </a:r>
            <a:r>
              <a:rPr lang="en-US" altLang="ja-JP"/>
              <a:t>](../../../demo/01_iothub-send-tel.py)</a:t>
            </a:r>
            <a:r>
              <a:rPr lang="ja-JP" altLang="en-US"/>
              <a:t>）。</a:t>
            </a:r>
          </a:p>
          <a:p>
            <a:r>
              <a:rPr lang="en-US" altLang="ja-JP"/>
              <a:t>- </a:t>
            </a:r>
            <a:r>
              <a:rPr lang="ja-JP" altLang="en-US"/>
              <a:t>実装は本文とは別に </a:t>
            </a:r>
            <a:r>
              <a:rPr lang="en-US" altLang="ja-JP"/>
              <a:t>`content_type` </a:t>
            </a:r>
            <a:r>
              <a:rPr lang="ja-JP" altLang="en-US"/>
              <a:t>と </a:t>
            </a:r>
            <a:r>
              <a:rPr lang="en-US" altLang="ja-JP"/>
              <a:t>`content_encoding` </a:t>
            </a:r>
            <a:r>
              <a:rPr lang="ja-JP" altLang="en-US"/>
              <a:t>を設定している。ルーティングに関わる詳しい設定は第</a:t>
            </a:r>
            <a:r>
              <a:rPr lang="en-US" altLang="ja-JP"/>
              <a:t>5</a:t>
            </a:r>
            <a:r>
              <a:rPr lang="ja-JP" altLang="en-US"/>
              <a:t>章へ回す。</a:t>
            </a:r>
          </a:p>
          <a:p>
            <a:r>
              <a:rPr lang="en-US" altLang="ja-JP"/>
              <a:t>- </a:t>
            </a:r>
            <a:r>
              <a:rPr lang="ja-JP" altLang="en-US"/>
              <a:t>デバイスは常時つながっているとは限らない。本番では切断中のデータや再送を考える必要があり、第</a:t>
            </a:r>
            <a:r>
              <a:rPr lang="en-US" altLang="ja-JP"/>
              <a:t>7</a:t>
            </a:r>
            <a:r>
              <a:rPr lang="ja-JP" altLang="en-US"/>
              <a:t>章で扱う（</a:t>
            </a:r>
            <a:r>
              <a:rPr lang="en-US" altLang="ja-JP"/>
              <a:t>[IoT </a:t>
            </a:r>
            <a:r>
              <a:rPr lang="ja-JP" altLang="en-US"/>
              <a:t>デバイスの特性</a:t>
            </a:r>
            <a:r>
              <a:rPr lang="en-US" altLang="ja-JP"/>
              <a:t>](https://learn.microsoft.com/ja-jp/azure/iot-hub/iot-concepts-and-iot-hub#understand-iot-devices)</a:t>
            </a:r>
            <a:r>
              <a:rPr lang="ja-JP" altLang="en-US"/>
              <a:t>）。</a:t>
            </a:r>
          </a:p>
          <a:p>
            <a:r>
              <a:rPr lang="en-US" altLang="ja-JP"/>
              <a:t>- </a:t>
            </a:r>
            <a:r>
              <a:rPr lang="ja-JP" altLang="en-US"/>
              <a:t>次への接続</a:t>
            </a:r>
            <a:r>
              <a:rPr lang="en-US" altLang="ja-JP"/>
              <a:t>: </a:t>
            </a:r>
            <a:r>
              <a:rPr lang="ja-JP" altLang="en-US"/>
              <a:t>「送信先は</a:t>
            </a:r>
            <a:r>
              <a:rPr lang="en-US" altLang="ja-JP"/>
              <a:t>IoT Hub</a:t>
            </a:r>
            <a:r>
              <a:rPr lang="ja-JP" altLang="en-US"/>
              <a:t>です。受信アプリはそのどこからデータを読むのでしょうか」。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03-08 D2C </a:t>
            </a:r>
            <a:r>
              <a:rPr lang="ja-JP" altLang="en-US"/>
              <a:t>を読む組み込みエンドポイント</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en-US" altLang="ja-JP"/>
              <a:t>IoT Hub</a:t>
            </a:r>
            <a:r>
              <a:rPr lang="ja-JP" altLang="en-US"/>
              <a:t>と受信ツールの間にある読み取り口を可視化する。別の</a:t>
            </a:r>
            <a:r>
              <a:rPr lang="en-US" altLang="ja-JP"/>
              <a:t>Event Hubs</a:t>
            </a:r>
            <a:r>
              <a:rPr lang="ja-JP" altLang="en-US"/>
              <a:t>リソースを必ず作るという誤解を防ぐ。</a:t>
            </a:r>
          </a:p>
          <a:p>
            <a:endParaRPr lang="ja-JP" altLang="en-US"/>
          </a:p>
          <a:p>
            <a:r>
              <a:rPr lang="en-US" altLang="ja-JP"/>
              <a:t>### </a:t>
            </a:r>
            <a:r>
              <a:rPr lang="ja-JP" altLang="en-US"/>
              <a:t>投影本文</a:t>
            </a:r>
          </a:p>
          <a:p>
            <a:endParaRPr lang="ja-JP" altLang="en-US"/>
          </a:p>
          <a:p>
            <a:r>
              <a:rPr lang="ja-JP" altLang="en-US"/>
              <a:t>**受信アプリは、</a:t>
            </a:r>
            <a:r>
              <a:rPr lang="en-US" altLang="ja-JP"/>
              <a:t>IoT Hub</a:t>
            </a:r>
            <a:r>
              <a:rPr lang="ja-JP" altLang="en-US"/>
              <a:t>に用意された</a:t>
            </a:r>
            <a:r>
              <a:rPr lang="en-US" altLang="ja-JP"/>
              <a:t>D2C</a:t>
            </a:r>
            <a:r>
              <a:rPr lang="ja-JP" altLang="en-US"/>
              <a:t>の読み取り口を使える。**</a:t>
            </a:r>
          </a:p>
          <a:p>
            <a:endParaRPr lang="ja-JP" altLang="en-US"/>
          </a:p>
          <a:p>
            <a:r>
              <a:rPr lang="en-US" altLang="ja-JP"/>
              <a:t>- </a:t>
            </a:r>
            <a:r>
              <a:rPr lang="ja-JP" altLang="en-US"/>
              <a:t>組み込みエンドポイント </a:t>
            </a:r>
            <a:r>
              <a:rPr lang="en-US" altLang="ja-JP"/>
              <a:t>`messages/events` </a:t>
            </a:r>
            <a:r>
              <a:rPr lang="ja-JP" altLang="en-US"/>
              <a:t>は **</a:t>
            </a:r>
            <a:r>
              <a:rPr lang="en-US" altLang="ja-JP"/>
              <a:t>Event Hubs</a:t>
            </a:r>
            <a:r>
              <a:rPr lang="ja-JP" altLang="en-US"/>
              <a:t>互換**。対応する</a:t>
            </a:r>
            <a:r>
              <a:rPr lang="en-US" altLang="ja-JP"/>
              <a:t>SDK</a:t>
            </a:r>
            <a:r>
              <a:rPr lang="ja-JP" altLang="en-US"/>
              <a:t>で読み取れる。</a:t>
            </a:r>
          </a:p>
          <a:p>
            <a:r>
              <a:rPr lang="en-US" altLang="ja-JP"/>
              <a:t>- </a:t>
            </a:r>
            <a:r>
              <a:rPr lang="ja-JP" altLang="en-US"/>
              <a:t>この経路の利用に、別の</a:t>
            </a:r>
            <a:r>
              <a:rPr lang="en-US" altLang="ja-JP"/>
              <a:t>Event Hubs</a:t>
            </a:r>
            <a:r>
              <a:rPr lang="ja-JP" altLang="en-US"/>
              <a:t>リソースの作成は不要。</a:t>
            </a:r>
          </a:p>
          <a:p>
            <a:r>
              <a:rPr lang="en-US" altLang="ja-JP"/>
              <a:t>- **</a:t>
            </a:r>
            <a:r>
              <a:rPr lang="ja-JP" altLang="en-US"/>
              <a:t>ここではルート未追加で、既定の組み込み宛て配送を有効にした構成を前提にする。** 配送設定を変更した場合の条件は第</a:t>
            </a:r>
            <a:r>
              <a:rPr lang="en-US" altLang="ja-JP"/>
              <a:t>5</a:t>
            </a:r>
            <a:r>
              <a:rPr lang="ja-JP" altLang="en-US"/>
              <a:t>章で扱う。</a:t>
            </a:r>
          </a:p>
          <a:p>
            <a:endParaRPr lang="ja-JP" altLang="en-US"/>
          </a:p>
          <a:p>
            <a:r>
              <a:rPr lang="ja-JP" altLang="en-US"/>
              <a:t>組み込みエンドポイントは期限付きでメッセージを保持する読み取り口であり、長期保存用の</a:t>
            </a:r>
            <a:r>
              <a:rPr lang="en-US" altLang="ja-JP"/>
              <a:t>DB</a:t>
            </a:r>
            <a:r>
              <a:rPr lang="ja-JP" altLang="en-US"/>
              <a:t>ではない（</a:t>
            </a:r>
            <a:r>
              <a:rPr lang="en-US" altLang="ja-JP"/>
              <a:t>[</a:t>
            </a:r>
            <a:r>
              <a:rPr lang="ja-JP" altLang="en-US"/>
              <a:t>組み込みエンドポイントの読み取り・配送・保持</a:t>
            </a:r>
            <a:r>
              <a:rPr lang="en-US" altLang="ja-JP"/>
              <a:t>](https://learn.microsoft.com/ja-jp/azure/iot-hub/iot-hub-devguide-messages-read-builtin)</a:t>
            </a:r>
            <a:r>
              <a:rPr lang="ja-JP" altLang="en-US"/>
              <a:t>）。</a:t>
            </a:r>
          </a:p>
          <a:p>
            <a:endParaRPr lang="ja-JP" altLang="en-US"/>
          </a:p>
          <a:p>
            <a:r>
              <a:rPr lang="ja-JP" altLang="en-US"/>
              <a:t>**この読み取り口は共有アクセスキー方式で接続する。サービス</a:t>
            </a:r>
            <a:r>
              <a:rPr lang="en-US" altLang="ja-JP"/>
              <a:t>API</a:t>
            </a:r>
            <a:r>
              <a:rPr lang="ja-JP" altLang="en-US"/>
              <a:t>の</a:t>
            </a:r>
            <a:r>
              <a:rPr lang="en-US" altLang="ja-JP"/>
              <a:t>Entra ID</a:t>
            </a:r>
            <a:r>
              <a:rPr lang="ja-JP" altLang="en-US"/>
              <a:t>認証とは別。デバイス用の接続文字列は使わない。**（</a:t>
            </a:r>
            <a:r>
              <a:rPr lang="en-US" altLang="ja-JP"/>
              <a:t>[</a:t>
            </a:r>
            <a:r>
              <a:rPr lang="ja-JP" altLang="en-US"/>
              <a:t>組み込みエンドポイントの認証制約</a:t>
            </a:r>
            <a:r>
              <a:rPr lang="en-US" altLang="ja-JP"/>
              <a:t>](https://learn.microsoft.com/ja-jp/azure/iot-hub/authenticate-authorize-azure-ad#iot-hub-service-api-permissions)</a:t>
            </a:r>
            <a:r>
              <a:rPr lang="ja-JP" altLang="en-US"/>
              <a:t>、</a:t>
            </a:r>
            <a:r>
              <a:rPr lang="en-US" altLang="ja-JP"/>
              <a:t>[</a:t>
            </a:r>
            <a:r>
              <a:rPr lang="ja-JP" altLang="en-US"/>
              <a:t>接続に必要な情報と権限</a:t>
            </a:r>
            <a:r>
              <a:rPr lang="en-US" altLang="ja-JP"/>
              <a:t>](https://learn.microsoft.com/ja-jp/azure/iot-hub/iot-hub-devguide-messages-read-builtin#connect-to-the-built-in-endpoint)</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左にデバイス、中央に大きな</a:t>
            </a:r>
            <a:r>
              <a:rPr lang="en-US" altLang="ja-JP"/>
              <a:t>IoT Hub</a:t>
            </a:r>
            <a:r>
              <a:rPr lang="ja-JP" altLang="en-US"/>
              <a:t>の枠、右に受信アプリ・ツールを配置する。</a:t>
            </a:r>
          </a:p>
          <a:p>
            <a:r>
              <a:rPr lang="en-US" altLang="ja-JP"/>
              <a:t>- Hub</a:t>
            </a:r>
            <a:r>
              <a:rPr lang="ja-JP" altLang="en-US"/>
              <a:t>の枠内に「組み込みエンドポイント </a:t>
            </a:r>
            <a:r>
              <a:rPr lang="en-US" altLang="ja-JP"/>
              <a:t>messages/events</a:t>
            </a:r>
            <a:r>
              <a:rPr lang="ja-JP" altLang="en-US"/>
              <a:t>」を置く。デバイスの送信先に </a:t>
            </a:r>
            <a:r>
              <a:rPr lang="en-US" altLang="ja-JP"/>
              <a:t>`messages/events` </a:t>
            </a:r>
            <a:r>
              <a:rPr lang="ja-JP" altLang="en-US"/>
              <a:t>を直接指定する図にはしない。</a:t>
            </a:r>
          </a:p>
          <a:p>
            <a:r>
              <a:rPr lang="en-US" altLang="ja-JP"/>
              <a:t>- </a:t>
            </a:r>
            <a:r>
              <a:rPr lang="ja-JP" altLang="en-US"/>
              <a:t>データの矢印は「デバイス → </a:t>
            </a:r>
            <a:r>
              <a:rPr lang="en-US" altLang="ja-JP"/>
              <a:t>Hub → </a:t>
            </a:r>
            <a:r>
              <a:rPr lang="ja-JP" altLang="en-US"/>
              <a:t>組み込みエンドポイント → 受信アプリ」。最後の矢印に「</a:t>
            </a:r>
            <a:r>
              <a:rPr lang="en-US" altLang="ja-JP"/>
              <a:t>Event Hubs</a:t>
            </a:r>
            <a:r>
              <a:rPr lang="ja-JP" altLang="en-US"/>
              <a:t>互換の経路で読み取り」と明記する。</a:t>
            </a:r>
          </a:p>
          <a:p>
            <a:r>
              <a:rPr lang="en-US" altLang="ja-JP"/>
              <a:t>- </a:t>
            </a:r>
            <a:r>
              <a:rPr lang="ja-JP" altLang="en-US"/>
              <a:t>図上部に前提「ルート未追加・既定の配送が有効」、図下部に「</a:t>
            </a:r>
            <a:r>
              <a:rPr lang="en-US" altLang="ja-JP"/>
              <a:t>Event Hubs</a:t>
            </a:r>
            <a:r>
              <a:rPr lang="ja-JP" altLang="en-US"/>
              <a:t>リソースの追加は不要」。</a:t>
            </a:r>
            <a:r>
              <a:rPr lang="en-US" altLang="ja-JP"/>
              <a:t>SDK</a:t>
            </a:r>
            <a:r>
              <a:rPr lang="ja-JP" altLang="en-US"/>
              <a:t>名を独立したクラウドサービスの箱で描かない。</a:t>
            </a:r>
          </a:p>
          <a:p>
            <a:r>
              <a:rPr lang="en-US" altLang="ja-JP"/>
              <a:t>- </a:t>
            </a:r>
            <a:r>
              <a:rPr lang="ja-JP" altLang="en-US"/>
              <a:t>受信アプリの下に「読み取り権限を持つ共有アクセスポリシーの資格情報」と置く。デバイス側のキーとは別に描く。</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30</a:t>
            </a:r>
            <a:r>
              <a:rPr lang="ja-JP" altLang="en-US"/>
              <a:t>秒。エンドポイントとは、アプリが通信機能を使うための接続口。追加の</a:t>
            </a:r>
            <a:r>
              <a:rPr lang="en-US" altLang="ja-JP"/>
              <a:t>1</a:t>
            </a:r>
            <a:r>
              <a:rPr lang="ja-JP" altLang="en-US"/>
              <a:t>分で、図の読み取り経路を追い、受信側の資格情報と</a:t>
            </a:r>
            <a:r>
              <a:rPr lang="en-US" altLang="ja-JP"/>
              <a:t>03-04</a:t>
            </a:r>
            <a:r>
              <a:rPr lang="ja-JP" altLang="en-US"/>
              <a:t>のサービス</a:t>
            </a:r>
            <a:r>
              <a:rPr lang="en-US" altLang="ja-JP"/>
              <a:t>API</a:t>
            </a:r>
            <a:r>
              <a:rPr lang="ja-JP" altLang="en-US"/>
              <a:t>認証の違いを確認する。</a:t>
            </a:r>
          </a:p>
          <a:p>
            <a:r>
              <a:rPr lang="en-US" altLang="ja-JP"/>
              <a:t>- `messages/events` </a:t>
            </a:r>
            <a:r>
              <a:rPr lang="ja-JP" altLang="en-US"/>
              <a:t>は組み込みエンドポイントの名前・パス。受信設定に必要な接続先情報をこの文字列だけで代替できるとは説明しない。</a:t>
            </a:r>
          </a:p>
          <a:p>
            <a:r>
              <a:rPr lang="en-US" altLang="ja-JP"/>
              <a:t>- </a:t>
            </a:r>
            <a:r>
              <a:rPr lang="ja-JP" altLang="en-US"/>
              <a:t>読み取りには </a:t>
            </a:r>
            <a:r>
              <a:rPr lang="en-US" altLang="ja-JP"/>
              <a:t>`ServiceConnect` </a:t>
            </a:r>
            <a:r>
              <a:rPr lang="ja-JP" altLang="en-US"/>
              <a:t>を持つ共有アクセスポリシーを使う。デバイス用接続文字列や、</a:t>
            </a:r>
            <a:r>
              <a:rPr lang="en-US" altLang="ja-JP"/>
              <a:t>Entra ID</a:t>
            </a:r>
            <a:r>
              <a:rPr lang="ja-JP" altLang="en-US"/>
              <a:t>のロール割り当てだけではこの接続を代替できない。資格情報の形式は</a:t>
            </a:r>
            <a:r>
              <a:rPr lang="en-US" altLang="ja-JP"/>
              <a:t>SDK</a:t>
            </a:r>
            <a:r>
              <a:rPr lang="ja-JP" altLang="en-US"/>
              <a:t>・ツールに合わせ、第</a:t>
            </a:r>
            <a:r>
              <a:rPr lang="en-US" altLang="ja-JP"/>
              <a:t>6</a:t>
            </a:r>
            <a:r>
              <a:rPr lang="ja-JP" altLang="en-US"/>
              <a:t>章で実接続を確認する（</a:t>
            </a:r>
            <a:r>
              <a:rPr lang="en-US" altLang="ja-JP"/>
              <a:t>[</a:t>
            </a:r>
            <a:r>
              <a:rPr lang="ja-JP" altLang="en-US"/>
              <a:t>組み込みエンドポイントへの接続</a:t>
            </a:r>
            <a:r>
              <a:rPr lang="en-US" altLang="ja-JP"/>
              <a:t>](https://learn.microsoft.com/ja-jp/azure/iot-hub/iot-hub-devguide-messages-read-builtin#connect-to-the-built-in-endpoint)</a:t>
            </a:r>
            <a:r>
              <a:rPr lang="ja-JP" altLang="en-US"/>
              <a:t>）。</a:t>
            </a:r>
          </a:p>
          <a:p>
            <a:r>
              <a:rPr lang="en-US" altLang="ja-JP"/>
              <a:t>- </a:t>
            </a:r>
            <a:r>
              <a:rPr lang="ja-JP" altLang="en-US"/>
              <a:t>パーティション、コンシューマーグループ、保持日数、チェックポイント、フォールバック条件は第</a:t>
            </a:r>
            <a:r>
              <a:rPr lang="en-US" altLang="ja-JP"/>
              <a:t>5</a:t>
            </a:r>
            <a:r>
              <a:rPr lang="ja-JP" altLang="en-US"/>
              <a:t>章の担当。</a:t>
            </a:r>
          </a:p>
          <a:p>
            <a:r>
              <a:rPr lang="en-US" altLang="ja-JP"/>
              <a:t>- </a:t>
            </a:r>
            <a:r>
              <a:rPr lang="ja-JP" altLang="en-US"/>
              <a:t>制作前提はフォールバックルートも有効のままにした初期構成。ルート未追加でも配送設定を無効にした構成に一般化しない。第</a:t>
            </a:r>
            <a:r>
              <a:rPr lang="en-US" altLang="ja-JP"/>
              <a:t>5</a:t>
            </a:r>
            <a:r>
              <a:rPr lang="ja-JP" altLang="en-US"/>
              <a:t>章の「必要な配送先を通常ルートで明示する」方針とは、対象とする構成段階が異なる（</a:t>
            </a:r>
            <a:r>
              <a:rPr lang="en-US" altLang="ja-JP"/>
              <a:t>[</a:t>
            </a:r>
            <a:r>
              <a:rPr lang="ja-JP" altLang="en-US"/>
              <a:t>既定の配送とフォールバック</a:t>
            </a:r>
            <a:r>
              <a:rPr lang="en-US" altLang="ja-JP"/>
              <a:t>](https://learn.microsoft.com/ja-jp/azure/iot-hub/iot-hub-devguide-messages-read-builtin)</a:t>
            </a:r>
            <a:r>
              <a:rPr lang="ja-JP" altLang="en-US"/>
              <a:t>）。</a:t>
            </a:r>
          </a:p>
          <a:p>
            <a:r>
              <a:rPr lang="en-US" altLang="ja-JP"/>
              <a:t>- </a:t>
            </a:r>
            <a:r>
              <a:rPr lang="ja-JP" altLang="en-US"/>
              <a:t>次への接続</a:t>
            </a:r>
            <a:r>
              <a:rPr lang="en-US" altLang="ja-JP"/>
              <a:t>: </a:t>
            </a:r>
            <a:r>
              <a:rPr lang="ja-JP" altLang="en-US"/>
              <a:t>「次に、送ったものと読み取ったものを並べて確認します」。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03-09 </a:t>
            </a:r>
            <a:r>
              <a:rPr lang="ja-JP" altLang="en-US"/>
              <a:t>送信ログと受信データの照合</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送信処理の成功、受信確認、業務処理完了という</a:t>
            </a:r>
            <a:r>
              <a:rPr lang="en-US" altLang="ja-JP"/>
              <a:t>3</a:t>
            </a:r>
            <a:r>
              <a:rPr lang="ja-JP" altLang="en-US"/>
              <a:t>つの観測範囲を分ける。受信画面が空でも原因を一つに決め付けない姿勢を作る。</a:t>
            </a:r>
          </a:p>
          <a:p>
            <a:endParaRPr lang="ja-JP" altLang="en-US"/>
          </a:p>
          <a:p>
            <a:r>
              <a:rPr lang="en-US" altLang="ja-JP"/>
              <a:t>### </a:t>
            </a:r>
            <a:r>
              <a:rPr lang="ja-JP" altLang="en-US"/>
              <a:t>投影本文</a:t>
            </a:r>
          </a:p>
          <a:p>
            <a:endParaRPr lang="ja-JP" altLang="en-US"/>
          </a:p>
          <a:p>
            <a:r>
              <a:rPr lang="ja-JP" altLang="en-US"/>
              <a:t>**送信側の成功ログと、受信側に現れた送信元・本文を対応させて確認する。**</a:t>
            </a:r>
          </a:p>
          <a:p>
            <a:endParaRPr lang="ja-JP" altLang="en-US"/>
          </a:p>
          <a:p>
            <a:r>
              <a:rPr lang="ja-JP" altLang="en-US"/>
              <a:t>送信側の表示例（説明用）</a:t>
            </a:r>
            <a:r>
              <a:rPr lang="en-US" altLang="ja-JP"/>
              <a:t>:</a:t>
            </a:r>
          </a:p>
          <a:p>
            <a:endParaRPr lang="en-US" altLang="ja-JP"/>
          </a:p>
          <a:p>
            <a:r>
              <a:rPr lang="en-US" altLang="ja-JP"/>
              <a:t>```text</a:t>
            </a:r>
          </a:p>
          <a:p>
            <a:r>
              <a:rPr lang="en-US" altLang="ja-JP"/>
              <a:t>Device connected to IoT Hub.</a:t>
            </a:r>
          </a:p>
          <a:p>
            <a:r>
              <a:rPr lang="en-US" altLang="ja-JP"/>
              <a:t>Sent telemetry: {'temperature': 25, 'humidity': 45}</a:t>
            </a:r>
          </a:p>
          <a:p>
            <a:r>
              <a:rPr lang="en-US" altLang="ja-JP"/>
              <a:t>```</a:t>
            </a:r>
          </a:p>
          <a:p>
            <a:endParaRPr lang="en-US" altLang="ja-JP"/>
          </a:p>
          <a:p>
            <a:r>
              <a:rPr lang="ja-JP" altLang="en-US"/>
              <a:t>受信側で見る項目（ツール固有の出力形式ではなく、説明用に整形）</a:t>
            </a:r>
            <a:r>
              <a:rPr lang="en-US" altLang="ja-JP"/>
              <a:t>:</a:t>
            </a:r>
          </a:p>
          <a:p>
            <a:endParaRPr lang="en-US" altLang="ja-JP"/>
          </a:p>
          <a:p>
            <a:r>
              <a:rPr lang="en-US" altLang="ja-JP"/>
              <a:t>| </a:t>
            </a:r>
            <a:r>
              <a:rPr lang="ja-JP" altLang="en-US"/>
              <a:t>確認項目 </a:t>
            </a:r>
            <a:r>
              <a:rPr lang="en-US" altLang="ja-JP"/>
              <a:t>| </a:t>
            </a:r>
            <a:r>
              <a:rPr lang="ja-JP" altLang="en-US"/>
              <a:t>表示例 </a:t>
            </a:r>
            <a:r>
              <a:rPr lang="en-US" altLang="ja-JP"/>
              <a:t>|</a:t>
            </a:r>
          </a:p>
          <a:p>
            <a:r>
              <a:rPr lang="en-US" altLang="ja-JP"/>
              <a:t>| --- | --- |</a:t>
            </a:r>
          </a:p>
          <a:p>
            <a:r>
              <a:rPr lang="en-US" altLang="ja-JP"/>
              <a:t>| </a:t>
            </a:r>
            <a:r>
              <a:rPr lang="ja-JP" altLang="en-US"/>
              <a:t>送信元デバイスのメタデータ </a:t>
            </a:r>
            <a:r>
              <a:rPr lang="en-US" altLang="ja-JP"/>
              <a:t>| `temp-sensor-01` |</a:t>
            </a:r>
          </a:p>
          <a:p>
            <a:r>
              <a:rPr lang="en-US" altLang="ja-JP"/>
              <a:t>| </a:t>
            </a:r>
            <a:r>
              <a:rPr lang="ja-JP" altLang="en-US"/>
              <a:t>メッセージ本文 </a:t>
            </a:r>
            <a:r>
              <a:rPr lang="en-US" altLang="ja-JP"/>
              <a:t>| `{"temperature":25,"humidity":45}` |</a:t>
            </a:r>
          </a:p>
          <a:p>
            <a:endParaRPr lang="en-US" altLang="ja-JP"/>
          </a:p>
          <a:p>
            <a:r>
              <a:rPr lang="en-US" altLang="ja-JP"/>
              <a:t>**</a:t>
            </a:r>
            <a:r>
              <a:rPr lang="ja-JP" altLang="en-US"/>
              <a:t>送信元デバイスの情報と、アプリが作った</a:t>
            </a:r>
            <a:r>
              <a:rPr lang="en-US" altLang="ja-JP"/>
              <a:t>JSON</a:t>
            </a:r>
            <a:r>
              <a:rPr lang="ja-JP" altLang="en-US"/>
              <a:t>本文は別の情報。** </a:t>
            </a:r>
            <a:r>
              <a:rPr lang="en-US" altLang="ja-JP"/>
              <a:t>IoT Hub</a:t>
            </a:r>
            <a:r>
              <a:rPr lang="ja-JP" altLang="en-US"/>
              <a:t>が付ける送信元</a:t>
            </a:r>
            <a:r>
              <a:rPr lang="en-US" altLang="ja-JP"/>
              <a:t>ID</a:t>
            </a:r>
            <a:r>
              <a:rPr lang="ja-JP" altLang="en-US"/>
              <a:t>を含むシステムプロパティと本文を区別する（</a:t>
            </a:r>
            <a:r>
              <a:rPr lang="en-US" altLang="ja-JP"/>
              <a:t>[</a:t>
            </a:r>
            <a:r>
              <a:rPr lang="ja-JP" altLang="en-US"/>
              <a:t>メッセージの構造とシステムプロパティ</a:t>
            </a:r>
            <a:r>
              <a:rPr lang="en-US" altLang="ja-JP"/>
              <a:t>](https://learn.microsoft.com/ja-jp/azure/iot-hub/iot-hub-devguide-messages-construct)</a:t>
            </a:r>
            <a:r>
              <a:rPr lang="ja-JP" altLang="en-US"/>
              <a:t>）。</a:t>
            </a:r>
          </a:p>
          <a:p>
            <a:endParaRPr lang="ja-JP" altLang="en-US"/>
          </a:p>
          <a:p>
            <a:r>
              <a:rPr lang="ja-JP" altLang="en-US"/>
              <a:t>**送信ログだけでは受信ツールでの確認や</a:t>
            </a:r>
            <a:r>
              <a:rPr lang="en-US" altLang="ja-JP"/>
              <a:t>DB</a:t>
            </a:r>
            <a:r>
              <a:rPr lang="ja-JP" altLang="en-US"/>
              <a:t>保存の完了は分からない。受信表示を確認しても、後続の業務処理完了は別に確認する。**（</a:t>
            </a:r>
            <a:r>
              <a:rPr lang="en-US" altLang="ja-JP"/>
              <a:t>[</a:t>
            </a:r>
            <a:r>
              <a:rPr lang="ja-JP" altLang="en-US"/>
              <a:t>既存実装のログ出力位置</a:t>
            </a:r>
            <a:r>
              <a:rPr lang="en-US" altLang="ja-JP"/>
              <a:t>](../../../demo/01_iothub-send-tel.py)</a:t>
            </a:r>
            <a:r>
              <a:rPr lang="ja-JP" altLang="en-US"/>
              <a:t>、</a:t>
            </a:r>
            <a:r>
              <a:rPr lang="en-US" altLang="ja-JP"/>
              <a:t>[</a:t>
            </a:r>
            <a:r>
              <a:rPr lang="ja-JP" altLang="en-US"/>
              <a:t>組み込みエンドポイントからの読み取り</a:t>
            </a:r>
            <a:r>
              <a:rPr lang="en-US" altLang="ja-JP"/>
              <a:t>](https://learn.microsoft.com/ja-jp/azure/iot-hub/iot-hub-devguide-messages-read-builtin)</a:t>
            </a:r>
            <a:r>
              <a:rPr lang="ja-JP" altLang="en-US"/>
              <a:t>）</a:t>
            </a:r>
          </a:p>
          <a:p>
            <a:endParaRPr lang="ja-JP" altLang="en-US"/>
          </a:p>
          <a:p>
            <a:r>
              <a:rPr lang="ja-JP" altLang="en-US"/>
              <a:t>この値の照合は説明用。**同じ値の繰り返しがあり得るため、</a:t>
            </a:r>
            <a:r>
              <a:rPr lang="en-US" altLang="ja-JP"/>
              <a:t>1</a:t>
            </a:r>
            <a:r>
              <a:rPr lang="ja-JP" altLang="en-US"/>
              <a:t>件を一意に識別した証明ではない。**</a:t>
            </a:r>
          </a:p>
          <a:p>
            <a:endParaRPr lang="ja-JP" altLang="en-US"/>
          </a:p>
          <a:p>
            <a:r>
              <a:rPr lang="en-US" altLang="ja-JP"/>
              <a:t>### </a:t>
            </a:r>
            <a:r>
              <a:rPr lang="ja-JP" altLang="en-US"/>
              <a:t>図の構成</a:t>
            </a:r>
          </a:p>
          <a:p>
            <a:endParaRPr lang="ja-JP" altLang="en-US"/>
          </a:p>
          <a:p>
            <a:r>
              <a:rPr lang="en-US" altLang="ja-JP"/>
              <a:t>- </a:t>
            </a:r>
            <a:r>
              <a:rPr lang="ja-JP" altLang="en-US"/>
              <a:t>左</a:t>
            </a:r>
            <a:r>
              <a:rPr lang="en-US" altLang="ja-JP"/>
              <a:t>45%</a:t>
            </a:r>
            <a:r>
              <a:rPr lang="ja-JP" altLang="en-US"/>
              <a:t>に送信ログ、右</a:t>
            </a:r>
            <a:r>
              <a:rPr lang="en-US" altLang="ja-JP"/>
              <a:t>45%</a:t>
            </a:r>
            <a:r>
              <a:rPr lang="ja-JP" altLang="en-US"/>
              <a:t>に受信表示の表。温度・湿度の値を細線で対応付け、送信元</a:t>
            </a:r>
            <a:r>
              <a:rPr lang="en-US" altLang="ja-JP"/>
              <a:t>ID</a:t>
            </a:r>
            <a:r>
              <a:rPr lang="ja-JP" altLang="en-US"/>
              <a:t>には別ラベルを付ける。</a:t>
            </a:r>
          </a:p>
          <a:p>
            <a:r>
              <a:rPr lang="en-US" altLang="ja-JP"/>
              <a:t>- </a:t>
            </a:r>
            <a:r>
              <a:rPr lang="ja-JP" altLang="en-US"/>
              <a:t>下部に「送信処理の成功 </a:t>
            </a:r>
            <a:r>
              <a:rPr lang="en-US" altLang="ja-JP"/>
              <a:t>/ </a:t>
            </a:r>
            <a:r>
              <a:rPr lang="ja-JP" altLang="en-US"/>
              <a:t>受信側で確認 </a:t>
            </a:r>
            <a:r>
              <a:rPr lang="en-US" altLang="ja-JP"/>
              <a:t>/ </a:t>
            </a:r>
            <a:r>
              <a:rPr lang="ja-JP" altLang="en-US"/>
              <a:t>保存・業務処理完了」を横並びに置き、最後には「この画面では未確認」と記す。</a:t>
            </a:r>
          </a:p>
          <a:p>
            <a:r>
              <a:rPr lang="en-US" altLang="ja-JP"/>
              <a:t>- </a:t>
            </a:r>
            <a:r>
              <a:rPr lang="ja-JP" altLang="en-US"/>
              <a:t>両側に「説明用」と常時表示する。実ツールのロゴやウィンドウ枠を使って実キャプチャに見せない。</a:t>
            </a:r>
          </a:p>
          <a:p>
            <a:r>
              <a:rPr lang="en-US" altLang="ja-JP"/>
              <a:t>- </a:t>
            </a:r>
            <a:r>
              <a:rPr lang="ja-JP" altLang="en-US"/>
              <a:t>送信ログの辞書表示は</a:t>
            </a:r>
            <a:r>
              <a:rPr lang="en-US" altLang="ja-JP"/>
              <a:t>JSON</a:t>
            </a:r>
            <a:r>
              <a:rPr lang="ja-JP" altLang="en-US"/>
              <a:t>ではない。受信本文と引用符が違っても値の対応が分かるようにする。</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3</a:t>
            </a:r>
            <a:r>
              <a:rPr lang="ja-JP" altLang="en-US"/>
              <a:t>分。説明</a:t>
            </a:r>
            <a:r>
              <a:rPr lang="en-US" altLang="ja-JP"/>
              <a:t>90</a:t>
            </a:r>
            <a:r>
              <a:rPr lang="ja-JP" altLang="en-US"/>
              <a:t>秒、照合の問い</a:t>
            </a:r>
            <a:r>
              <a:rPr lang="en-US" altLang="ja-JP"/>
              <a:t>45</a:t>
            </a:r>
            <a:r>
              <a:rPr lang="ja-JP" altLang="en-US"/>
              <a:t>秒、限界と切り分け</a:t>
            </a:r>
            <a:r>
              <a:rPr lang="en-US" altLang="ja-JP"/>
              <a:t>45</a:t>
            </a:r>
            <a:r>
              <a:rPr lang="ja-JP" altLang="en-US"/>
              <a:t>秒。</a:t>
            </a:r>
          </a:p>
          <a:p>
            <a:r>
              <a:rPr lang="en-US" altLang="ja-JP"/>
              <a:t>- </a:t>
            </a:r>
            <a:r>
              <a:rPr lang="ja-JP" altLang="en-US"/>
              <a:t>ログの</a:t>
            </a:r>
            <a:r>
              <a:rPr lang="en-US" altLang="ja-JP"/>
              <a:t>2</a:t>
            </a:r>
            <a:r>
              <a:rPr lang="ja-JP" altLang="en-US"/>
              <a:t>行の間には </a:t>
            </a:r>
            <a:r>
              <a:rPr lang="en-US" altLang="ja-JP"/>
              <a:t>`start` </a:t>
            </a:r>
            <a:r>
              <a:rPr lang="ja-JP" altLang="en-US"/>
              <a:t>の操作がある。実装はその操作自体をこの形式でログ出力しないため、架空の実ログを補わない（</a:t>
            </a:r>
            <a:r>
              <a:rPr lang="en-US" altLang="ja-JP"/>
              <a:t>[</a:t>
            </a:r>
            <a:r>
              <a:rPr lang="ja-JP" altLang="en-US"/>
              <a:t>デモ実装</a:t>
            </a:r>
            <a:r>
              <a:rPr lang="en-US" altLang="ja-JP"/>
              <a:t>](../../../demo/01_iothub-send-tel.py)</a:t>
            </a:r>
            <a:r>
              <a:rPr lang="ja-JP" altLang="en-US"/>
              <a:t>）。</a:t>
            </a:r>
          </a:p>
          <a:p>
            <a:r>
              <a:rPr lang="en-US" altLang="ja-JP"/>
              <a:t>- </a:t>
            </a:r>
            <a:r>
              <a:rPr lang="ja-JP" altLang="en-US"/>
              <a:t>受信ツールで対象</a:t>
            </a:r>
            <a:r>
              <a:rPr lang="en-US" altLang="ja-JP"/>
              <a:t>Hub</a:t>
            </a:r>
            <a:r>
              <a:rPr lang="ja-JP" altLang="en-US"/>
              <a:t>とデバイスの表示条件を確認してから、送信を開始した想定。実演時の具体的な画面・接続設定は第</a:t>
            </a:r>
            <a:r>
              <a:rPr lang="en-US" altLang="ja-JP"/>
              <a:t>6</a:t>
            </a:r>
            <a:r>
              <a:rPr lang="ja-JP" altLang="en-US"/>
              <a:t>章で確定する。</a:t>
            </a:r>
          </a:p>
          <a:p>
            <a:r>
              <a:rPr lang="en-US" altLang="ja-JP"/>
              <a:t>- </a:t>
            </a:r>
            <a:r>
              <a:rPr lang="ja-JP" altLang="en-US"/>
              <a:t>問いかけ</a:t>
            </a:r>
            <a:r>
              <a:rPr lang="en-US" altLang="ja-JP"/>
              <a:t>: </a:t>
            </a:r>
            <a:r>
              <a:rPr lang="ja-JP" altLang="en-US"/>
              <a:t>「温度</a:t>
            </a:r>
            <a:r>
              <a:rPr lang="en-US" altLang="ja-JP"/>
              <a:t>25</a:t>
            </a:r>
            <a:r>
              <a:rPr lang="ja-JP" altLang="en-US"/>
              <a:t>が見えたら</a:t>
            </a:r>
            <a:r>
              <a:rPr lang="en-US" altLang="ja-JP"/>
              <a:t>DB</a:t>
            </a:r>
            <a:r>
              <a:rPr lang="ja-JP" altLang="en-US"/>
              <a:t>保存も完了でしょうか」。想定回答</a:t>
            </a:r>
            <a:r>
              <a:rPr lang="en-US" altLang="ja-JP"/>
              <a:t>: </a:t>
            </a:r>
            <a:r>
              <a:rPr lang="ja-JP" altLang="en-US"/>
              <a:t>「いいえ。確認できたのは受信側でそのデータを読めたことまで」。</a:t>
            </a:r>
          </a:p>
          <a:p>
            <a:r>
              <a:rPr lang="en-US" altLang="ja-JP"/>
              <a:t>- </a:t>
            </a:r>
            <a:r>
              <a:rPr lang="ja-JP" altLang="en-US"/>
              <a:t>送信元・値・観測時刻の対応は、少数のデータを追う入門上の確認。同値の繰り返しや再送があるため、厳密な一意照合や重複排除の証明ではない。メッセージの識別と再送対策は第</a:t>
            </a:r>
            <a:r>
              <a:rPr lang="en-US" altLang="ja-JP"/>
              <a:t>7</a:t>
            </a:r>
            <a:r>
              <a:rPr lang="ja-JP" altLang="en-US"/>
              <a:t>章に回す（</a:t>
            </a:r>
            <a:r>
              <a:rPr lang="en-US" altLang="ja-JP"/>
              <a:t>[</a:t>
            </a:r>
            <a:r>
              <a:rPr lang="ja-JP" altLang="en-US"/>
              <a:t>メッセージのプロパティ</a:t>
            </a:r>
            <a:r>
              <a:rPr lang="en-US" altLang="ja-JP"/>
              <a:t>](https://learn.microsoft.com/ja-jp/azure/iot-hub/iot-hub-devguide-messages-construct)</a:t>
            </a:r>
            <a:r>
              <a:rPr lang="ja-JP" altLang="en-US"/>
              <a:t>）。</a:t>
            </a:r>
          </a:p>
          <a:p>
            <a:r>
              <a:rPr lang="en-US" altLang="ja-JP"/>
              <a:t>- </a:t>
            </a:r>
            <a:r>
              <a:rPr lang="ja-JP" altLang="en-US"/>
              <a:t>受信表示が空なら、未送信・送信開始前・読み取り設定・配送経路などを順に疑う。「</a:t>
            </a:r>
            <a:r>
              <a:rPr lang="en-US" altLang="ja-JP"/>
              <a:t>IoT Hub</a:t>
            </a:r>
            <a:r>
              <a:rPr lang="ja-JP" altLang="en-US"/>
              <a:t>が落ちている」と即断しない。</a:t>
            </a:r>
          </a:p>
          <a:p>
            <a:r>
              <a:rPr lang="en-US" altLang="ja-JP"/>
              <a:t>- </a:t>
            </a:r>
            <a:r>
              <a:rPr lang="ja-JP" altLang="en-US"/>
              <a:t>次への接続</a:t>
            </a:r>
            <a:r>
              <a:rPr lang="en-US" altLang="ja-JP"/>
              <a:t>: </a:t>
            </a:r>
            <a:r>
              <a:rPr lang="ja-JP" altLang="en-US"/>
              <a:t>「受信できた後に、センサーを操作したり履歴を保存したりする要求が加わります」。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03-10 </a:t>
            </a:r>
            <a:r>
              <a:rPr lang="ja-JP" altLang="en-US"/>
              <a:t>デバイス操作・設定変更・後続配送</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通信の方向と要求を広げる。詳細比較を先取りせず、第</a:t>
            </a:r>
            <a:r>
              <a:rPr lang="en-US" altLang="ja-JP"/>
              <a:t>4</a:t>
            </a:r>
            <a:r>
              <a:rPr lang="ja-JP" altLang="en-US"/>
              <a:t>・</a:t>
            </a:r>
            <a:r>
              <a:rPr lang="en-US" altLang="ja-JP"/>
              <a:t>5</a:t>
            </a:r>
            <a:r>
              <a:rPr lang="ja-JP" altLang="en-US"/>
              <a:t>章で解く問いを置く。</a:t>
            </a:r>
          </a:p>
          <a:p>
            <a:endParaRPr lang="ja-JP" altLang="en-US"/>
          </a:p>
          <a:p>
            <a:r>
              <a:rPr lang="en-US" altLang="ja-JP"/>
              <a:t>### </a:t>
            </a:r>
            <a:r>
              <a:rPr lang="ja-JP" altLang="en-US"/>
              <a:t>投影本文</a:t>
            </a:r>
          </a:p>
          <a:p>
            <a:endParaRPr lang="ja-JP" altLang="en-US"/>
          </a:p>
          <a:p>
            <a:r>
              <a:rPr lang="ja-JP" altLang="en-US"/>
              <a:t>**温度を集める</a:t>
            </a:r>
            <a:r>
              <a:rPr lang="en-US" altLang="ja-JP"/>
              <a:t>D2C</a:t>
            </a:r>
            <a:r>
              <a:rPr lang="ja-JP" altLang="en-US"/>
              <a:t>に加えて、操作・状態同期・後続配送の機能がある。**</a:t>
            </a:r>
          </a:p>
          <a:p>
            <a:endParaRPr lang="ja-JP" altLang="en-US"/>
          </a:p>
          <a:p>
            <a:r>
              <a:rPr lang="en-US" altLang="ja-JP"/>
              <a:t>| </a:t>
            </a:r>
            <a:r>
              <a:rPr lang="ja-JP" altLang="en-US"/>
              <a:t>追加したい要求 </a:t>
            </a:r>
            <a:r>
              <a:rPr lang="en-US" altLang="ja-JP"/>
              <a:t>| </a:t>
            </a:r>
            <a:r>
              <a:rPr lang="ja-JP" altLang="en-US"/>
              <a:t>使う機能 </a:t>
            </a:r>
            <a:r>
              <a:rPr lang="en-US" altLang="ja-JP"/>
              <a:t>| </a:t>
            </a:r>
            <a:r>
              <a:rPr lang="ja-JP" altLang="en-US"/>
              <a:t>詳細を扱う章 </a:t>
            </a:r>
            <a:r>
              <a:rPr lang="en-US" altLang="ja-JP"/>
              <a:t>|</a:t>
            </a:r>
          </a:p>
          <a:p>
            <a:r>
              <a:rPr lang="en-US" altLang="ja-JP"/>
              <a:t>| --- | --- | --- |</a:t>
            </a:r>
          </a:p>
          <a:p>
            <a:r>
              <a:rPr lang="en-US" altLang="ja-JP"/>
              <a:t>| </a:t>
            </a:r>
            <a:r>
              <a:rPr lang="ja-JP" altLang="en-US"/>
              <a:t>送信を開始・停止したい </a:t>
            </a:r>
            <a:r>
              <a:rPr lang="en-US" altLang="ja-JP"/>
              <a:t>| Direct Method: </a:t>
            </a:r>
            <a:r>
              <a:rPr lang="ja-JP" altLang="en-US"/>
              <a:t>デバイス上の処理を呼び出す </a:t>
            </a:r>
            <a:r>
              <a:rPr lang="en-US" altLang="ja-JP"/>
              <a:t>| </a:t>
            </a:r>
            <a:r>
              <a:rPr lang="ja-JP" altLang="en-US"/>
              <a:t>第</a:t>
            </a:r>
            <a:r>
              <a:rPr lang="en-US" altLang="ja-JP"/>
              <a:t>4</a:t>
            </a:r>
            <a:r>
              <a:rPr lang="ja-JP" altLang="en-US"/>
              <a:t>章 </a:t>
            </a:r>
            <a:r>
              <a:rPr lang="en-US" altLang="ja-JP"/>
              <a:t>|</a:t>
            </a:r>
          </a:p>
          <a:p>
            <a:r>
              <a:rPr lang="en-US" altLang="ja-JP"/>
              <a:t>| </a:t>
            </a:r>
            <a:r>
              <a:rPr lang="ja-JP" altLang="en-US"/>
              <a:t>送信間隔を変え、適用状態を知りたい </a:t>
            </a:r>
            <a:r>
              <a:rPr lang="en-US" altLang="ja-JP"/>
              <a:t>| Device Twin: </a:t>
            </a:r>
            <a:r>
              <a:rPr lang="ja-JP" altLang="en-US"/>
              <a:t>期待する設定と報告された状態を扱う </a:t>
            </a:r>
            <a:r>
              <a:rPr lang="en-US" altLang="ja-JP"/>
              <a:t>| </a:t>
            </a:r>
            <a:r>
              <a:rPr lang="ja-JP" altLang="en-US"/>
              <a:t>第</a:t>
            </a:r>
            <a:r>
              <a:rPr lang="en-US" altLang="ja-JP"/>
              <a:t>4</a:t>
            </a:r>
            <a:r>
              <a:rPr lang="ja-JP" altLang="en-US"/>
              <a:t>章 </a:t>
            </a:r>
            <a:r>
              <a:rPr lang="en-US" altLang="ja-JP"/>
              <a:t>|</a:t>
            </a:r>
          </a:p>
          <a:p>
            <a:r>
              <a:rPr lang="en-US" altLang="ja-JP"/>
              <a:t>| </a:t>
            </a:r>
            <a:r>
              <a:rPr lang="ja-JP" altLang="en-US"/>
              <a:t>デバイスへ通知・依頼を届けたい </a:t>
            </a:r>
            <a:r>
              <a:rPr lang="en-US" altLang="ja-JP"/>
              <a:t>| C2D</a:t>
            </a:r>
            <a:r>
              <a:rPr lang="ja-JP" altLang="en-US"/>
              <a:t>（</a:t>
            </a:r>
            <a:r>
              <a:rPr lang="en-US" altLang="ja-JP"/>
              <a:t>Cloud-to-Device</a:t>
            </a:r>
            <a:r>
              <a:rPr lang="ja-JP" altLang="en-US"/>
              <a:t>）メッセージ</a:t>
            </a:r>
            <a:r>
              <a:rPr lang="en-US" altLang="ja-JP"/>
              <a:t>: </a:t>
            </a:r>
            <a:r>
              <a:rPr lang="ja-JP" altLang="en-US"/>
              <a:t>クラウドからデバイスへ送る </a:t>
            </a:r>
            <a:r>
              <a:rPr lang="en-US" altLang="ja-JP"/>
              <a:t>| </a:t>
            </a:r>
            <a:r>
              <a:rPr lang="ja-JP" altLang="en-US"/>
              <a:t>第</a:t>
            </a:r>
            <a:r>
              <a:rPr lang="en-US" altLang="ja-JP"/>
              <a:t>4</a:t>
            </a:r>
            <a:r>
              <a:rPr lang="ja-JP" altLang="en-US"/>
              <a:t>章 </a:t>
            </a:r>
            <a:r>
              <a:rPr lang="en-US" altLang="ja-JP"/>
              <a:t>|</a:t>
            </a:r>
          </a:p>
          <a:p>
            <a:r>
              <a:rPr lang="en-US" altLang="ja-JP"/>
              <a:t>| </a:t>
            </a:r>
            <a:r>
              <a:rPr lang="ja-JP" altLang="en-US"/>
              <a:t>条件に応じて保存先へ渡したい </a:t>
            </a:r>
            <a:r>
              <a:rPr lang="en-US" altLang="ja-JP"/>
              <a:t>| </a:t>
            </a:r>
            <a:r>
              <a:rPr lang="ja-JP" altLang="en-US"/>
              <a:t>メッセージルーティング</a:t>
            </a:r>
            <a:r>
              <a:rPr lang="en-US" altLang="ja-JP"/>
              <a:t>: </a:t>
            </a:r>
            <a:r>
              <a:rPr lang="ja-JP" altLang="en-US"/>
              <a:t>後続の宛先へ配送する </a:t>
            </a:r>
            <a:r>
              <a:rPr lang="en-US" altLang="ja-JP"/>
              <a:t>| </a:t>
            </a:r>
            <a:r>
              <a:rPr lang="ja-JP" altLang="en-US"/>
              <a:t>第</a:t>
            </a:r>
            <a:r>
              <a:rPr lang="en-US" altLang="ja-JP"/>
              <a:t>5</a:t>
            </a:r>
            <a:r>
              <a:rPr lang="ja-JP" altLang="en-US"/>
              <a:t>章 </a:t>
            </a:r>
            <a:r>
              <a:rPr lang="en-US" altLang="ja-JP"/>
              <a:t>|</a:t>
            </a:r>
          </a:p>
          <a:p>
            <a:endParaRPr lang="en-US" altLang="ja-JP"/>
          </a:p>
          <a:p>
            <a:r>
              <a:rPr lang="ja-JP" altLang="en-US"/>
              <a:t>これらは</a:t>
            </a:r>
            <a:r>
              <a:rPr lang="en-US" altLang="ja-JP"/>
              <a:t>IoT Hub</a:t>
            </a:r>
            <a:r>
              <a:rPr lang="ja-JP" altLang="en-US"/>
              <a:t>の異なる機能。操作や設定の実際の適用処理はデバイスアプリ側に必要（</a:t>
            </a:r>
            <a:r>
              <a:rPr lang="en-US" altLang="ja-JP"/>
              <a:t>[IoT Hub </a:t>
            </a:r>
            <a:r>
              <a:rPr lang="ja-JP" altLang="en-US"/>
              <a:t>の機能</a:t>
            </a:r>
            <a:r>
              <a:rPr lang="en-US" altLang="ja-JP"/>
              <a:t>](https://learn.microsoft.com/ja-jp/azure/iot-hub/iot-concepts-and-iot-hub)</a:t>
            </a:r>
            <a:r>
              <a:rPr lang="ja-JP" altLang="en-US"/>
              <a:t>、</a:t>
            </a:r>
            <a:r>
              <a:rPr lang="en-US" altLang="ja-JP"/>
              <a:t>[SDK </a:t>
            </a:r>
            <a:r>
              <a:rPr lang="ja-JP" altLang="en-US"/>
              <a:t>の操作・状態同期</a:t>
            </a:r>
            <a:r>
              <a:rPr lang="en-US" altLang="ja-JP"/>
              <a:t>](https://learn.microsoft.com/ja-jp/azure/iot-hub/iot-hub-devguide-sdks)</a:t>
            </a:r>
            <a:r>
              <a:rPr lang="ja-JP" altLang="en-US"/>
              <a:t>）。</a:t>
            </a:r>
          </a:p>
          <a:p>
            <a:endParaRPr lang="ja-JP" altLang="en-US"/>
          </a:p>
          <a:p>
            <a:r>
              <a:rPr lang="en-US" altLang="ja-JP"/>
              <a:t>### </a:t>
            </a:r>
            <a:r>
              <a:rPr lang="ja-JP" altLang="en-US"/>
              <a:t>図の構成</a:t>
            </a:r>
          </a:p>
          <a:p>
            <a:endParaRPr lang="ja-JP" altLang="en-US"/>
          </a:p>
          <a:p>
            <a:r>
              <a:rPr lang="en-US" altLang="ja-JP"/>
              <a:t>- 03-01</a:t>
            </a:r>
            <a:r>
              <a:rPr lang="ja-JP" altLang="en-US"/>
              <a:t>の</a:t>
            </a:r>
            <a:r>
              <a:rPr lang="en-US" altLang="ja-JP"/>
              <a:t>3</a:t>
            </a:r>
            <a:r>
              <a:rPr lang="ja-JP" altLang="en-US"/>
              <a:t>者図を小さく再利用し、上に</a:t>
            </a:r>
            <a:r>
              <a:rPr lang="en-US" altLang="ja-JP"/>
              <a:t>D2C</a:t>
            </a:r>
            <a:r>
              <a:rPr lang="ja-JP" altLang="en-US"/>
              <a:t>「デバイス → </a:t>
            </a:r>
            <a:r>
              <a:rPr lang="en-US" altLang="ja-JP"/>
              <a:t>Hub → </a:t>
            </a:r>
            <a:r>
              <a:rPr lang="ja-JP" altLang="en-US"/>
              <a:t>受信側」、下に操作「バックエンド → </a:t>
            </a:r>
            <a:r>
              <a:rPr lang="en-US" altLang="ja-JP"/>
              <a:t>Hub → </a:t>
            </a:r>
            <a:r>
              <a:rPr lang="ja-JP" altLang="en-US"/>
              <a:t>デバイス」を描く。</a:t>
            </a:r>
          </a:p>
          <a:p>
            <a:r>
              <a:rPr lang="en-US" altLang="ja-JP"/>
              <a:t>- </a:t>
            </a:r>
            <a:r>
              <a:rPr lang="ja-JP" altLang="en-US"/>
              <a:t>下の線は「操作要求の方向」と表示する。</a:t>
            </a:r>
            <a:r>
              <a:rPr lang="en-US" altLang="ja-JP"/>
              <a:t>Device Twin</a:t>
            </a:r>
            <a:r>
              <a:rPr lang="ja-JP" altLang="en-US"/>
              <a:t>全体を片方向のメッセージとみなす図にはしない。表は図の下に</a:t>
            </a:r>
            <a:r>
              <a:rPr lang="en-US" altLang="ja-JP"/>
              <a:t>4</a:t>
            </a:r>
            <a:r>
              <a:rPr lang="ja-JP" altLang="en-US"/>
              <a:t>行で置く。</a:t>
            </a:r>
          </a:p>
          <a:p>
            <a:r>
              <a:rPr lang="en-US" altLang="ja-JP"/>
              <a:t>- </a:t>
            </a:r>
            <a:r>
              <a:rPr lang="ja-JP" altLang="en-US"/>
              <a:t>ルーティングは</a:t>
            </a:r>
            <a:r>
              <a:rPr lang="en-US" altLang="ja-JP"/>
              <a:t>Hub</a:t>
            </a:r>
            <a:r>
              <a:rPr lang="ja-JP" altLang="en-US"/>
              <a:t>から後続の宛先への分岐として描く。クラウドからデバイスへの</a:t>
            </a:r>
            <a:r>
              <a:rPr lang="en-US" altLang="ja-JP"/>
              <a:t>C2D</a:t>
            </a:r>
            <a:r>
              <a:rPr lang="ja-JP" altLang="en-US"/>
              <a:t>と同じ線を使わない。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30</a:t>
            </a:r>
            <a:r>
              <a:rPr lang="ja-JP" altLang="en-US"/>
              <a:t>秒。</a:t>
            </a:r>
            <a:r>
              <a:rPr lang="en-US" altLang="ja-JP"/>
              <a:t>C2D</a:t>
            </a:r>
            <a:r>
              <a:rPr lang="ja-JP" altLang="en-US"/>
              <a:t>は</a:t>
            </a:r>
            <a:r>
              <a:rPr lang="en-US" altLang="ja-JP"/>
              <a:t>Cloud-to-Device</a:t>
            </a:r>
            <a:r>
              <a:rPr lang="ja-JP" altLang="en-US"/>
              <a:t>の略。</a:t>
            </a:r>
            <a:r>
              <a:rPr lang="en-US" altLang="ja-JP"/>
              <a:t>D2C</a:t>
            </a:r>
            <a:r>
              <a:rPr lang="ja-JP" altLang="en-US"/>
              <a:t>と矢印の向きを対比する。</a:t>
            </a:r>
          </a:p>
          <a:p>
            <a:r>
              <a:rPr lang="en-US" altLang="ja-JP"/>
              <a:t>- </a:t>
            </a:r>
            <a:r>
              <a:rPr lang="ja-JP" altLang="en-US"/>
              <a:t>第</a:t>
            </a:r>
            <a:r>
              <a:rPr lang="en-US" altLang="ja-JP"/>
              <a:t>4</a:t>
            </a:r>
            <a:r>
              <a:rPr lang="ja-JP" altLang="en-US"/>
              <a:t>章で確認する問い</a:t>
            </a:r>
            <a:r>
              <a:rPr lang="en-US" altLang="ja-JP"/>
              <a:t>: </a:t>
            </a:r>
            <a:r>
              <a:rPr lang="ja-JP" altLang="en-US"/>
              <a:t>「オフラインならどうなるか」「操作の応答と状態の報告は何が違うか」。ここではタイムアウト・保持・再試行の数値を出さない。</a:t>
            </a:r>
          </a:p>
          <a:p>
            <a:r>
              <a:rPr lang="en-US" altLang="ja-JP"/>
              <a:t>- </a:t>
            </a:r>
            <a:r>
              <a:rPr lang="ja-JP" altLang="en-US"/>
              <a:t>次への接続</a:t>
            </a:r>
            <a:r>
              <a:rPr lang="en-US" altLang="ja-JP"/>
              <a:t>: </a:t>
            </a:r>
            <a:r>
              <a:rPr lang="ja-JP" altLang="en-US"/>
              <a:t>「これらの機能を使うには、</a:t>
            </a:r>
            <a:r>
              <a:rPr lang="en-US" altLang="ja-JP"/>
              <a:t>Hub</a:t>
            </a:r>
            <a:r>
              <a:rPr lang="ja-JP" altLang="en-US"/>
              <a:t>のレベルも確認する必要があります」。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03-11 Basic</a:t>
            </a:r>
            <a:r>
              <a:rPr lang="ja-JP" altLang="en-US"/>
              <a:t>・</a:t>
            </a:r>
            <a:r>
              <a:rPr lang="en-US" altLang="ja-JP"/>
              <a:t>Standard</a:t>
            </a:r>
            <a:r>
              <a:rPr lang="ja-JP" altLang="en-US"/>
              <a:t>・</a:t>
            </a:r>
            <a:r>
              <a:rPr lang="en-US" altLang="ja-JP"/>
              <a:t>Free </a:t>
            </a:r>
            <a:r>
              <a:rPr lang="ja-JP" altLang="en-US"/>
              <a:t>の機能差</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直前で知った機能要件を</a:t>
            </a:r>
            <a:r>
              <a:rPr lang="en-US" altLang="ja-JP"/>
              <a:t>SKU</a:t>
            </a:r>
            <a:r>
              <a:rPr lang="ja-JP" altLang="en-US"/>
              <a:t>の選択に結び付ける。容量・料金の暗記や、認証の強弱による比較をしない。</a:t>
            </a:r>
          </a:p>
          <a:p>
            <a:endParaRPr lang="ja-JP" altLang="en-US"/>
          </a:p>
          <a:p>
            <a:r>
              <a:rPr lang="en-US" altLang="ja-JP"/>
              <a:t>### </a:t>
            </a:r>
            <a:r>
              <a:rPr lang="ja-JP" altLang="en-US"/>
              <a:t>投影本文</a:t>
            </a:r>
          </a:p>
          <a:p>
            <a:endParaRPr lang="ja-JP" altLang="en-US"/>
          </a:p>
          <a:p>
            <a:r>
              <a:rPr lang="ja-JP" altLang="en-US"/>
              <a:t>**使う機能を選ぶことと、必要な容量を見積もることは別。**</a:t>
            </a:r>
          </a:p>
          <a:p>
            <a:endParaRPr lang="ja-JP" altLang="en-US"/>
          </a:p>
          <a:p>
            <a:r>
              <a:rPr lang="en-US" altLang="ja-JP"/>
              <a:t>| </a:t>
            </a:r>
            <a:r>
              <a:rPr lang="ja-JP" altLang="en-US"/>
              <a:t>今回確認する機能 </a:t>
            </a:r>
            <a:r>
              <a:rPr lang="en-US" altLang="ja-JP"/>
              <a:t>| Basic | Standard | Free</a:t>
            </a:r>
            <a:r>
              <a:rPr lang="ja-JP" altLang="en-US"/>
              <a:t>（評価用） </a:t>
            </a:r>
            <a:r>
              <a:rPr lang="en-US" altLang="ja-JP"/>
              <a:t>|</a:t>
            </a:r>
          </a:p>
          <a:p>
            <a:r>
              <a:rPr lang="en-US" altLang="ja-JP"/>
              <a:t>| --- | --- | --- | --- |</a:t>
            </a:r>
          </a:p>
          <a:p>
            <a:r>
              <a:rPr lang="en-US" altLang="ja-JP"/>
              <a:t>| D2C</a:t>
            </a:r>
            <a:r>
              <a:rPr lang="ja-JP" altLang="en-US"/>
              <a:t>・メッセージルーティング </a:t>
            </a:r>
            <a:r>
              <a:rPr lang="en-US" altLang="ja-JP"/>
              <a:t>| </a:t>
            </a:r>
            <a:r>
              <a:rPr lang="ja-JP" altLang="en-US"/>
              <a:t>対応 </a:t>
            </a:r>
            <a:r>
              <a:rPr lang="en-US" altLang="ja-JP"/>
              <a:t>| </a:t>
            </a:r>
            <a:r>
              <a:rPr lang="ja-JP" altLang="en-US"/>
              <a:t>対応 </a:t>
            </a:r>
            <a:r>
              <a:rPr lang="en-US" altLang="ja-JP"/>
              <a:t>| </a:t>
            </a:r>
            <a:r>
              <a:rPr lang="ja-JP" altLang="en-US"/>
              <a:t>対応 </a:t>
            </a:r>
            <a:r>
              <a:rPr lang="en-US" altLang="ja-JP"/>
              <a:t>|</a:t>
            </a:r>
          </a:p>
          <a:p>
            <a:r>
              <a:rPr lang="en-US" altLang="ja-JP"/>
              <a:t>| Direct Method</a:t>
            </a:r>
            <a:r>
              <a:rPr lang="ja-JP" altLang="en-US"/>
              <a:t>・</a:t>
            </a:r>
            <a:r>
              <a:rPr lang="en-US" altLang="ja-JP"/>
              <a:t>Device Twin</a:t>
            </a:r>
            <a:r>
              <a:rPr lang="ja-JP" altLang="en-US"/>
              <a:t>・</a:t>
            </a:r>
            <a:r>
              <a:rPr lang="en-US" altLang="ja-JP"/>
              <a:t>C2D | </a:t>
            </a:r>
            <a:r>
              <a:rPr lang="ja-JP" altLang="en-US"/>
              <a:t>非対応 </a:t>
            </a:r>
            <a:r>
              <a:rPr lang="en-US" altLang="ja-JP"/>
              <a:t>| </a:t>
            </a:r>
            <a:r>
              <a:rPr lang="ja-JP" altLang="en-US"/>
              <a:t>対応 </a:t>
            </a:r>
            <a:r>
              <a:rPr lang="en-US" altLang="ja-JP"/>
              <a:t>| </a:t>
            </a:r>
            <a:r>
              <a:rPr lang="ja-JP" altLang="en-US"/>
              <a:t>対応 </a:t>
            </a:r>
            <a:r>
              <a:rPr lang="en-US" altLang="ja-JP"/>
              <a:t>|</a:t>
            </a:r>
          </a:p>
          <a:p>
            <a:r>
              <a:rPr lang="en-US" altLang="ja-JP"/>
              <a:t>| </a:t>
            </a:r>
            <a:r>
              <a:rPr lang="ja-JP" altLang="en-US"/>
              <a:t>位置づけ </a:t>
            </a:r>
            <a:r>
              <a:rPr lang="en-US" altLang="ja-JP"/>
              <a:t>| </a:t>
            </a:r>
            <a:r>
              <a:rPr lang="ja-JP" altLang="en-US"/>
              <a:t>データ収集中心 </a:t>
            </a:r>
            <a:r>
              <a:rPr lang="en-US" altLang="ja-JP"/>
              <a:t>| </a:t>
            </a:r>
            <a:r>
              <a:rPr lang="ja-JP" altLang="en-US"/>
              <a:t>双方向通信・デバイス管理 </a:t>
            </a:r>
            <a:r>
              <a:rPr lang="en-US" altLang="ja-JP"/>
              <a:t>| Standard</a:t>
            </a:r>
            <a:r>
              <a:rPr lang="ja-JP" altLang="en-US"/>
              <a:t>相当の機能を小容量で評価 </a:t>
            </a:r>
            <a:r>
              <a:rPr lang="en-US" altLang="ja-JP"/>
              <a:t>|</a:t>
            </a:r>
          </a:p>
          <a:p>
            <a:endParaRPr lang="en-US" altLang="ja-JP"/>
          </a:p>
          <a:p>
            <a:r>
              <a:rPr lang="ja-JP" altLang="en-US"/>
              <a:t>この表は講義で使う機能に絞った比較。</a:t>
            </a:r>
            <a:r>
              <a:rPr lang="en-US" altLang="ja-JP"/>
              <a:t>Basic</a:t>
            </a:r>
            <a:r>
              <a:rPr lang="ja-JP" altLang="en-US"/>
              <a:t>と</a:t>
            </a:r>
            <a:r>
              <a:rPr lang="en-US" altLang="ja-JP"/>
              <a:t>Standard</a:t>
            </a:r>
            <a:r>
              <a:rPr lang="ja-JP" altLang="en-US"/>
              <a:t>の認証・セキュリティ機能は同じ。**</a:t>
            </a:r>
            <a:r>
              <a:rPr lang="en-US" altLang="ja-JP"/>
              <a:t>Free</a:t>
            </a:r>
            <a:r>
              <a:rPr lang="ja-JP" altLang="en-US"/>
              <a:t>は評価用で容量が限られ、</a:t>
            </a:r>
            <a:r>
              <a:rPr lang="en-US" altLang="ja-JP"/>
              <a:t>Basic / Standard</a:t>
            </a:r>
            <a:r>
              <a:rPr lang="ja-JP" altLang="en-US"/>
              <a:t>へ直接アップグレードできない。**（</a:t>
            </a:r>
            <a:r>
              <a:rPr lang="en-US" altLang="ja-JP"/>
              <a:t>[</a:t>
            </a:r>
            <a:r>
              <a:rPr lang="ja-JP" altLang="en-US"/>
              <a:t>レベル別の機能と </a:t>
            </a:r>
            <a:r>
              <a:rPr lang="en-US" altLang="ja-JP"/>
              <a:t>Free </a:t>
            </a:r>
            <a:r>
              <a:rPr lang="ja-JP" altLang="en-US"/>
              <a:t>の制約</a:t>
            </a:r>
            <a:r>
              <a:rPr lang="en-US" altLang="ja-JP"/>
              <a:t>](https://learn.microsoft.com/ja-jp/azure/iot-hub/iot-hub-scaling)</a:t>
            </a:r>
            <a:r>
              <a:rPr lang="ja-JP" altLang="en-US"/>
              <a:t>）</a:t>
            </a:r>
          </a:p>
          <a:p>
            <a:endParaRPr lang="ja-JP" altLang="en-US"/>
          </a:p>
          <a:p>
            <a:r>
              <a:rPr lang="ja-JP" altLang="en-US"/>
              <a:t>**今回の開始・停止と設定変更には、</a:t>
            </a:r>
            <a:r>
              <a:rPr lang="en-US" altLang="ja-JP"/>
              <a:t>Standard</a:t>
            </a:r>
            <a:r>
              <a:rPr lang="ja-JP" altLang="en-US"/>
              <a:t>相当の機能が必要。</a:t>
            </a:r>
            <a:r>
              <a:rPr lang="en-US" altLang="ja-JP"/>
              <a:t>Basic</a:t>
            </a:r>
            <a:r>
              <a:rPr lang="ja-JP" altLang="en-US"/>
              <a:t>では本講義の双方向デモを実施できない。**（</a:t>
            </a:r>
            <a:r>
              <a:rPr lang="en-US" altLang="ja-JP"/>
              <a:t>[</a:t>
            </a:r>
            <a:r>
              <a:rPr lang="ja-JP" altLang="en-US"/>
              <a:t>レベル別の機能</a:t>
            </a:r>
            <a:r>
              <a:rPr lang="en-US" altLang="ja-JP"/>
              <a:t>](https://learn.microsoft.com/ja-jp/azure/iot-hub/iot-hub-scaling)</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中央に比較表。機能名を左にまとめ、</a:t>
            </a:r>
            <a:r>
              <a:rPr lang="en-US" altLang="ja-JP"/>
              <a:t>Standard</a:t>
            </a:r>
            <a:r>
              <a:rPr lang="ja-JP" altLang="en-US"/>
              <a:t>と</a:t>
            </a:r>
            <a:r>
              <a:rPr lang="en-US" altLang="ja-JP"/>
              <a:t>Free</a:t>
            </a:r>
            <a:r>
              <a:rPr lang="ja-JP" altLang="en-US"/>
              <a:t>の対象機能を枠線と「今回の機能を利用可能」の文字で示す。</a:t>
            </a:r>
          </a:p>
          <a:p>
            <a:r>
              <a:rPr lang="en-US" altLang="ja-JP"/>
              <a:t>- </a:t>
            </a:r>
            <a:r>
              <a:rPr lang="ja-JP" altLang="en-US"/>
              <a:t>右下に「台数 </a:t>
            </a:r>
            <a:r>
              <a:rPr lang="en-US" altLang="ja-JP"/>
              <a:t>× </a:t>
            </a:r>
            <a:r>
              <a:rPr lang="ja-JP" altLang="en-US"/>
              <a:t>送信頻度 </a:t>
            </a:r>
            <a:r>
              <a:rPr lang="en-US" altLang="ja-JP"/>
              <a:t>× </a:t>
            </a:r>
            <a:r>
              <a:rPr lang="ja-JP" altLang="en-US"/>
              <a:t>メッセージサイズ → 容量設計は第</a:t>
            </a:r>
            <a:r>
              <a:rPr lang="en-US" altLang="ja-JP"/>
              <a:t>7</a:t>
            </a:r>
            <a:r>
              <a:rPr lang="ja-JP" altLang="en-US"/>
              <a:t>章」を配置する。これをそのまま料金の計算式として扱わない。</a:t>
            </a:r>
          </a:p>
          <a:p>
            <a:r>
              <a:rPr lang="en-US" altLang="ja-JP"/>
              <a:t>- Free</a:t>
            </a:r>
            <a:r>
              <a:rPr lang="ja-JP" altLang="en-US"/>
              <a:t>を本番推奨として強調しない。料金・日次上限・ユニット数の表を足さない。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30</a:t>
            </a:r>
            <a:r>
              <a:rPr lang="ja-JP" altLang="en-US"/>
              <a:t>秒。</a:t>
            </a:r>
            <a:r>
              <a:rPr lang="en-US" altLang="ja-JP"/>
              <a:t>SKU</a:t>
            </a:r>
            <a:r>
              <a:rPr lang="ja-JP" altLang="en-US"/>
              <a:t>はサービスの種類・サイズを選ぶ区分、と説明する。</a:t>
            </a:r>
          </a:p>
          <a:p>
            <a:r>
              <a:rPr lang="en-US" altLang="ja-JP"/>
              <a:t>- </a:t>
            </a:r>
            <a:r>
              <a:rPr lang="ja-JP" altLang="en-US"/>
              <a:t>このページは実リソースの</a:t>
            </a:r>
            <a:r>
              <a:rPr lang="en-US" altLang="ja-JP"/>
              <a:t>SKU</a:t>
            </a:r>
            <a:r>
              <a:rPr lang="ja-JP" altLang="en-US"/>
              <a:t>を確認した結果ではない。第</a:t>
            </a:r>
            <a:r>
              <a:rPr lang="en-US" altLang="ja-JP"/>
              <a:t>6</a:t>
            </a:r>
            <a:r>
              <a:rPr lang="ja-JP" altLang="en-US"/>
              <a:t>章の事前準備で実際の</a:t>
            </a:r>
            <a:r>
              <a:rPr lang="en-US" altLang="ja-JP"/>
              <a:t>SKU</a:t>
            </a:r>
            <a:r>
              <a:rPr lang="ja-JP" altLang="en-US"/>
              <a:t>・残容量を確認する。</a:t>
            </a:r>
          </a:p>
          <a:p>
            <a:r>
              <a:rPr lang="en-US" altLang="ja-JP"/>
              <a:t>- </a:t>
            </a:r>
            <a:r>
              <a:rPr lang="ja-JP" altLang="en-US"/>
              <a:t>次への接続</a:t>
            </a:r>
            <a:r>
              <a:rPr lang="en-US" altLang="ja-JP"/>
              <a:t>: </a:t>
            </a:r>
            <a:r>
              <a:rPr lang="ja-JP" altLang="en-US"/>
              <a:t>「最後に、登録・認証・送受信を自分の言葉でつなげてみます」。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03-12 </a:t>
            </a:r>
            <a:r>
              <a:rPr lang="ja-JP" altLang="en-US"/>
              <a:t>登録・接続・送受信の確認問題</a:t>
            </a:r>
          </a:p>
          <a:p>
            <a:r>
              <a:rPr lang="en-US" altLang="ja-JP"/>
              <a:t>Source SHA256: 2DB14E536497F2E448EB2EBD510CF927E5BF0FC0986782E461DA65E5132A5B44</a:t>
            </a:r>
          </a:p>
          <a:p>
            <a:endParaRPr lang="en-US" altLang="ja-JP"/>
          </a:p>
          <a:p>
            <a:r>
              <a:rPr lang="en-US" altLang="ja-JP"/>
              <a:t>### </a:t>
            </a:r>
            <a:r>
              <a:rPr lang="ja-JP" altLang="en-US"/>
              <a:t>このページの役割</a:t>
            </a:r>
          </a:p>
          <a:p>
            <a:endParaRPr lang="ja-JP" altLang="en-US"/>
          </a:p>
          <a:p>
            <a:r>
              <a:rPr lang="ja-JP" altLang="en-US"/>
              <a:t>機能名の復唱ではなく、</a:t>
            </a:r>
            <a:r>
              <a:rPr lang="en-US" altLang="ja-JP"/>
              <a:t>3</a:t>
            </a:r>
            <a:r>
              <a:rPr lang="ja-JP" altLang="en-US"/>
              <a:t>つの短い事例で章の到達点を確認する。答えは講師ノートに置き、先に問いを見せる。</a:t>
            </a:r>
          </a:p>
          <a:p>
            <a:endParaRPr lang="ja-JP" altLang="en-US"/>
          </a:p>
          <a:p>
            <a:r>
              <a:rPr lang="en-US" altLang="ja-JP"/>
              <a:t>### </a:t>
            </a:r>
            <a:r>
              <a:rPr lang="ja-JP" altLang="en-US"/>
              <a:t>投影本文</a:t>
            </a:r>
          </a:p>
          <a:p>
            <a:endParaRPr lang="ja-JP" altLang="en-US"/>
          </a:p>
          <a:p>
            <a:r>
              <a:rPr lang="ja-JP" altLang="en-US"/>
              <a:t>**次の</a:t>
            </a:r>
            <a:r>
              <a:rPr lang="en-US" altLang="ja-JP"/>
              <a:t>3</a:t>
            </a:r>
            <a:r>
              <a:rPr lang="ja-JP" altLang="en-US"/>
              <a:t>つの場面で、何が不足しているか説明してください。**</a:t>
            </a:r>
          </a:p>
          <a:p>
            <a:endParaRPr lang="ja-JP" altLang="en-US"/>
          </a:p>
          <a:p>
            <a:r>
              <a:rPr lang="en-US" altLang="ja-JP"/>
              <a:t>1. Hub</a:t>
            </a:r>
            <a:r>
              <a:rPr lang="ja-JP" altLang="en-US"/>
              <a:t>に </a:t>
            </a:r>
            <a:r>
              <a:rPr lang="en-US" altLang="ja-JP"/>
              <a:t>`temp-sensor-01` </a:t>
            </a:r>
            <a:r>
              <a:rPr lang="ja-JP" altLang="en-US"/>
              <a:t>を登録しました。アプリには</a:t>
            </a:r>
            <a:r>
              <a:rPr lang="en-US" altLang="ja-JP"/>
              <a:t>Device ID</a:t>
            </a:r>
            <a:r>
              <a:rPr lang="ja-JP" altLang="en-US"/>
              <a:t>だけ渡せば接続できますか。</a:t>
            </a:r>
          </a:p>
          <a:p>
            <a:r>
              <a:rPr lang="en-US" altLang="ja-JP"/>
              <a:t>2. </a:t>
            </a:r>
            <a:r>
              <a:rPr lang="ja-JP" altLang="en-US"/>
              <a:t>デバイス側に送信ログが出ました。受信担当はどこを読み、何を照合しますか。</a:t>
            </a:r>
          </a:p>
          <a:p>
            <a:r>
              <a:rPr lang="en-US" altLang="ja-JP"/>
              <a:t>3. </a:t>
            </a:r>
            <a:r>
              <a:rPr lang="ja-JP" altLang="en-US"/>
              <a:t>受信ツールで温度を確認できました。</a:t>
            </a:r>
            <a:r>
              <a:rPr lang="en-US" altLang="ja-JP"/>
              <a:t>DB</a:t>
            </a:r>
            <a:r>
              <a:rPr lang="ja-JP" altLang="en-US"/>
              <a:t>保存は完了していますか。次に送信を停止したい場合、誰が要求し、誰が実行しますか。</a:t>
            </a:r>
          </a:p>
          <a:p>
            <a:endParaRPr lang="ja-JP" altLang="en-US"/>
          </a:p>
          <a:p>
            <a:r>
              <a:rPr lang="ja-JP" altLang="en-US"/>
              <a:t>**次章</a:t>
            </a:r>
            <a:r>
              <a:rPr lang="en-US" altLang="ja-JP"/>
              <a:t>: Direct Method</a:t>
            </a:r>
            <a:r>
              <a:rPr lang="ja-JP" altLang="en-US"/>
              <a:t>・</a:t>
            </a:r>
            <a:r>
              <a:rPr lang="en-US" altLang="ja-JP"/>
              <a:t>Device Twin</a:t>
            </a:r>
            <a:r>
              <a:rPr lang="ja-JP" altLang="en-US"/>
              <a:t>・</a:t>
            </a:r>
            <a:r>
              <a:rPr lang="en-US" altLang="ja-JP"/>
              <a:t>C2D</a:t>
            </a:r>
            <a:r>
              <a:rPr lang="ja-JP" altLang="en-US"/>
              <a:t>を、操作と状態同期の用途で使い分ける。**</a:t>
            </a:r>
          </a:p>
          <a:p>
            <a:endParaRPr lang="ja-JP" altLang="en-US"/>
          </a:p>
          <a:p>
            <a:r>
              <a:rPr lang="en-US" altLang="ja-JP"/>
              <a:t>### </a:t>
            </a:r>
            <a:r>
              <a:rPr lang="ja-JP" altLang="en-US"/>
              <a:t>図の構成</a:t>
            </a:r>
          </a:p>
          <a:p>
            <a:endParaRPr lang="ja-JP" altLang="en-US"/>
          </a:p>
          <a:p>
            <a:r>
              <a:rPr lang="en-US" altLang="ja-JP"/>
              <a:t>- 3</a:t>
            </a:r>
            <a:r>
              <a:rPr lang="ja-JP" altLang="en-US"/>
              <a:t>つの問いを縦に配置する。下部に「デバイス </a:t>
            </a:r>
            <a:r>
              <a:rPr lang="en-US" altLang="ja-JP"/>
              <a:t>/ IoT Hub / </a:t>
            </a:r>
            <a:r>
              <a:rPr lang="ja-JP" altLang="en-US"/>
              <a:t>バックエンド」の小図を置き、指さして回答できるようにする。</a:t>
            </a:r>
          </a:p>
          <a:p>
            <a:r>
              <a:rPr lang="en-US" altLang="ja-JP"/>
              <a:t>- </a:t>
            </a:r>
            <a:r>
              <a:rPr lang="ja-JP" altLang="en-US"/>
              <a:t>図中の矢印ラベルは空欄とし、口頭で「送信」「読み取り」「操作要求」を補う。答えを極小文字で同じ画面に入れない。</a:t>
            </a:r>
          </a:p>
          <a:p>
            <a:r>
              <a:rPr lang="en-US" altLang="ja-JP"/>
              <a:t>- </a:t>
            </a:r>
            <a:r>
              <a:rPr lang="ja-JP" altLang="en-US"/>
              <a:t>このページは</a:t>
            </a:r>
            <a:r>
              <a:rPr lang="en-US" altLang="ja-JP"/>
              <a:t>03-01〜11</a:t>
            </a:r>
            <a:r>
              <a:rPr lang="ja-JP" altLang="en-US"/>
              <a:t>に基づく講義用の設問であり、新たなサービス仕様を追加しない。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30</a:t>
            </a:r>
            <a:r>
              <a:rPr lang="ja-JP" altLang="en-US"/>
              <a:t>秒。回答を考える時間</a:t>
            </a:r>
            <a:r>
              <a:rPr lang="en-US" altLang="ja-JP"/>
              <a:t>30</a:t>
            </a:r>
            <a:r>
              <a:rPr lang="ja-JP" altLang="en-US"/>
              <a:t>秒、答え合わせ</a:t>
            </a:r>
            <a:r>
              <a:rPr lang="en-US" altLang="ja-JP"/>
              <a:t>105</a:t>
            </a:r>
            <a:r>
              <a:rPr lang="ja-JP" altLang="en-US"/>
              <a:t>秒、次章への移行</a:t>
            </a:r>
            <a:r>
              <a:rPr lang="en-US" altLang="ja-JP"/>
              <a:t>15</a:t>
            </a:r>
            <a:r>
              <a:rPr lang="ja-JP" altLang="en-US"/>
              <a:t>秒。</a:t>
            </a:r>
          </a:p>
          <a:p>
            <a:r>
              <a:rPr lang="en-US" altLang="ja-JP"/>
              <a:t>- </a:t>
            </a:r>
            <a:r>
              <a:rPr lang="ja-JP" altLang="en-US"/>
              <a:t>問</a:t>
            </a:r>
            <a:r>
              <a:rPr lang="en-US" altLang="ja-JP"/>
              <a:t>1: </a:t>
            </a:r>
            <a:r>
              <a:rPr lang="ja-JP" altLang="en-US"/>
              <a:t>不十分。接続先とそのデバイス用の資格情報を準備し、アプリを起動・接続する。</a:t>
            </a:r>
            <a:r>
              <a:rPr lang="en-US" altLang="ja-JP"/>
              <a:t>ID</a:t>
            </a:r>
            <a:r>
              <a:rPr lang="ja-JP" altLang="en-US"/>
              <a:t>登録と実接続は別（</a:t>
            </a:r>
            <a:r>
              <a:rPr lang="en-US" altLang="ja-JP"/>
              <a:t>03-02〜04</a:t>
            </a:r>
            <a:r>
              <a:rPr lang="ja-JP" altLang="en-US"/>
              <a:t>）。</a:t>
            </a:r>
          </a:p>
          <a:p>
            <a:r>
              <a:rPr lang="en-US" altLang="ja-JP"/>
              <a:t>- </a:t>
            </a:r>
            <a:r>
              <a:rPr lang="ja-JP" altLang="en-US"/>
              <a:t>問</a:t>
            </a:r>
            <a:r>
              <a:rPr lang="en-US" altLang="ja-JP"/>
              <a:t>2: </a:t>
            </a:r>
            <a:r>
              <a:rPr lang="ja-JP" altLang="en-US"/>
              <a:t>今回は組み込みエンドポイント </a:t>
            </a:r>
            <a:r>
              <a:rPr lang="en-US" altLang="ja-JP"/>
              <a:t>`messages/events` </a:t>
            </a:r>
            <a:r>
              <a:rPr lang="ja-JP" altLang="en-US"/>
              <a:t>を受信ツールや</a:t>
            </a:r>
            <a:r>
              <a:rPr lang="en-US" altLang="ja-JP"/>
              <a:t>Event Hubs SDK</a:t>
            </a:r>
            <a:r>
              <a:rPr lang="ja-JP" altLang="en-US"/>
              <a:t>で読み、送信元デバイスと本文を照合する。読み取り権限を持つ共有アクセスポリシーの資格情報を使い、デバイス用の資格情報は使い回さない（</a:t>
            </a:r>
            <a:r>
              <a:rPr lang="en-US" altLang="ja-JP"/>
              <a:t>03-04〜09</a:t>
            </a:r>
            <a:r>
              <a:rPr lang="ja-JP" altLang="en-US"/>
              <a:t>）。</a:t>
            </a:r>
          </a:p>
          <a:p>
            <a:r>
              <a:rPr lang="en-US" altLang="ja-JP"/>
              <a:t>- </a:t>
            </a:r>
            <a:r>
              <a:rPr lang="ja-JP" altLang="en-US"/>
              <a:t>問</a:t>
            </a:r>
            <a:r>
              <a:rPr lang="en-US" altLang="ja-JP"/>
              <a:t>3: </a:t>
            </a:r>
            <a:r>
              <a:rPr lang="ja-JP" altLang="en-US"/>
              <a:t>保存完了は別途確認する。停止はバックエンドから要求し、</a:t>
            </a:r>
            <a:r>
              <a:rPr lang="en-US" altLang="ja-JP"/>
              <a:t>Hub</a:t>
            </a:r>
            <a:r>
              <a:rPr lang="ja-JP" altLang="en-US"/>
              <a:t>を介してデバイスアプリが処理する。今回の例では</a:t>
            </a:r>
            <a:r>
              <a:rPr lang="en-US" altLang="ja-JP"/>
              <a:t>Direct Method</a:t>
            </a:r>
            <a:r>
              <a:rPr lang="ja-JP" altLang="en-US"/>
              <a:t>を使う（</a:t>
            </a:r>
            <a:r>
              <a:rPr lang="en-US" altLang="ja-JP"/>
              <a:t>03-09〜11</a:t>
            </a:r>
            <a:r>
              <a:rPr lang="ja-JP" altLang="en-US"/>
              <a:t>）。</a:t>
            </a:r>
          </a:p>
          <a:p>
            <a:r>
              <a:rPr lang="en-US" altLang="ja-JP"/>
              <a:t>- </a:t>
            </a:r>
            <a:r>
              <a:rPr lang="ja-JP" altLang="en-US"/>
              <a:t>誤答時は対応するページに戻って図を指す。問いの正答率や講義時間の実測は未取得であり、</a:t>
            </a:r>
            <a:r>
              <a:rPr lang="en-US" altLang="ja-JP"/>
              <a:t>2</a:t>
            </a:r>
            <a:r>
              <a:rPr lang="ja-JP" altLang="en-US"/>
              <a:t>分</a:t>
            </a:r>
            <a:r>
              <a:rPr lang="en-US" altLang="ja-JP"/>
              <a:t>30</a:t>
            </a:r>
            <a:r>
              <a:rPr lang="ja-JP" altLang="en-US"/>
              <a:t>秒の配分が適切かはリハーサルで確認する。</a:t>
            </a:r>
          </a:p>
          <a:p>
            <a:r>
              <a:rPr lang="en-US" altLang="ja-JP"/>
              <a:t>- </a:t>
            </a:r>
            <a:r>
              <a:rPr lang="ja-JP" altLang="en-US"/>
              <a:t>次章への接続</a:t>
            </a:r>
            <a:r>
              <a:rPr lang="en-US" altLang="ja-JP"/>
              <a:t>: </a:t>
            </a:r>
            <a:r>
              <a:rPr lang="ja-JP" altLang="en-US"/>
              <a:t>「今の</a:t>
            </a:r>
            <a:r>
              <a:rPr lang="en-US" altLang="ja-JP"/>
              <a:t>『</a:t>
            </a:r>
            <a:r>
              <a:rPr lang="ja-JP" altLang="en-US"/>
              <a:t>停止したい</a:t>
            </a:r>
            <a:r>
              <a:rPr lang="en-US" altLang="ja-JP"/>
              <a:t>』</a:t>
            </a:r>
            <a:r>
              <a:rPr lang="ja-JP" altLang="en-US"/>
              <a:t>を具体化し、操作の応答と、設定・状態を同期する仕組みの違いを見ます」。</a:t>
            </a:r>
          </a:p>
          <a:p>
            <a:endParaRPr lang="ja-JP" altLang="en-US"/>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9597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4894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629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819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301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878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828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5032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5341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28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858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6047907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ja-jp/azure/iot-hub/iot-concepts-and-iot-hub"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learn.microsoft.com/ja-jp/azure/iot-hub/iot-hub-devguide-sdks"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ja-jp/azure/iot-hub/iot-hub-devguide-identity-registry"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ja-jp/azure/iot-hub/authenticate-authorize-sas"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learn.microsoft.com/ja-jp/azure/iot-hub/authenticate-authorize-x509"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ja-jp/azure/iot-hub/authenticate-authorize-sas"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learn.microsoft.com/ja-jp/azure/iot-hub/secure-azure-iot-hub#identity-and-access-management" TargetMode="External"/><Relationship Id="rId5" Type="http://schemas.openxmlformats.org/officeDocument/2006/relationships/hyperlink" Target="https://learn.microsoft.com/ja-jp/azure/iot-hub/iot-hub-tls-support" TargetMode="External"/><Relationship Id="rId4" Type="http://schemas.openxmlformats.org/officeDocument/2006/relationships/hyperlink" Target="https://learn.microsoft.com/ja-jp/azure/iot-hub/authenticate-authorize-azure-ad"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ja-jp/azure/iot-hub/iot-hub-devguide-protocols"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hyperlink" Target="https://learn.microsoft.com/ja-jp/azure/iot-hub/iot-mqtt-connect-to-iot-hub" TargetMode="External"/><Relationship Id="rId4" Type="http://schemas.openxmlformats.org/officeDocument/2006/relationships/hyperlink" Target="https://learn.microsoft.com/ja-jp/azure/iot-hub/iot-hub-devguide-protocols#port-number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ja-jp/azure/iot-hub/iot-hub-devguide-protocols"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learn.microsoft.com/ja-jp/azure/iot-hub/iot-hub-devguide-messages-read-builtin#sdk-samples" TargetMode="External"/><Relationship Id="rId4" Type="http://schemas.openxmlformats.org/officeDocument/2006/relationships/hyperlink" Target="https://learn.microsoft.com/ja-jp/azure/iot-hub/iot-hub-devguide-sdk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ja-jp/azure/iot-hub/iot-concepts-and-iot-hub"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hyperlink" Target="https://learn.microsoft.com/ja-jp/azure/iot-hub/iot-hub-devguide-messages-construct" TargetMode="External"/><Relationship Id="rId4" Type="http://schemas.openxmlformats.org/officeDocument/2006/relationships/hyperlink" Target="file:///C:\Users\koishizu\Documents\github\demo-azure-iot\demo\01_iothub-send-tel.py"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ja-jp/azure/iot-hub/iot-hub-devguide-messages-read-builtin"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https://learn.microsoft.com/ja-jp/azure/iot-hub/iot-hub-devguide-messages-read-builtin#connect-to-the-built-in-endpoint" TargetMode="External"/><Relationship Id="rId4" Type="http://schemas.openxmlformats.org/officeDocument/2006/relationships/hyperlink" Target="https://learn.microsoft.com/ja-jp/azure/iot-hub/authenticate-authorize-azure-ad#iot-hub-service-api-permission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ja-jp/azure/iot-hub/iot-hub-devguide-messages-construct"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learn.microsoft.com/ja-jp/azure/iot-hub/iot-hub-devguide-messages-read-builtin" TargetMode="External"/><Relationship Id="rId4" Type="http://schemas.openxmlformats.org/officeDocument/2006/relationships/hyperlink" Target="file:///C:\Users\koishizu\Documents\github\demo-azure-iot\demo\01_iothub-send-tel.py"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ja-jp/azure/iot-hub/iot-concepts-and-iot-hub"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learn.microsoft.com/ja-jp/azure/iot-hub/iot-hub-devguide-sdk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ja-jp/azure/iot-hub/iot-hub-scaling"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デバイス・</a:t>
            </a: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Hub</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・バックエンドの役割</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48" name="source:block:0">
            <a:extLst>
              <a:ext uri="{FF2B5EF4-FFF2-40B4-BE49-F238E27FC236}">
                <a16:creationId xmlns:a16="http://schemas.microsoft.com/office/drawing/2014/main" id="{BFF9A96C-F9B9-A41D-29B0-ACAE87378B68}"/>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デバイスアプリがデータを送り、</a:t>
            </a:r>
            <a:r>
              <a:rPr lang="en-US" altLang="ja-JP" sz="1600" b="1">
                <a:solidFill>
                  <a:srgbClr val="0B2430"/>
                </a:solidFill>
                <a:latin typeface="Yu Gothic UI" panose="020B0500000000000000" pitchFamily="34" charset="-128"/>
                <a:ea typeface="Yu Gothic UI" panose="020B0500000000000000" pitchFamily="34" charset="-128"/>
              </a:rPr>
              <a:t>IoT Hub </a:t>
            </a:r>
            <a:r>
              <a:rPr lang="ja-JP" altLang="en-US" sz="1600" b="1">
                <a:solidFill>
                  <a:srgbClr val="0B2430"/>
                </a:solidFill>
                <a:latin typeface="Yu Gothic UI" panose="020B0500000000000000" pitchFamily="34" charset="-128"/>
                <a:ea typeface="Yu Gothic UI" panose="020B0500000000000000" pitchFamily="34" charset="-128"/>
              </a:rPr>
              <a:t>が通信を仲介し、バックエンドがデータを利用する。</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49" name="source:column-heading:0">
            <a:extLst>
              <a:ext uri="{FF2B5EF4-FFF2-40B4-BE49-F238E27FC236}">
                <a16:creationId xmlns:a16="http://schemas.microsoft.com/office/drawing/2014/main" id="{BDD1D8A6-4E2F-8853-6322-E11B01D90D07}"/>
              </a:ext>
            </a:extLst>
          </p:cNvPr>
          <p:cNvSpPr txBox="1"/>
          <p:nvPr/>
        </p:nvSpPr>
        <p:spPr>
          <a:xfrm>
            <a:off x="584200" y="1549399"/>
            <a:ext cx="15240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主体</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50" name="source:column-heading:1">
            <a:extLst>
              <a:ext uri="{FF2B5EF4-FFF2-40B4-BE49-F238E27FC236}">
                <a16:creationId xmlns:a16="http://schemas.microsoft.com/office/drawing/2014/main" id="{7E98B961-9841-C01F-234B-4D2539F1E776}"/>
              </a:ext>
            </a:extLst>
          </p:cNvPr>
          <p:cNvSpPr txBox="1"/>
          <p:nvPr/>
        </p:nvSpPr>
        <p:spPr>
          <a:xfrm>
            <a:off x="584200" y="3213099"/>
            <a:ext cx="25400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担当すること</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51" name="diagram:location:0">
            <a:extLst>
              <a:ext uri="{FF2B5EF4-FFF2-40B4-BE49-F238E27FC236}">
                <a16:creationId xmlns:a16="http://schemas.microsoft.com/office/drawing/2014/main" id="{FA754DEA-F68F-409A-C6E6-2714EBF087D3}"/>
              </a:ext>
            </a:extLst>
          </p:cNvPr>
          <p:cNvSpPr txBox="1"/>
          <p:nvPr/>
        </p:nvSpPr>
        <p:spPr>
          <a:xfrm>
            <a:off x="584200" y="1841499"/>
            <a:ext cx="3302000" cy="292100"/>
          </a:xfrm>
          <a:prstGeom prst="rect">
            <a:avLst/>
          </a:prstGeom>
          <a:noFill/>
        </p:spPr>
        <p:txBody>
          <a:bodyPr vert="horz" wrap="square" lIns="0" tIns="0" rIns="0" bIns="0" rtlCol="0" anchor="t">
            <a:noAutofit/>
          </a:bodyPr>
          <a:lstStyle/>
          <a:p>
            <a:pPr algn="ctr"/>
            <a:r>
              <a:rPr lang="ja-JP" altLang="en-US" sz="1300">
                <a:solidFill>
                  <a:srgbClr val="566473"/>
                </a:solidFill>
                <a:latin typeface="Yu Gothic UI" panose="020B0500000000000000" pitchFamily="34" charset="-128"/>
                <a:ea typeface="Yu Gothic UI" panose="020B0500000000000000" pitchFamily="34" charset="-128"/>
              </a:rPr>
              <a:t>今回</a:t>
            </a:r>
            <a:r>
              <a:rPr lang="en-US" altLang="ja-JP" sz="1300">
                <a:solidFill>
                  <a:srgbClr val="566473"/>
                </a:solidFill>
                <a:latin typeface="Yu Gothic UI" panose="020B0500000000000000" pitchFamily="34" charset="-128"/>
                <a:ea typeface="Yu Gothic UI" panose="020B0500000000000000" pitchFamily="34" charset="-128"/>
              </a:rPr>
              <a:t>: </a:t>
            </a:r>
            <a:r>
              <a:rPr lang="ja-JP" altLang="en-US" sz="1300">
                <a:solidFill>
                  <a:srgbClr val="566473"/>
                </a:solidFill>
                <a:latin typeface="Yu Gothic UI" panose="020B0500000000000000" pitchFamily="34" charset="-128"/>
                <a:ea typeface="Yu Gothic UI" panose="020B0500000000000000" pitchFamily="34" charset="-128"/>
              </a:rPr>
              <a:t>ローカル </a:t>
            </a:r>
            <a:r>
              <a:rPr lang="en-US" altLang="ja-JP" sz="1300">
                <a:solidFill>
                  <a:srgbClr val="566473"/>
                </a:solidFill>
                <a:latin typeface="Yu Gothic UI" panose="020B0500000000000000" pitchFamily="34" charset="-128"/>
                <a:ea typeface="Yu Gothic UI" panose="020B0500000000000000" pitchFamily="34" charset="-128"/>
              </a:rPr>
              <a:t>PC</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52" name="source:role:0">
            <a:extLst>
              <a:ext uri="{FF2B5EF4-FFF2-40B4-BE49-F238E27FC236}">
                <a16:creationId xmlns:a16="http://schemas.microsoft.com/office/drawing/2014/main" id="{F00F96B6-1EDD-F24C-2561-254996C5F8D6}"/>
              </a:ext>
            </a:extLst>
          </p:cNvPr>
          <p:cNvSpPr/>
          <p:nvPr/>
        </p:nvSpPr>
        <p:spPr>
          <a:xfrm>
            <a:off x="584200" y="2324100"/>
            <a:ext cx="33020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700">
                <a:solidFill>
                  <a:srgbClr val="0B2430"/>
                </a:solidFill>
                <a:latin typeface="Yu Gothic UI" panose="020B0500000000000000" pitchFamily="34" charset="-128"/>
                <a:ea typeface="Yu Gothic UI" panose="020B0500000000000000" pitchFamily="34" charset="-128"/>
              </a:rPr>
              <a:t>デバイスアプリ</a:t>
            </a:r>
            <a:endParaRPr lang="en-US" sz="1700">
              <a:solidFill>
                <a:srgbClr val="0B2430"/>
              </a:solidFill>
              <a:latin typeface="Yu Gothic UI" panose="020B0500000000000000" pitchFamily="34" charset="-128"/>
              <a:ea typeface="Yu Gothic UI" panose="020B0500000000000000" pitchFamily="34" charset="-128"/>
            </a:endParaRPr>
          </a:p>
        </p:txBody>
      </p:sp>
      <p:sp>
        <p:nvSpPr>
          <p:cNvPr id="53" name="source:duty:0">
            <a:extLst>
              <a:ext uri="{FF2B5EF4-FFF2-40B4-BE49-F238E27FC236}">
                <a16:creationId xmlns:a16="http://schemas.microsoft.com/office/drawing/2014/main" id="{19BC3FFA-7E3B-3261-82A3-908B484A465F}"/>
              </a:ext>
            </a:extLst>
          </p:cNvPr>
          <p:cNvSpPr txBox="1"/>
          <p:nvPr/>
        </p:nvSpPr>
        <p:spPr>
          <a:xfrm>
            <a:off x="584200" y="3568699"/>
            <a:ext cx="3302000" cy="1028700"/>
          </a:xfrm>
          <a:prstGeom prst="rect">
            <a:avLst/>
          </a:prstGeom>
          <a:noFill/>
        </p:spPr>
        <p:txBody>
          <a:bodyPr vert="horz" wrap="square" lIns="0" tIns="0" rIns="0" bIns="0" rtlCol="0" anchor="t">
            <a:noAutofit/>
          </a:bodyPr>
          <a:lstStyle/>
          <a:p>
            <a:r>
              <a:rPr lang="ja-JP" altLang="en-US" sz="1600">
                <a:solidFill>
                  <a:srgbClr val="0B2430"/>
                </a:solidFill>
                <a:latin typeface="Yu Gothic UI" panose="020B0500000000000000" pitchFamily="34" charset="-128"/>
                <a:ea typeface="Yu Gothic UI" panose="020B0500000000000000" pitchFamily="34" charset="-128"/>
              </a:rPr>
              <a:t>測定値を作って送る。</a:t>
            </a:r>
          </a:p>
          <a:p>
            <a:r>
              <a:rPr lang="ja-JP" altLang="en-US" sz="1600">
                <a:solidFill>
                  <a:srgbClr val="0B2430"/>
                </a:solidFill>
                <a:latin typeface="Yu Gothic UI" panose="020B0500000000000000" pitchFamily="34" charset="-128"/>
                <a:ea typeface="Yu Gothic UI" panose="020B0500000000000000" pitchFamily="34" charset="-128"/>
              </a:rPr>
              <a:t>受け取った操作や設定変更を実行する</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54" name="diagram:location:1">
            <a:extLst>
              <a:ext uri="{FF2B5EF4-FFF2-40B4-BE49-F238E27FC236}">
                <a16:creationId xmlns:a16="http://schemas.microsoft.com/office/drawing/2014/main" id="{AC1010DB-7187-29AF-201A-A6ABDB1538F8}"/>
              </a:ext>
            </a:extLst>
          </p:cNvPr>
          <p:cNvSpPr txBox="1"/>
          <p:nvPr/>
        </p:nvSpPr>
        <p:spPr>
          <a:xfrm>
            <a:off x="4445000" y="1841499"/>
            <a:ext cx="3302000" cy="292100"/>
          </a:xfrm>
          <a:prstGeom prst="rect">
            <a:avLst/>
          </a:prstGeom>
          <a:noFill/>
        </p:spPr>
        <p:txBody>
          <a:bodyPr vert="horz" wrap="square" lIns="0" tIns="0" rIns="0" bIns="0" rtlCol="0" anchor="t">
            <a:noAutofit/>
          </a:bodyPr>
          <a:lstStyle/>
          <a:p>
            <a:pPr algn="ctr"/>
            <a:r>
              <a:rPr lang="en-US" sz="1300">
                <a:solidFill>
                  <a:srgbClr val="566473"/>
                </a:solidFill>
                <a:latin typeface="Yu Gothic UI" panose="020B0500000000000000" pitchFamily="34" charset="-128"/>
                <a:ea typeface="Yu Gothic UI" panose="020B0500000000000000" pitchFamily="34" charset="-128"/>
              </a:rPr>
              <a:t>Azure</a:t>
            </a:r>
          </a:p>
        </p:txBody>
      </p:sp>
      <p:sp>
        <p:nvSpPr>
          <p:cNvPr id="55" name="source:role:1">
            <a:extLst>
              <a:ext uri="{FF2B5EF4-FFF2-40B4-BE49-F238E27FC236}">
                <a16:creationId xmlns:a16="http://schemas.microsoft.com/office/drawing/2014/main" id="{8561E1DE-F1FE-1AAA-9A59-EAD08DC43490}"/>
              </a:ext>
            </a:extLst>
          </p:cNvPr>
          <p:cNvSpPr/>
          <p:nvPr/>
        </p:nvSpPr>
        <p:spPr>
          <a:xfrm>
            <a:off x="4445000" y="2324100"/>
            <a:ext cx="33020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700">
                <a:solidFill>
                  <a:srgbClr val="0B2430"/>
                </a:solidFill>
                <a:latin typeface="Yu Gothic UI" panose="020B0500000000000000" pitchFamily="34" charset="-128"/>
                <a:ea typeface="Yu Gothic UI" panose="020B0500000000000000" pitchFamily="34" charset="-128"/>
              </a:rPr>
              <a:t>Azure IoT Hub</a:t>
            </a:r>
          </a:p>
        </p:txBody>
      </p:sp>
      <p:sp>
        <p:nvSpPr>
          <p:cNvPr id="56" name="source:duty:1">
            <a:extLst>
              <a:ext uri="{FF2B5EF4-FFF2-40B4-BE49-F238E27FC236}">
                <a16:creationId xmlns:a16="http://schemas.microsoft.com/office/drawing/2014/main" id="{E743DB14-A7BC-0E0B-57A0-707E77C41849}"/>
              </a:ext>
            </a:extLst>
          </p:cNvPr>
          <p:cNvSpPr txBox="1"/>
          <p:nvPr/>
        </p:nvSpPr>
        <p:spPr>
          <a:xfrm>
            <a:off x="4445000" y="3568699"/>
            <a:ext cx="3302000" cy="1028700"/>
          </a:xfrm>
          <a:prstGeom prst="rect">
            <a:avLst/>
          </a:prstGeom>
          <a:noFill/>
        </p:spPr>
        <p:txBody>
          <a:bodyPr vert="horz" wrap="square" lIns="0" tIns="0" rIns="0" bIns="0" rtlCol="0" anchor="t">
            <a:noAutofit/>
          </a:bodyPr>
          <a:lstStyle/>
          <a:p>
            <a:r>
              <a:rPr lang="ja-JP" altLang="en-US" sz="1600">
                <a:solidFill>
                  <a:srgbClr val="0B2430"/>
                </a:solidFill>
                <a:latin typeface="Yu Gothic UI" panose="020B0500000000000000" pitchFamily="34" charset="-128"/>
                <a:ea typeface="Yu Gothic UI" panose="020B0500000000000000" pitchFamily="34" charset="-128"/>
              </a:rPr>
              <a:t>デバイスを認証し、</a:t>
            </a:r>
          </a:p>
          <a:p>
            <a:r>
              <a:rPr lang="ja-JP" altLang="en-US" sz="1600">
                <a:solidFill>
                  <a:srgbClr val="0B2430"/>
                </a:solidFill>
                <a:latin typeface="Yu Gothic UI" panose="020B0500000000000000" pitchFamily="34" charset="-128"/>
                <a:ea typeface="Yu Gothic UI" panose="020B0500000000000000" pitchFamily="34" charset="-128"/>
              </a:rPr>
              <a:t>デバイスとの通信と後続への配送を担う</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57" name="diagram:location:2">
            <a:extLst>
              <a:ext uri="{FF2B5EF4-FFF2-40B4-BE49-F238E27FC236}">
                <a16:creationId xmlns:a16="http://schemas.microsoft.com/office/drawing/2014/main" id="{45397125-765B-1E51-BBAC-2C3C25729D9F}"/>
              </a:ext>
            </a:extLst>
          </p:cNvPr>
          <p:cNvSpPr txBox="1"/>
          <p:nvPr/>
        </p:nvSpPr>
        <p:spPr>
          <a:xfrm>
            <a:off x="8305800" y="1841499"/>
            <a:ext cx="3302000" cy="292100"/>
          </a:xfrm>
          <a:prstGeom prst="rect">
            <a:avLst/>
          </a:prstGeom>
          <a:noFill/>
        </p:spPr>
        <p:txBody>
          <a:bodyPr vert="horz" wrap="square" lIns="0" tIns="0" rIns="0" bIns="0" rtlCol="0" anchor="t">
            <a:noAutofit/>
          </a:bodyPr>
          <a:lstStyle/>
          <a:p>
            <a:pPr algn="ctr"/>
            <a:r>
              <a:rPr lang="ja-JP" altLang="en-US" sz="1300">
                <a:solidFill>
                  <a:srgbClr val="566473"/>
                </a:solidFill>
                <a:latin typeface="Yu Gothic UI" panose="020B0500000000000000" pitchFamily="34" charset="-128"/>
                <a:ea typeface="Yu Gothic UI" panose="020B0500000000000000" pitchFamily="34" charset="-128"/>
              </a:rPr>
              <a:t>実行場所は任意</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58" name="source:role:2">
            <a:extLst>
              <a:ext uri="{FF2B5EF4-FFF2-40B4-BE49-F238E27FC236}">
                <a16:creationId xmlns:a16="http://schemas.microsoft.com/office/drawing/2014/main" id="{3FE266AE-0DA6-F58F-4701-3C69ADEFDEF0}"/>
              </a:ext>
            </a:extLst>
          </p:cNvPr>
          <p:cNvSpPr/>
          <p:nvPr/>
        </p:nvSpPr>
        <p:spPr>
          <a:xfrm>
            <a:off x="8305800" y="2324100"/>
            <a:ext cx="33020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700">
                <a:solidFill>
                  <a:srgbClr val="0B2430"/>
                </a:solidFill>
                <a:latin typeface="Yu Gothic UI" panose="020B0500000000000000" pitchFamily="34" charset="-128"/>
                <a:ea typeface="Yu Gothic UI" panose="020B0500000000000000" pitchFamily="34" charset="-128"/>
              </a:rPr>
              <a:t>バックエンドアプリ・ツール</a:t>
            </a:r>
            <a:endParaRPr lang="en-US" sz="1700">
              <a:solidFill>
                <a:srgbClr val="0B2430"/>
              </a:solidFill>
              <a:latin typeface="Yu Gothic UI" panose="020B0500000000000000" pitchFamily="34" charset="-128"/>
              <a:ea typeface="Yu Gothic UI" panose="020B0500000000000000" pitchFamily="34" charset="-128"/>
            </a:endParaRPr>
          </a:p>
        </p:txBody>
      </p:sp>
      <p:sp>
        <p:nvSpPr>
          <p:cNvPr id="59" name="source:duty:2">
            <a:extLst>
              <a:ext uri="{FF2B5EF4-FFF2-40B4-BE49-F238E27FC236}">
                <a16:creationId xmlns:a16="http://schemas.microsoft.com/office/drawing/2014/main" id="{562E4141-CD72-DDFA-0636-CE725C92FA38}"/>
              </a:ext>
            </a:extLst>
          </p:cNvPr>
          <p:cNvSpPr txBox="1"/>
          <p:nvPr/>
        </p:nvSpPr>
        <p:spPr>
          <a:xfrm>
            <a:off x="8305800" y="3568700"/>
            <a:ext cx="3302000" cy="1028700"/>
          </a:xfrm>
          <a:prstGeom prst="rect">
            <a:avLst/>
          </a:prstGeom>
          <a:noFill/>
        </p:spPr>
        <p:txBody>
          <a:bodyPr vert="horz" wrap="square" lIns="0" tIns="0" rIns="0" bIns="0" rtlCol="0" anchor="t">
            <a:noAutofit/>
          </a:bodyPr>
          <a:lstStyle/>
          <a:p>
            <a:r>
              <a:rPr lang="ja-JP" altLang="en-US" sz="1600">
                <a:solidFill>
                  <a:srgbClr val="0B2430"/>
                </a:solidFill>
                <a:latin typeface="Yu Gothic UI" panose="020B0500000000000000" pitchFamily="34" charset="-128"/>
                <a:ea typeface="Yu Gothic UI" panose="020B0500000000000000" pitchFamily="34" charset="-128"/>
              </a:rPr>
              <a:t>テレメトリを読み、</a:t>
            </a:r>
          </a:p>
          <a:p>
            <a:r>
              <a:rPr lang="ja-JP" altLang="en-US" sz="1600">
                <a:solidFill>
                  <a:srgbClr val="0B2430"/>
                </a:solidFill>
                <a:latin typeface="Yu Gothic UI" panose="020B0500000000000000" pitchFamily="34" charset="-128"/>
                <a:ea typeface="Yu Gothic UI" panose="020B0500000000000000" pitchFamily="34" charset="-128"/>
              </a:rPr>
              <a:t>保存・業務処理を行う。</a:t>
            </a:r>
          </a:p>
          <a:p>
            <a:r>
              <a:rPr lang="ja-JP" altLang="en-US" sz="1600">
                <a:solidFill>
                  <a:srgbClr val="0B2430"/>
                </a:solidFill>
                <a:latin typeface="Yu Gothic UI" panose="020B0500000000000000" pitchFamily="34" charset="-128"/>
                <a:ea typeface="Yu Gothic UI" panose="020B0500000000000000" pitchFamily="34" charset="-128"/>
              </a:rPr>
              <a:t>デバイスへの操作を要求する</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60" name="diagram:line">
            <a:extLst>
              <a:ext uri="{FF2B5EF4-FFF2-40B4-BE49-F238E27FC236}">
                <a16:creationId xmlns:a16="http://schemas.microsoft.com/office/drawing/2014/main" id="{BD774D9C-7901-6B3C-074A-BD4272F6344B}"/>
              </a:ext>
            </a:extLst>
          </p:cNvPr>
          <p:cNvCxnSpPr/>
          <p:nvPr/>
        </p:nvCxnSpPr>
        <p:spPr>
          <a:xfrm>
            <a:off x="3886200" y="2692400"/>
            <a:ext cx="5588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61" name="diagram:line">
            <a:extLst>
              <a:ext uri="{FF2B5EF4-FFF2-40B4-BE49-F238E27FC236}">
                <a16:creationId xmlns:a16="http://schemas.microsoft.com/office/drawing/2014/main" id="{DDDF6BCA-BC51-FB04-7329-F6FA3AFE94FA}"/>
              </a:ext>
            </a:extLst>
          </p:cNvPr>
          <p:cNvCxnSpPr/>
          <p:nvPr/>
        </p:nvCxnSpPr>
        <p:spPr>
          <a:xfrm>
            <a:off x="7747000" y="2692400"/>
            <a:ext cx="5588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62" name="diagram:send-label">
            <a:extLst>
              <a:ext uri="{FF2B5EF4-FFF2-40B4-BE49-F238E27FC236}">
                <a16:creationId xmlns:a16="http://schemas.microsoft.com/office/drawing/2014/main" id="{BF37081C-D0FE-DE05-71A6-C5A5CF141707}"/>
              </a:ext>
            </a:extLst>
          </p:cNvPr>
          <p:cNvSpPr txBox="1"/>
          <p:nvPr/>
        </p:nvSpPr>
        <p:spPr>
          <a:xfrm>
            <a:off x="3187700" y="2146299"/>
            <a:ext cx="2082800" cy="2286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温度・湿度を送信</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63" name="diagram:receive-label">
            <a:extLst>
              <a:ext uri="{FF2B5EF4-FFF2-40B4-BE49-F238E27FC236}">
                <a16:creationId xmlns:a16="http://schemas.microsoft.com/office/drawing/2014/main" id="{6D5FA9E5-8416-4F21-72E5-FDCAE930906C}"/>
              </a:ext>
            </a:extLst>
          </p:cNvPr>
          <p:cNvSpPr txBox="1"/>
          <p:nvPr/>
        </p:nvSpPr>
        <p:spPr>
          <a:xfrm>
            <a:off x="7023100" y="2146299"/>
            <a:ext cx="2095500" cy="2286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受信アプリが読み取り</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64" name="source:block:2">
            <a:extLst>
              <a:ext uri="{FF2B5EF4-FFF2-40B4-BE49-F238E27FC236}">
                <a16:creationId xmlns:a16="http://schemas.microsoft.com/office/drawing/2014/main" id="{22460244-061A-0F06-695F-EA65C1D9C127}"/>
              </a:ext>
            </a:extLst>
          </p:cNvPr>
          <p:cNvSpPr txBox="1"/>
          <p:nvPr/>
        </p:nvSpPr>
        <p:spPr>
          <a:xfrm>
            <a:off x="584200" y="4775200"/>
            <a:ext cx="11023600" cy="749300"/>
          </a:xfrm>
          <a:prstGeom prst="rect">
            <a:avLst/>
          </a:prstGeom>
          <a:noFill/>
        </p:spPr>
        <p:txBody>
          <a:bodyPr vert="horz" wrap="square" lIns="0" tIns="0" rIns="0" bIns="0" rtlCol="0" anchor="t">
            <a:noAutofit/>
          </a:bodyPr>
          <a:lstStyle/>
          <a:p>
            <a:r>
              <a:rPr lang="en-US" altLang="ja-JP" sz="1500">
                <a:solidFill>
                  <a:srgbClr val="0B2430"/>
                </a:solidFill>
                <a:latin typeface="Yu Gothic UI" panose="020B0500000000000000" pitchFamily="34" charset="-128"/>
                <a:ea typeface="Yu Gothic UI" panose="020B0500000000000000" pitchFamily="34" charset="-128"/>
              </a:rPr>
              <a:t>IoT Hub </a:t>
            </a:r>
            <a:r>
              <a:rPr lang="ja-JP" altLang="en-US" sz="1500">
                <a:solidFill>
                  <a:srgbClr val="0B2430"/>
                </a:solidFill>
                <a:latin typeface="Yu Gothic UI" panose="020B0500000000000000" pitchFamily="34" charset="-128"/>
                <a:ea typeface="Yu Gothic UI" panose="020B0500000000000000" pitchFamily="34" charset="-128"/>
              </a:rPr>
              <a:t>は接続・通信の基盤であり、長期保存・分析・デバイス上の処理はアプリや後続サービスと組み合わせる（</a:t>
            </a:r>
            <a:r>
              <a:rPr lang="en-US" altLang="ja-JP" sz="1500">
                <a:solidFill>
                  <a:srgbClr val="0B2430"/>
                </a:solidFill>
                <a:latin typeface="Yu Gothic UI" panose="020B0500000000000000" pitchFamily="34" charset="-128"/>
                <a:ea typeface="Yu Gothic UI" panose="020B0500000000000000" pitchFamily="34" charset="-128"/>
              </a:rPr>
              <a:t>[1]</a:t>
            </a:r>
            <a:r>
              <a:rPr lang="ja-JP" altLang="en-US" sz="1500">
                <a:solidFill>
                  <a:srgbClr val="0B2430"/>
                </a:solidFill>
                <a:latin typeface="Yu Gothic UI" panose="020B0500000000000000" pitchFamily="34" charset="-128"/>
                <a:ea typeface="Yu Gothic UI" panose="020B0500000000000000" pitchFamily="34" charset="-128"/>
              </a:rPr>
              <a:t>、</a:t>
            </a:r>
            <a:r>
              <a:rPr lang="en-US" altLang="ja-JP" sz="1500">
                <a:solidFill>
                  <a:srgbClr val="0B2430"/>
                </a:solidFill>
                <a:latin typeface="Yu Gothic UI" panose="020B0500000000000000" pitchFamily="34" charset="-128"/>
                <a:ea typeface="Yu Gothic UI" panose="020B0500000000000000" pitchFamily="34" charset="-128"/>
              </a:rPr>
              <a:t>[2]</a:t>
            </a:r>
            <a:r>
              <a:rPr lang="ja-JP" altLang="en-US" sz="1500">
                <a:solidFill>
                  <a:srgbClr val="0B2430"/>
                </a:solidFill>
                <a:latin typeface="Yu Gothic UI" panose="020B0500000000000000" pitchFamily="34" charset="-128"/>
                <a:ea typeface="Yu Gothic UI" panose="020B0500000000000000" pitchFamily="34" charset="-128"/>
              </a:rPr>
              <a:t>）。</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65" name="source:block:3">
            <a:extLst>
              <a:ext uri="{FF2B5EF4-FFF2-40B4-BE49-F238E27FC236}">
                <a16:creationId xmlns:a16="http://schemas.microsoft.com/office/drawing/2014/main" id="{9C346CC3-1A65-ED30-6274-982423FA24A5}"/>
              </a:ext>
            </a:extLst>
          </p:cNvPr>
          <p:cNvSpPr txBox="1"/>
          <p:nvPr/>
        </p:nvSpPr>
        <p:spPr>
          <a:xfrm>
            <a:off x="584200" y="5702300"/>
            <a:ext cx="11023600" cy="368300"/>
          </a:xfrm>
          <a:prstGeom prst="rect">
            <a:avLst/>
          </a:prstGeom>
          <a:noFill/>
        </p:spPr>
        <p:txBody>
          <a:bodyPr vert="horz" wrap="square" lIns="0" tIns="0" rIns="0" bIns="0" rtlCol="0" anchor="t">
            <a:noAutofit/>
          </a:bodyPr>
          <a:lstStyle/>
          <a:p>
            <a:r>
              <a:rPr lang="ja-JP" altLang="en-US" sz="1700" b="1">
                <a:solidFill>
                  <a:srgbClr val="0078D4"/>
                </a:solidFill>
                <a:latin typeface="Yu Gothic UI" panose="020B0500000000000000" pitchFamily="34" charset="-128"/>
                <a:ea typeface="Yu Gothic UI" panose="020B0500000000000000" pitchFamily="34" charset="-128"/>
              </a:rPr>
              <a:t>今回</a:t>
            </a:r>
            <a:r>
              <a:rPr lang="en-US" altLang="ja-JP" sz="1700" b="1">
                <a:solidFill>
                  <a:srgbClr val="0078D4"/>
                </a:solidFill>
                <a:latin typeface="Yu Gothic UI" panose="020B0500000000000000" pitchFamily="34" charset="-128"/>
                <a:ea typeface="Yu Gothic UI" panose="020B0500000000000000" pitchFamily="34" charset="-128"/>
              </a:rPr>
              <a:t>: </a:t>
            </a:r>
            <a:r>
              <a:rPr lang="ja-JP" altLang="en-US" sz="1700" b="1">
                <a:solidFill>
                  <a:srgbClr val="0078D4"/>
                </a:solidFill>
                <a:latin typeface="Yu Gothic UI" panose="020B0500000000000000" pitchFamily="34" charset="-128"/>
                <a:ea typeface="Yu Gothic UI" panose="020B0500000000000000" pitchFamily="34" charset="-128"/>
              </a:rPr>
              <a:t>温度センサー役のローカル </a:t>
            </a:r>
            <a:r>
              <a:rPr lang="en-US" altLang="ja-JP" sz="1700" b="1">
                <a:solidFill>
                  <a:srgbClr val="0078D4"/>
                </a:solidFill>
                <a:latin typeface="Yu Gothic UI" panose="020B0500000000000000" pitchFamily="34" charset="-128"/>
                <a:ea typeface="Yu Gothic UI" panose="020B0500000000000000" pitchFamily="34" charset="-128"/>
              </a:rPr>
              <a:t>PC → IoT Hub → </a:t>
            </a:r>
            <a:r>
              <a:rPr lang="ja-JP" altLang="en-US" sz="1700" b="1">
                <a:solidFill>
                  <a:srgbClr val="0078D4"/>
                </a:solidFill>
                <a:latin typeface="Yu Gothic UI" panose="020B0500000000000000" pitchFamily="34" charset="-128"/>
                <a:ea typeface="Yu Gothic UI" panose="020B0500000000000000" pitchFamily="34" charset="-128"/>
              </a:rPr>
              <a:t>受信ツール。</a:t>
            </a:r>
            <a:endParaRPr lang="en-US" sz="1700" b="1">
              <a:solidFill>
                <a:srgbClr val="0078D4"/>
              </a:solidFill>
              <a:latin typeface="Yu Gothic UI" panose="020B0500000000000000" pitchFamily="34" charset="-128"/>
              <a:ea typeface="Yu Gothic UI" panose="020B0500000000000000" pitchFamily="34" charset="-128"/>
            </a:endParaRPr>
          </a:p>
        </p:txBody>
      </p:sp>
      <p:sp>
        <p:nvSpPr>
          <p:cNvPr id="66" name="diagram:scope">
            <a:extLst>
              <a:ext uri="{FF2B5EF4-FFF2-40B4-BE49-F238E27FC236}">
                <a16:creationId xmlns:a16="http://schemas.microsoft.com/office/drawing/2014/main" id="{0C4AC3B6-FB33-97C4-97D9-71BE7787A57F}"/>
              </a:ext>
            </a:extLst>
          </p:cNvPr>
          <p:cNvSpPr txBox="1"/>
          <p:nvPr/>
        </p:nvSpPr>
        <p:spPr>
          <a:xfrm>
            <a:off x="8305800" y="4521199"/>
            <a:ext cx="33020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保存・分析は今回の受信確認とは別</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67" name="citation:1">
            <a:extLst>
              <a:ext uri="{FF2B5EF4-FFF2-40B4-BE49-F238E27FC236}">
                <a16:creationId xmlns:a16="http://schemas.microsoft.com/office/drawing/2014/main" id="{1D93D473-6A9F-6017-28E5-BDC1732C80A0}"/>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3"/>
              </a:rPr>
              <a:t>[1] IoT Hub </a:t>
            </a:r>
            <a:r>
              <a:rPr lang="ja-JP" altLang="en-US" sz="950">
                <a:solidFill>
                  <a:srgbClr val="566473"/>
                </a:solidFill>
                <a:latin typeface="Yu Gothic UI" panose="020B0500000000000000" pitchFamily="34" charset="-128"/>
                <a:ea typeface="Yu Gothic UI" panose="020B0500000000000000" pitchFamily="34" charset="-128"/>
                <a:hlinkClick r:id="rId3"/>
              </a:rPr>
              <a:t>の概要</a:t>
            </a:r>
            <a:endParaRPr lang="en-US" sz="950">
              <a:solidFill>
                <a:srgbClr val="566473"/>
              </a:solidFill>
              <a:latin typeface="Yu Gothic UI" panose="020B0500000000000000" pitchFamily="34" charset="-128"/>
              <a:ea typeface="Yu Gothic UI" panose="020B0500000000000000" pitchFamily="34" charset="-128"/>
            </a:endParaRPr>
          </a:p>
        </p:txBody>
      </p:sp>
      <p:sp>
        <p:nvSpPr>
          <p:cNvPr id="68" name="citation:2">
            <a:extLst>
              <a:ext uri="{FF2B5EF4-FFF2-40B4-BE49-F238E27FC236}">
                <a16:creationId xmlns:a16="http://schemas.microsoft.com/office/drawing/2014/main" id="{DC6B7AF9-C3B7-08EE-B731-D396C520B8CB}"/>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rPr>
              <a:t>[2] </a:t>
            </a:r>
            <a:r>
              <a:rPr lang="ja-JP" altLang="en-US" sz="950">
                <a:solidFill>
                  <a:srgbClr val="566473"/>
                </a:solidFill>
                <a:latin typeface="Yu Gothic UI" panose="020B0500000000000000" pitchFamily="34" charset="-128"/>
                <a:ea typeface="Yu Gothic UI" panose="020B0500000000000000" pitchFamily="34" charset="-128"/>
                <a:hlinkClick r:id="rId4"/>
              </a:rPr>
              <a:t>デバイスとサービスの </a:t>
            </a:r>
            <a:r>
              <a:rPr lang="en-US" altLang="ja-JP" sz="950">
                <a:solidFill>
                  <a:srgbClr val="566473"/>
                </a:solidFill>
                <a:latin typeface="Yu Gothic UI" panose="020B0500000000000000" pitchFamily="34" charset="-128"/>
                <a:ea typeface="Yu Gothic UI" panose="020B0500000000000000" pitchFamily="34" charset="-128"/>
                <a:hlinkClick r:id="rId4"/>
              </a:rPr>
              <a:t>SDK</a:t>
            </a:r>
            <a:endParaRPr lang="en-US" sz="950">
              <a:solidFill>
                <a:srgbClr val="566473"/>
              </a:solidFill>
              <a:latin typeface="Yu Gothic UI" panose="020B0500000000000000" pitchFamily="34" charset="-128"/>
              <a:ea typeface="Yu Gothic UI" panose="020B0500000000000000"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Hub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作成からデバイス接続までの手順</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2</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1D84A0F5-6032-9434-D183-833FCC0128C0}"/>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en-US" altLang="ja-JP" sz="1600" b="1">
                <a:solidFill>
                  <a:srgbClr val="0B2430"/>
                </a:solidFill>
                <a:latin typeface="Yu Gothic UI" panose="020B0500000000000000" pitchFamily="34" charset="-128"/>
                <a:ea typeface="Yu Gothic UI" panose="020B0500000000000000" pitchFamily="34" charset="-128"/>
              </a:rPr>
              <a:t>Hub </a:t>
            </a:r>
            <a:r>
              <a:rPr lang="ja-JP" altLang="en-US" sz="1600" b="1">
                <a:solidFill>
                  <a:srgbClr val="0B2430"/>
                </a:solidFill>
                <a:latin typeface="Yu Gothic UI" panose="020B0500000000000000" pitchFamily="34" charset="-128"/>
                <a:ea typeface="Yu Gothic UI" panose="020B0500000000000000" pitchFamily="34" charset="-128"/>
              </a:rPr>
              <a:t>と </a:t>
            </a:r>
            <a:r>
              <a:rPr lang="en-US" altLang="ja-JP" sz="1600" b="1">
                <a:solidFill>
                  <a:srgbClr val="0B2430"/>
                </a:solidFill>
                <a:latin typeface="Yu Gothic UI" panose="020B0500000000000000" pitchFamily="34" charset="-128"/>
                <a:ea typeface="Yu Gothic UI" panose="020B0500000000000000" pitchFamily="34" charset="-128"/>
              </a:rPr>
              <a:t>Device ID </a:t>
            </a:r>
            <a:r>
              <a:rPr lang="ja-JP" altLang="en-US" sz="1600" b="1">
                <a:solidFill>
                  <a:srgbClr val="0B2430"/>
                </a:solidFill>
                <a:latin typeface="Yu Gothic UI" panose="020B0500000000000000" pitchFamily="34" charset="-128"/>
                <a:ea typeface="Yu Gothic UI" panose="020B0500000000000000" pitchFamily="34" charset="-128"/>
              </a:rPr>
              <a:t>を作っても、デバイスアプリが自動で接続するわけではない。</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diagram:phase:0">
            <a:extLst>
              <a:ext uri="{FF2B5EF4-FFF2-40B4-BE49-F238E27FC236}">
                <a16:creationId xmlns:a16="http://schemas.microsoft.com/office/drawing/2014/main" id="{B9FFC84E-4563-D234-B8C6-B209D59AD75A}"/>
              </a:ext>
            </a:extLst>
          </p:cNvPr>
          <p:cNvSpPr txBox="1"/>
          <p:nvPr/>
        </p:nvSpPr>
        <p:spPr>
          <a:xfrm>
            <a:off x="584200" y="1600200"/>
            <a:ext cx="4254500" cy="279400"/>
          </a:xfrm>
          <a:prstGeom prst="rect">
            <a:avLst/>
          </a:prstGeom>
          <a:noFill/>
        </p:spPr>
        <p:txBody>
          <a:bodyPr vert="horz" wrap="square" lIns="0" tIns="0" rIns="0" bIns="0" rtlCol="0" anchor="t">
            <a:noAutofit/>
          </a:bodyPr>
          <a:lstStyle/>
          <a:p>
            <a:r>
              <a:rPr lang="ja-JP" altLang="en-US" sz="1400">
                <a:solidFill>
                  <a:srgbClr val="0078D4"/>
                </a:solidFill>
                <a:latin typeface="Yu Gothic UI" panose="020B0500000000000000" pitchFamily="34" charset="-128"/>
                <a:ea typeface="Yu Gothic UI" panose="020B0500000000000000" pitchFamily="34" charset="-128"/>
              </a:rPr>
              <a:t>クラウド側の準備</a:t>
            </a:r>
            <a:endParaRPr lang="en-US" sz="1400">
              <a:solidFill>
                <a:srgbClr val="0078D4"/>
              </a:solidFill>
              <a:latin typeface="Yu Gothic UI" panose="020B0500000000000000" pitchFamily="34" charset="-128"/>
              <a:ea typeface="Yu Gothic UI" panose="020B0500000000000000" pitchFamily="34" charset="-128"/>
            </a:endParaRPr>
          </a:p>
        </p:txBody>
      </p:sp>
      <p:sp>
        <p:nvSpPr>
          <p:cNvPr id="8" name="diagram:phase:1">
            <a:extLst>
              <a:ext uri="{FF2B5EF4-FFF2-40B4-BE49-F238E27FC236}">
                <a16:creationId xmlns:a16="http://schemas.microsoft.com/office/drawing/2014/main" id="{C29E8B8C-EB0E-071E-DB6F-6B36C0C3467F}"/>
              </a:ext>
            </a:extLst>
          </p:cNvPr>
          <p:cNvSpPr txBox="1"/>
          <p:nvPr/>
        </p:nvSpPr>
        <p:spPr>
          <a:xfrm>
            <a:off x="5092700" y="1600200"/>
            <a:ext cx="1993900" cy="279400"/>
          </a:xfrm>
          <a:prstGeom prst="rect">
            <a:avLst/>
          </a:prstGeom>
          <a:noFill/>
        </p:spPr>
        <p:txBody>
          <a:bodyPr vert="horz" wrap="square" lIns="0" tIns="0" rIns="0" bIns="0" rtlCol="0" anchor="t">
            <a:noAutofit/>
          </a:bodyPr>
          <a:lstStyle/>
          <a:p>
            <a:r>
              <a:rPr lang="ja-JP" altLang="en-US" sz="1400">
                <a:solidFill>
                  <a:srgbClr val="0078D4"/>
                </a:solidFill>
                <a:latin typeface="Yu Gothic UI" panose="020B0500000000000000" pitchFamily="34" charset="-128"/>
                <a:ea typeface="Yu Gothic UI" panose="020B0500000000000000" pitchFamily="34" charset="-128"/>
              </a:rPr>
              <a:t>アプリの準備</a:t>
            </a:r>
            <a:endParaRPr lang="en-US" sz="1400">
              <a:solidFill>
                <a:srgbClr val="0078D4"/>
              </a:solidFill>
              <a:latin typeface="Yu Gothic UI" panose="020B0500000000000000" pitchFamily="34" charset="-128"/>
              <a:ea typeface="Yu Gothic UI" panose="020B0500000000000000" pitchFamily="34" charset="-128"/>
            </a:endParaRPr>
          </a:p>
        </p:txBody>
      </p:sp>
      <p:sp>
        <p:nvSpPr>
          <p:cNvPr id="9" name="diagram:phase:2">
            <a:extLst>
              <a:ext uri="{FF2B5EF4-FFF2-40B4-BE49-F238E27FC236}">
                <a16:creationId xmlns:a16="http://schemas.microsoft.com/office/drawing/2014/main" id="{0098DDA9-5F02-AE5D-5EA1-CD07E53F51AF}"/>
              </a:ext>
            </a:extLst>
          </p:cNvPr>
          <p:cNvSpPr txBox="1"/>
          <p:nvPr/>
        </p:nvSpPr>
        <p:spPr>
          <a:xfrm>
            <a:off x="7340600" y="1600200"/>
            <a:ext cx="4267200" cy="279400"/>
          </a:xfrm>
          <a:prstGeom prst="rect">
            <a:avLst/>
          </a:prstGeom>
          <a:noFill/>
        </p:spPr>
        <p:txBody>
          <a:bodyPr vert="horz" wrap="square" lIns="0" tIns="0" rIns="0" bIns="0" rtlCol="0" anchor="t">
            <a:noAutofit/>
          </a:bodyPr>
          <a:lstStyle/>
          <a:p>
            <a:r>
              <a:rPr lang="ja-JP" altLang="en-US" sz="1400">
                <a:solidFill>
                  <a:srgbClr val="0078D4"/>
                </a:solidFill>
                <a:latin typeface="Yu Gothic UI" panose="020B0500000000000000" pitchFamily="34" charset="-128"/>
                <a:ea typeface="Yu Gothic UI" panose="020B0500000000000000" pitchFamily="34" charset="-128"/>
              </a:rPr>
              <a:t>実行と確認</a:t>
            </a:r>
            <a:endParaRPr lang="en-US" sz="1400">
              <a:solidFill>
                <a:srgbClr val="0078D4"/>
              </a:solidFill>
              <a:latin typeface="Yu Gothic UI" panose="020B0500000000000000" pitchFamily="34" charset="-128"/>
              <a:ea typeface="Yu Gothic UI" panose="020B0500000000000000" pitchFamily="34" charset="-128"/>
            </a:endParaRPr>
          </a:p>
        </p:txBody>
      </p:sp>
      <p:sp>
        <p:nvSpPr>
          <p:cNvPr id="10" name="source:heading:0">
            <a:extLst>
              <a:ext uri="{FF2B5EF4-FFF2-40B4-BE49-F238E27FC236}">
                <a16:creationId xmlns:a16="http://schemas.microsoft.com/office/drawing/2014/main" id="{6EE885CA-9EC8-C539-CE88-A2A52FF0C434}"/>
              </a:ext>
            </a:extLst>
          </p:cNvPr>
          <p:cNvSpPr txBox="1"/>
          <p:nvPr/>
        </p:nvSpPr>
        <p:spPr>
          <a:xfrm>
            <a:off x="584200" y="1917699"/>
            <a:ext cx="3175000" cy="2286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段階</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1" name="source:heading:1">
            <a:extLst>
              <a:ext uri="{FF2B5EF4-FFF2-40B4-BE49-F238E27FC236}">
                <a16:creationId xmlns:a16="http://schemas.microsoft.com/office/drawing/2014/main" id="{E7211397-D8FB-E866-2459-4BEB9BC17149}"/>
              </a:ext>
            </a:extLst>
          </p:cNvPr>
          <p:cNvSpPr txBox="1"/>
          <p:nvPr/>
        </p:nvSpPr>
        <p:spPr>
          <a:xfrm>
            <a:off x="584200" y="2895599"/>
            <a:ext cx="5715000" cy="2286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誰が何をするか</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2" name="source:heading:2">
            <a:extLst>
              <a:ext uri="{FF2B5EF4-FFF2-40B4-BE49-F238E27FC236}">
                <a16:creationId xmlns:a16="http://schemas.microsoft.com/office/drawing/2014/main" id="{25182BBB-CBD3-DE24-CE5A-AEC5F7AC1491}"/>
              </a:ext>
            </a:extLst>
          </p:cNvPr>
          <p:cNvSpPr txBox="1"/>
          <p:nvPr/>
        </p:nvSpPr>
        <p:spPr>
          <a:xfrm>
            <a:off x="584200" y="4241799"/>
            <a:ext cx="6350000" cy="2286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この段階で用意・確認できること</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3" name="source:step:0">
            <a:extLst>
              <a:ext uri="{FF2B5EF4-FFF2-40B4-BE49-F238E27FC236}">
                <a16:creationId xmlns:a16="http://schemas.microsoft.com/office/drawing/2014/main" id="{BBD8FB76-EB81-0208-FCD8-CF337370A96E}"/>
              </a:ext>
            </a:extLst>
          </p:cNvPr>
          <p:cNvSpPr/>
          <p:nvPr/>
        </p:nvSpPr>
        <p:spPr>
          <a:xfrm>
            <a:off x="58420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400">
                <a:solidFill>
                  <a:srgbClr val="0B2430"/>
                </a:solidFill>
                <a:latin typeface="Yu Gothic UI" panose="020B0500000000000000" pitchFamily="34" charset="-128"/>
                <a:ea typeface="Yu Gothic UI" panose="020B0500000000000000" pitchFamily="34" charset="-128"/>
              </a:rPr>
              <a:t>1. Hub </a:t>
            </a:r>
            <a:r>
              <a:rPr lang="ja-JP" altLang="en-US" sz="1400">
                <a:solidFill>
                  <a:srgbClr val="0B2430"/>
                </a:solidFill>
                <a:latin typeface="Yu Gothic UI" panose="020B0500000000000000" pitchFamily="34" charset="-128"/>
                <a:ea typeface="Yu Gothic UI" panose="020B0500000000000000" pitchFamily="34" charset="-128"/>
              </a:rPr>
              <a:t>作成</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4" name="source:actor:0">
            <a:extLst>
              <a:ext uri="{FF2B5EF4-FFF2-40B4-BE49-F238E27FC236}">
                <a16:creationId xmlns:a16="http://schemas.microsoft.com/office/drawing/2014/main" id="{F35D5B14-F1D4-43BB-C2DE-B0751F1E1E12}"/>
              </a:ext>
            </a:extLst>
          </p:cNvPr>
          <p:cNvSpPr txBox="1"/>
          <p:nvPr/>
        </p:nvSpPr>
        <p:spPr>
          <a:xfrm>
            <a:off x="58420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管理者が</a:t>
            </a:r>
            <a:r>
              <a:rPr lang="en-US" altLang="ja-JP" sz="1500">
                <a:solidFill>
                  <a:srgbClr val="0B2430"/>
                </a:solidFill>
                <a:latin typeface="Yu Gothic UI" panose="020B0500000000000000" pitchFamily="34" charset="-128"/>
                <a:ea typeface="Yu Gothic UI" panose="020B0500000000000000" pitchFamily="34" charset="-128"/>
              </a:rPr>
              <a:t>Azure</a:t>
            </a:r>
            <a:r>
              <a:rPr lang="ja-JP" altLang="en-US" sz="1500">
                <a:solidFill>
                  <a:srgbClr val="0B2430"/>
                </a:solidFill>
                <a:latin typeface="Yu Gothic UI" panose="020B0500000000000000" pitchFamily="34" charset="-128"/>
                <a:ea typeface="Yu Gothic UI" panose="020B0500000000000000" pitchFamily="34" charset="-128"/>
              </a:rPr>
              <a:t>に</a:t>
            </a:r>
            <a:r>
              <a:rPr lang="en-US" altLang="ja-JP" sz="1500">
                <a:solidFill>
                  <a:srgbClr val="0B2430"/>
                </a:solidFill>
                <a:latin typeface="Yu Gothic UI" panose="020B0500000000000000" pitchFamily="34" charset="-128"/>
                <a:ea typeface="Yu Gothic UI" panose="020B0500000000000000" pitchFamily="34" charset="-128"/>
              </a:rPr>
              <a:t>IoT Hub</a:t>
            </a:r>
            <a:r>
              <a:rPr lang="ja-JP" altLang="en-US" sz="1500">
                <a:solidFill>
                  <a:srgbClr val="0B2430"/>
                </a:solidFill>
                <a:latin typeface="Yu Gothic UI" panose="020B0500000000000000" pitchFamily="34" charset="-128"/>
                <a:ea typeface="Yu Gothic UI" panose="020B0500000000000000" pitchFamily="34" charset="-128"/>
              </a:rPr>
              <a:t>を作る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5" name="source:result:0">
            <a:extLst>
              <a:ext uri="{FF2B5EF4-FFF2-40B4-BE49-F238E27FC236}">
                <a16:creationId xmlns:a16="http://schemas.microsoft.com/office/drawing/2014/main" id="{D29B4CFD-511B-1581-50B7-21E1EF892439}"/>
              </a:ext>
            </a:extLst>
          </p:cNvPr>
          <p:cNvSpPr txBox="1"/>
          <p:nvPr/>
        </p:nvSpPr>
        <p:spPr>
          <a:xfrm>
            <a:off x="584200" y="4559300"/>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接続先の</a:t>
            </a:r>
            <a:r>
              <a:rPr lang="en-US" sz="1400">
                <a:solidFill>
                  <a:srgbClr val="0B2430"/>
                </a:solidFill>
                <a:latin typeface="Yu Gothic UI" panose="020B0500000000000000" pitchFamily="34" charset="-128"/>
                <a:ea typeface="Yu Gothic UI" panose="020B0500000000000000" pitchFamily="34" charset="-128"/>
              </a:rPr>
              <a:t>Hub</a:t>
            </a:r>
          </a:p>
        </p:txBody>
      </p:sp>
      <p:cxnSp>
        <p:nvCxnSpPr>
          <p:cNvPr id="16" name="diagram:line">
            <a:extLst>
              <a:ext uri="{FF2B5EF4-FFF2-40B4-BE49-F238E27FC236}">
                <a16:creationId xmlns:a16="http://schemas.microsoft.com/office/drawing/2014/main" id="{C47FCBE5-8AB7-185F-66C0-11AFB973B72C}"/>
              </a:ext>
            </a:extLst>
          </p:cNvPr>
          <p:cNvCxnSpPr/>
          <p:nvPr/>
        </p:nvCxnSpPr>
        <p:spPr>
          <a:xfrm>
            <a:off x="2590800" y="2501900"/>
            <a:ext cx="24765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7" name="source:step:1">
            <a:extLst>
              <a:ext uri="{FF2B5EF4-FFF2-40B4-BE49-F238E27FC236}">
                <a16:creationId xmlns:a16="http://schemas.microsoft.com/office/drawing/2014/main" id="{C897F1FB-32CA-9AFB-E749-1B130BAE8327}"/>
              </a:ext>
            </a:extLst>
          </p:cNvPr>
          <p:cNvSpPr/>
          <p:nvPr/>
        </p:nvSpPr>
        <p:spPr>
          <a:xfrm>
            <a:off x="283845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400">
                <a:solidFill>
                  <a:srgbClr val="0B2430"/>
                </a:solidFill>
                <a:latin typeface="Yu Gothic UI" panose="020B0500000000000000" pitchFamily="34" charset="-128"/>
                <a:ea typeface="Yu Gothic UI" panose="020B0500000000000000" pitchFamily="34" charset="-128"/>
              </a:rPr>
              <a:t>2. </a:t>
            </a:r>
            <a:r>
              <a:rPr lang="ja-JP" altLang="en-US" sz="1400">
                <a:solidFill>
                  <a:srgbClr val="0B2430"/>
                </a:solidFill>
                <a:latin typeface="Yu Gothic UI" panose="020B0500000000000000" pitchFamily="34" charset="-128"/>
                <a:ea typeface="Yu Gothic UI" panose="020B0500000000000000" pitchFamily="34" charset="-128"/>
              </a:rPr>
              <a:t>デバイス登録</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8" name="source:actor:1">
            <a:extLst>
              <a:ext uri="{FF2B5EF4-FFF2-40B4-BE49-F238E27FC236}">
                <a16:creationId xmlns:a16="http://schemas.microsoft.com/office/drawing/2014/main" id="{06DFFF1E-5ECF-BB5E-6862-C681BB41BB6F}"/>
              </a:ext>
            </a:extLst>
          </p:cNvPr>
          <p:cNvSpPr txBox="1"/>
          <p:nvPr/>
        </p:nvSpPr>
        <p:spPr>
          <a:xfrm>
            <a:off x="283845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登録担当が</a:t>
            </a:r>
            <a:r>
              <a:rPr lang="en-US" altLang="ja-JP" sz="1500">
                <a:solidFill>
                  <a:srgbClr val="0B2430"/>
                </a:solidFill>
                <a:latin typeface="Yu Gothic UI" panose="020B0500000000000000" pitchFamily="34" charset="-128"/>
                <a:ea typeface="Yu Gothic UI" panose="020B0500000000000000" pitchFamily="34" charset="-128"/>
              </a:rPr>
              <a:t>Hub</a:t>
            </a:r>
            <a:r>
              <a:rPr lang="ja-JP" altLang="en-US" sz="1500">
                <a:solidFill>
                  <a:srgbClr val="0B2430"/>
                </a:solidFill>
                <a:latin typeface="Yu Gothic UI" panose="020B0500000000000000" pitchFamily="34" charset="-128"/>
                <a:ea typeface="Yu Gothic UI" panose="020B0500000000000000" pitchFamily="34" charset="-128"/>
              </a:rPr>
              <a:t>に</a:t>
            </a:r>
          </a:p>
          <a:p>
            <a:r>
              <a:rPr lang="en-US" altLang="ja-JP" sz="1500">
                <a:solidFill>
                  <a:srgbClr val="0B2430"/>
                </a:solidFill>
                <a:latin typeface="Yu Gothic UI" panose="020B0500000000000000" pitchFamily="34" charset="-128"/>
                <a:ea typeface="Yu Gothic UI" panose="020B0500000000000000" pitchFamily="34" charset="-128"/>
              </a:rPr>
              <a:t>ID</a:t>
            </a:r>
            <a:r>
              <a:rPr lang="ja-JP" altLang="en-US" sz="1500">
                <a:solidFill>
                  <a:srgbClr val="0B2430"/>
                </a:solidFill>
                <a:latin typeface="Yu Gothic UI" panose="020B0500000000000000" pitchFamily="34" charset="-128"/>
                <a:ea typeface="Yu Gothic UI" panose="020B0500000000000000" pitchFamily="34" charset="-128"/>
              </a:rPr>
              <a:t>と認証方式を登録する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9" name="source:result:1">
            <a:extLst>
              <a:ext uri="{FF2B5EF4-FFF2-40B4-BE49-F238E27FC236}">
                <a16:creationId xmlns:a16="http://schemas.microsoft.com/office/drawing/2014/main" id="{670FF04F-2911-AEF6-0F45-169B4194B43B}"/>
              </a:ext>
            </a:extLst>
          </p:cNvPr>
          <p:cNvSpPr txBox="1"/>
          <p:nvPr/>
        </p:nvSpPr>
        <p:spPr>
          <a:xfrm>
            <a:off x="2838450" y="4559299"/>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その</a:t>
            </a:r>
            <a:r>
              <a:rPr lang="en-US" altLang="ja-JP" sz="1400">
                <a:solidFill>
                  <a:srgbClr val="0B2430"/>
                </a:solidFill>
                <a:latin typeface="Yu Gothic UI" panose="020B0500000000000000" pitchFamily="34" charset="-128"/>
                <a:ea typeface="Yu Gothic UI" panose="020B0500000000000000" pitchFamily="34" charset="-128"/>
              </a:rPr>
              <a:t>Hub</a:t>
            </a:r>
            <a:r>
              <a:rPr lang="ja-JP" altLang="en-US" sz="1400">
                <a:solidFill>
                  <a:srgbClr val="0B2430"/>
                </a:solidFill>
                <a:latin typeface="Yu Gothic UI" panose="020B0500000000000000" pitchFamily="34" charset="-128"/>
                <a:ea typeface="Yu Gothic UI" panose="020B0500000000000000" pitchFamily="34" charset="-128"/>
              </a:rPr>
              <a:t>で受け入れる</a:t>
            </a:r>
          </a:p>
          <a:p>
            <a:r>
              <a:rPr lang="ja-JP" altLang="en-US" sz="1400">
                <a:solidFill>
                  <a:srgbClr val="0B2430"/>
                </a:solidFill>
                <a:latin typeface="Yu Gothic UI" panose="020B0500000000000000" pitchFamily="34" charset="-128"/>
                <a:ea typeface="Yu Gothic UI" panose="020B0500000000000000" pitchFamily="34" charset="-128"/>
              </a:rPr>
              <a:t>デバイスの情報</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20" name="diagram:line">
            <a:extLst>
              <a:ext uri="{FF2B5EF4-FFF2-40B4-BE49-F238E27FC236}">
                <a16:creationId xmlns:a16="http://schemas.microsoft.com/office/drawing/2014/main" id="{A2663837-C1DB-EC54-9052-CC02CAEDCEB1}"/>
              </a:ext>
            </a:extLst>
          </p:cNvPr>
          <p:cNvCxnSpPr/>
          <p:nvPr/>
        </p:nvCxnSpPr>
        <p:spPr>
          <a:xfrm>
            <a:off x="4845050" y="2501900"/>
            <a:ext cx="24765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21" name="source:step:2">
            <a:extLst>
              <a:ext uri="{FF2B5EF4-FFF2-40B4-BE49-F238E27FC236}">
                <a16:creationId xmlns:a16="http://schemas.microsoft.com/office/drawing/2014/main" id="{5E659040-E457-4760-511E-84FA8EE0B2F9}"/>
              </a:ext>
            </a:extLst>
          </p:cNvPr>
          <p:cNvSpPr/>
          <p:nvPr/>
        </p:nvSpPr>
        <p:spPr>
          <a:xfrm>
            <a:off x="509270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400">
                <a:solidFill>
                  <a:srgbClr val="0B2430"/>
                </a:solidFill>
                <a:latin typeface="Yu Gothic UI" panose="020B0500000000000000" pitchFamily="34" charset="-128"/>
                <a:ea typeface="Yu Gothic UI" panose="020B0500000000000000" pitchFamily="34" charset="-128"/>
              </a:rPr>
              <a:t>3. </a:t>
            </a:r>
            <a:r>
              <a:rPr lang="ja-JP" altLang="en-US" sz="1400">
                <a:solidFill>
                  <a:srgbClr val="0B2430"/>
                </a:solidFill>
                <a:latin typeface="Yu Gothic UI" panose="020B0500000000000000" pitchFamily="34" charset="-128"/>
                <a:ea typeface="Yu Gothic UI" panose="020B0500000000000000" pitchFamily="34" charset="-128"/>
              </a:rPr>
              <a:t>接続設定</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2" name="source:actor:2">
            <a:extLst>
              <a:ext uri="{FF2B5EF4-FFF2-40B4-BE49-F238E27FC236}">
                <a16:creationId xmlns:a16="http://schemas.microsoft.com/office/drawing/2014/main" id="{F0D93153-A562-830B-ABA4-C7620382754A}"/>
              </a:ext>
            </a:extLst>
          </p:cNvPr>
          <p:cNvSpPr txBox="1"/>
          <p:nvPr/>
        </p:nvSpPr>
        <p:spPr>
          <a:xfrm>
            <a:off x="509270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開発・設定担当がアプリに接続先と資格情報を渡す</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23" name="source:result:2">
            <a:extLst>
              <a:ext uri="{FF2B5EF4-FFF2-40B4-BE49-F238E27FC236}">
                <a16:creationId xmlns:a16="http://schemas.microsoft.com/office/drawing/2014/main" id="{D7E6F9E5-83DE-B9FD-08A2-AB9B3D89212D}"/>
              </a:ext>
            </a:extLst>
          </p:cNvPr>
          <p:cNvSpPr txBox="1"/>
          <p:nvPr/>
        </p:nvSpPr>
        <p:spPr>
          <a:xfrm>
            <a:off x="5092700" y="4559300"/>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接続に必要な設定</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24" name="diagram:line">
            <a:extLst>
              <a:ext uri="{FF2B5EF4-FFF2-40B4-BE49-F238E27FC236}">
                <a16:creationId xmlns:a16="http://schemas.microsoft.com/office/drawing/2014/main" id="{92335484-AD85-257F-CA24-F3FB5DA1AE5C}"/>
              </a:ext>
            </a:extLst>
          </p:cNvPr>
          <p:cNvCxnSpPr/>
          <p:nvPr/>
        </p:nvCxnSpPr>
        <p:spPr>
          <a:xfrm>
            <a:off x="7099300" y="2501900"/>
            <a:ext cx="24765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25" name="source:step:3">
            <a:extLst>
              <a:ext uri="{FF2B5EF4-FFF2-40B4-BE49-F238E27FC236}">
                <a16:creationId xmlns:a16="http://schemas.microsoft.com/office/drawing/2014/main" id="{2B15F4E3-3FAC-8736-DF4A-82AD3FBFF822}"/>
              </a:ext>
            </a:extLst>
          </p:cNvPr>
          <p:cNvSpPr/>
          <p:nvPr/>
        </p:nvSpPr>
        <p:spPr>
          <a:xfrm>
            <a:off x="734695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400">
                <a:solidFill>
                  <a:srgbClr val="0B2430"/>
                </a:solidFill>
                <a:latin typeface="Yu Gothic UI" panose="020B0500000000000000" pitchFamily="34" charset="-128"/>
                <a:ea typeface="Yu Gothic UI" panose="020B0500000000000000" pitchFamily="34" charset="-128"/>
              </a:rPr>
              <a:t>4. </a:t>
            </a:r>
            <a:r>
              <a:rPr lang="ja-JP" altLang="en-US" sz="1400">
                <a:solidFill>
                  <a:srgbClr val="0B2430"/>
                </a:solidFill>
                <a:latin typeface="Yu Gothic UI" panose="020B0500000000000000" pitchFamily="34" charset="-128"/>
                <a:ea typeface="Yu Gothic UI" panose="020B0500000000000000" pitchFamily="34" charset="-128"/>
              </a:rPr>
              <a:t>接続</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6" name="source:actor:3">
            <a:extLst>
              <a:ext uri="{FF2B5EF4-FFF2-40B4-BE49-F238E27FC236}">
                <a16:creationId xmlns:a16="http://schemas.microsoft.com/office/drawing/2014/main" id="{A2165A78-0809-78A4-02B8-9B2CDFBAD54B}"/>
              </a:ext>
            </a:extLst>
          </p:cNvPr>
          <p:cNvSpPr txBox="1"/>
          <p:nvPr/>
        </p:nvSpPr>
        <p:spPr>
          <a:xfrm>
            <a:off x="734695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デバイスアプリが</a:t>
            </a:r>
          </a:p>
          <a:p>
            <a:r>
              <a:rPr lang="ja-JP" altLang="en-US" sz="1500">
                <a:solidFill>
                  <a:srgbClr val="0B2430"/>
                </a:solidFill>
                <a:latin typeface="Yu Gothic UI" panose="020B0500000000000000" pitchFamily="34" charset="-128"/>
                <a:ea typeface="Yu Gothic UI" panose="020B0500000000000000" pitchFamily="34" charset="-128"/>
              </a:rPr>
              <a:t>起動し、</a:t>
            </a:r>
          </a:p>
          <a:p>
            <a:r>
              <a:rPr lang="ja-JP" altLang="en-US" sz="1500">
                <a:solidFill>
                  <a:srgbClr val="0B2430"/>
                </a:solidFill>
                <a:latin typeface="Yu Gothic UI" panose="020B0500000000000000" pitchFamily="34" charset="-128"/>
                <a:ea typeface="Yu Gothic UI" panose="020B0500000000000000" pitchFamily="34" charset="-128"/>
              </a:rPr>
              <a:t>認証を伴う接続を行う</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27" name="source:result:3">
            <a:extLst>
              <a:ext uri="{FF2B5EF4-FFF2-40B4-BE49-F238E27FC236}">
                <a16:creationId xmlns:a16="http://schemas.microsoft.com/office/drawing/2014/main" id="{62AE6108-B391-A283-0DF9-96E5E7BFDB57}"/>
              </a:ext>
            </a:extLst>
          </p:cNvPr>
          <p:cNvSpPr txBox="1"/>
          <p:nvPr/>
        </p:nvSpPr>
        <p:spPr>
          <a:xfrm>
            <a:off x="7346950" y="4559300"/>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接続処理の結果</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28" name="diagram:line">
            <a:extLst>
              <a:ext uri="{FF2B5EF4-FFF2-40B4-BE49-F238E27FC236}">
                <a16:creationId xmlns:a16="http://schemas.microsoft.com/office/drawing/2014/main" id="{FBAEF223-F7C5-5DDF-C94A-AC598C8EBAC2}"/>
              </a:ext>
            </a:extLst>
          </p:cNvPr>
          <p:cNvCxnSpPr/>
          <p:nvPr/>
        </p:nvCxnSpPr>
        <p:spPr>
          <a:xfrm>
            <a:off x="9353550" y="2501900"/>
            <a:ext cx="24765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29" name="source:step:4">
            <a:extLst>
              <a:ext uri="{FF2B5EF4-FFF2-40B4-BE49-F238E27FC236}">
                <a16:creationId xmlns:a16="http://schemas.microsoft.com/office/drawing/2014/main" id="{0BFEB8DC-08FA-541D-0CA0-D9141CD09BD1}"/>
              </a:ext>
            </a:extLst>
          </p:cNvPr>
          <p:cNvSpPr/>
          <p:nvPr/>
        </p:nvSpPr>
        <p:spPr>
          <a:xfrm>
            <a:off x="960120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400">
                <a:solidFill>
                  <a:srgbClr val="0B2430"/>
                </a:solidFill>
                <a:latin typeface="Yu Gothic UI" panose="020B0500000000000000" pitchFamily="34" charset="-128"/>
                <a:ea typeface="Yu Gothic UI" panose="020B0500000000000000" pitchFamily="34" charset="-128"/>
              </a:rPr>
              <a:t>5. </a:t>
            </a:r>
            <a:r>
              <a:rPr lang="ja-JP" altLang="en-US" sz="1400">
                <a:solidFill>
                  <a:srgbClr val="0B2430"/>
                </a:solidFill>
                <a:latin typeface="Yu Gothic UI" panose="020B0500000000000000" pitchFamily="34" charset="-128"/>
                <a:ea typeface="Yu Gothic UI" panose="020B0500000000000000" pitchFamily="34" charset="-128"/>
              </a:rPr>
              <a:t>送受信確認</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30" name="source:actor:4">
            <a:extLst>
              <a:ext uri="{FF2B5EF4-FFF2-40B4-BE49-F238E27FC236}">
                <a16:creationId xmlns:a16="http://schemas.microsoft.com/office/drawing/2014/main" id="{10DFE16C-09F6-A484-0AFC-5C2304E03E1E}"/>
              </a:ext>
            </a:extLst>
          </p:cNvPr>
          <p:cNvSpPr txBox="1"/>
          <p:nvPr/>
        </p:nvSpPr>
        <p:spPr>
          <a:xfrm>
            <a:off x="960120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デバイスが送り、受信担当がツールで読む</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31" name="source:result:4">
            <a:extLst>
              <a:ext uri="{FF2B5EF4-FFF2-40B4-BE49-F238E27FC236}">
                <a16:creationId xmlns:a16="http://schemas.microsoft.com/office/drawing/2014/main" id="{98FA5BFA-57A2-1162-3057-8D4BA2F7E591}"/>
              </a:ext>
            </a:extLst>
          </p:cNvPr>
          <p:cNvSpPr txBox="1"/>
          <p:nvPr/>
        </p:nvSpPr>
        <p:spPr>
          <a:xfrm>
            <a:off x="9601200" y="4559300"/>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対象デバイスのメッセージ</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32" name="source:block:2">
            <a:extLst>
              <a:ext uri="{FF2B5EF4-FFF2-40B4-BE49-F238E27FC236}">
                <a16:creationId xmlns:a16="http://schemas.microsoft.com/office/drawing/2014/main" id="{CC93F816-A8A0-F7A9-8C52-EDB9A09F0650}"/>
              </a:ext>
            </a:extLst>
          </p:cNvPr>
          <p:cNvSpPr txBox="1"/>
          <p:nvPr/>
        </p:nvSpPr>
        <p:spPr>
          <a:xfrm>
            <a:off x="584200" y="5372100"/>
            <a:ext cx="11023600" cy="482600"/>
          </a:xfrm>
          <a:prstGeom prst="rect">
            <a:avLst/>
          </a:prstGeom>
          <a:noFill/>
        </p:spPr>
        <p:txBody>
          <a:bodyPr vert="horz" wrap="square" lIns="0" tIns="0" rIns="0" bIns="0" rtlCol="0" anchor="t">
            <a:noAutofit/>
          </a:bodyPr>
          <a:lstStyle/>
          <a:p>
            <a:r>
              <a:rPr lang="en-US" altLang="ja-JP" sz="1400">
                <a:solidFill>
                  <a:srgbClr val="0B2430"/>
                </a:solidFill>
                <a:latin typeface="Yu Gothic UI" panose="020B0500000000000000" pitchFamily="34" charset="-128"/>
                <a:ea typeface="Yu Gothic UI" panose="020B0500000000000000" pitchFamily="34" charset="-128"/>
              </a:rPr>
              <a:t>ID</a:t>
            </a:r>
            <a:r>
              <a:rPr lang="ja-JP" altLang="en-US" sz="1400">
                <a:solidFill>
                  <a:srgbClr val="0B2430"/>
                </a:solidFill>
                <a:latin typeface="Yu Gothic UI" panose="020B0500000000000000" pitchFamily="34" charset="-128"/>
                <a:ea typeface="Yu Gothic UI" panose="020B0500000000000000" pitchFamily="34" charset="-128"/>
              </a:rPr>
              <a:t>レジストリはデバイス</a:t>
            </a:r>
            <a:r>
              <a:rPr lang="en-US" altLang="ja-JP" sz="1400">
                <a:solidFill>
                  <a:srgbClr val="0B2430"/>
                </a:solidFill>
                <a:latin typeface="Yu Gothic UI" panose="020B0500000000000000" pitchFamily="34" charset="-128"/>
                <a:ea typeface="Yu Gothic UI" panose="020B0500000000000000" pitchFamily="34" charset="-128"/>
              </a:rPr>
              <a:t>ID</a:t>
            </a:r>
            <a:r>
              <a:rPr lang="ja-JP" altLang="en-US" sz="1400">
                <a:solidFill>
                  <a:srgbClr val="0B2430"/>
                </a:solidFill>
                <a:latin typeface="Yu Gothic UI" panose="020B0500000000000000" pitchFamily="34" charset="-128"/>
                <a:ea typeface="Yu Gothic UI" panose="020B0500000000000000" pitchFamily="34" charset="-128"/>
              </a:rPr>
              <a:t>と認証情報を管理する場所であり、登録しただけではアプリは動作しない（</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33" name="source:block:3">
            <a:extLst>
              <a:ext uri="{FF2B5EF4-FFF2-40B4-BE49-F238E27FC236}">
                <a16:creationId xmlns:a16="http://schemas.microsoft.com/office/drawing/2014/main" id="{23572481-3B8D-EA8F-3701-4BD9D73F0274}"/>
              </a:ext>
            </a:extLst>
          </p:cNvPr>
          <p:cNvSpPr txBox="1"/>
          <p:nvPr/>
        </p:nvSpPr>
        <p:spPr>
          <a:xfrm>
            <a:off x="584200" y="5969000"/>
            <a:ext cx="8255000" cy="3175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今回は手動登録。多数台の自動プロビジョニングは第</a:t>
            </a:r>
            <a:r>
              <a:rPr lang="en-US" altLang="ja-JP" sz="1500" b="1">
                <a:solidFill>
                  <a:srgbClr val="0078D4"/>
                </a:solidFill>
                <a:latin typeface="Yu Gothic UI" panose="020B0500000000000000" pitchFamily="34" charset="-128"/>
                <a:ea typeface="Yu Gothic UI" panose="020B0500000000000000" pitchFamily="34" charset="-128"/>
              </a:rPr>
              <a:t>7</a:t>
            </a:r>
            <a:r>
              <a:rPr lang="ja-JP" altLang="en-US" sz="1500" b="1">
                <a:solidFill>
                  <a:srgbClr val="0078D4"/>
                </a:solidFill>
                <a:latin typeface="Yu Gothic UI" panose="020B0500000000000000" pitchFamily="34" charset="-128"/>
                <a:ea typeface="Yu Gothic UI" panose="020B0500000000000000" pitchFamily="34" charset="-128"/>
              </a:rPr>
              <a:t>章で扱う。</a:t>
            </a:r>
            <a:endParaRPr lang="en-US" sz="1500" b="1">
              <a:solidFill>
                <a:srgbClr val="0078D4"/>
              </a:solidFill>
              <a:latin typeface="Yu Gothic UI" panose="020B0500000000000000" pitchFamily="34" charset="-128"/>
              <a:ea typeface="Yu Gothic UI" panose="020B0500000000000000" pitchFamily="34" charset="-128"/>
            </a:endParaRPr>
          </a:p>
        </p:txBody>
      </p:sp>
      <p:sp>
        <p:nvSpPr>
          <p:cNvPr id="34" name="diagram:not-connected">
            <a:extLst>
              <a:ext uri="{FF2B5EF4-FFF2-40B4-BE49-F238E27FC236}">
                <a16:creationId xmlns:a16="http://schemas.microsoft.com/office/drawing/2014/main" id="{1398C2B0-CDBB-38F8-573C-4856134723DE}"/>
              </a:ext>
            </a:extLst>
          </p:cNvPr>
          <p:cNvSpPr txBox="1"/>
          <p:nvPr/>
        </p:nvSpPr>
        <p:spPr>
          <a:xfrm>
            <a:off x="9359900" y="5969000"/>
            <a:ext cx="2247900" cy="3048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登録済み ≠ 接続中</a:t>
            </a:r>
            <a:endParaRPr lang="en-US" sz="1400" b="1">
              <a:solidFill>
                <a:srgbClr val="0B2430"/>
              </a:solidFill>
              <a:latin typeface="Yu Gothic UI" panose="020B0500000000000000" pitchFamily="34" charset="-128"/>
              <a:ea typeface="Yu Gothic UI" panose="020B0500000000000000" pitchFamily="34" charset="-128"/>
            </a:endParaRPr>
          </a:p>
        </p:txBody>
      </p:sp>
      <p:sp>
        <p:nvSpPr>
          <p:cNvPr id="35" name="citation:1">
            <a:extLst>
              <a:ext uri="{FF2B5EF4-FFF2-40B4-BE49-F238E27FC236}">
                <a16:creationId xmlns:a16="http://schemas.microsoft.com/office/drawing/2014/main" id="{F11E7D37-0965-1431-DB6D-4B0A5AB0FC9F}"/>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3"/>
              </a:rPr>
              <a:t>[1] ID </a:t>
            </a:r>
            <a:r>
              <a:rPr lang="ja-JP" altLang="en-US" sz="950">
                <a:solidFill>
                  <a:srgbClr val="566473"/>
                </a:solidFill>
                <a:latin typeface="Yu Gothic UI" panose="020B0500000000000000" pitchFamily="34" charset="-128"/>
                <a:ea typeface="Yu Gothic UI" panose="020B0500000000000000" pitchFamily="34" charset="-128"/>
                <a:hlinkClick r:id="rId3"/>
              </a:rPr>
              <a:t>レジストリ</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201660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Device ID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とデバイスの資格情報</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3</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65788D0E-B01B-B9C8-C924-AFAFBE207B3E}"/>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en-US" altLang="ja-JP" sz="1600" b="1">
                <a:solidFill>
                  <a:srgbClr val="0B2430"/>
                </a:solidFill>
                <a:latin typeface="Yu Gothic UI" panose="020B0500000000000000" pitchFamily="34" charset="-128"/>
                <a:ea typeface="Yu Gothic UI" panose="020B0500000000000000" pitchFamily="34" charset="-128"/>
              </a:rPr>
              <a:t>Device ID </a:t>
            </a:r>
            <a:r>
              <a:rPr lang="ja-JP" altLang="en-US" sz="1600" b="1">
                <a:solidFill>
                  <a:srgbClr val="0B2430"/>
                </a:solidFill>
                <a:latin typeface="Yu Gothic UI" panose="020B0500000000000000" pitchFamily="34" charset="-128"/>
                <a:ea typeface="Yu Gothic UI" panose="020B0500000000000000" pitchFamily="34" charset="-128"/>
              </a:rPr>
              <a:t>は名前。資格情報は、そのデバイスとして認証するために使う。</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diagram:registry">
            <a:extLst>
              <a:ext uri="{FF2B5EF4-FFF2-40B4-BE49-F238E27FC236}">
                <a16:creationId xmlns:a16="http://schemas.microsoft.com/office/drawing/2014/main" id="{F64B499D-89BF-54AB-5CD2-980B13C21C5D}"/>
              </a:ext>
            </a:extLst>
          </p:cNvPr>
          <p:cNvSpPr/>
          <p:nvPr/>
        </p:nvSpPr>
        <p:spPr>
          <a:xfrm>
            <a:off x="584200" y="1765300"/>
            <a:ext cx="3276600" cy="889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600">
                <a:solidFill>
                  <a:srgbClr val="0B2430"/>
                </a:solidFill>
                <a:latin typeface="Yu Gothic UI" panose="020B0500000000000000" pitchFamily="34" charset="-128"/>
                <a:ea typeface="Yu Gothic UI" panose="020B0500000000000000" pitchFamily="34" charset="-128"/>
              </a:rPr>
              <a:t>Hub </a:t>
            </a:r>
            <a:r>
              <a:rPr lang="ja-JP" altLang="en-US" sz="1600">
                <a:solidFill>
                  <a:srgbClr val="0B2430"/>
                </a:solidFill>
                <a:latin typeface="Yu Gothic UI" panose="020B0500000000000000" pitchFamily="34" charset="-128"/>
                <a:ea typeface="Yu Gothic UI" panose="020B0500000000000000" pitchFamily="34" charset="-128"/>
              </a:rPr>
              <a:t>側</a:t>
            </a:r>
          </a:p>
          <a:p>
            <a:pPr algn="ctr"/>
            <a:r>
              <a:rPr lang="ja-JP" altLang="en-US" sz="1600">
                <a:solidFill>
                  <a:srgbClr val="0B2430"/>
                </a:solidFill>
                <a:latin typeface="Yu Gothic UI" panose="020B0500000000000000" pitchFamily="34" charset="-128"/>
                <a:ea typeface="Yu Gothic UI" panose="020B0500000000000000" pitchFamily="34" charset="-128"/>
              </a:rPr>
              <a:t>登録済みの</a:t>
            </a:r>
            <a:r>
              <a:rPr lang="en-US" altLang="ja-JP" sz="1600">
                <a:solidFill>
                  <a:srgbClr val="0B2430"/>
                </a:solidFill>
                <a:latin typeface="Yu Gothic UI" panose="020B0500000000000000" pitchFamily="34" charset="-128"/>
                <a:ea typeface="Yu Gothic UI" panose="020B0500000000000000" pitchFamily="34" charset="-128"/>
              </a:rPr>
              <a:t>ID</a:t>
            </a:r>
            <a:r>
              <a:rPr lang="ja-JP" altLang="en-US" sz="1600">
                <a:solidFill>
                  <a:srgbClr val="0B2430"/>
                </a:solidFill>
                <a:latin typeface="Yu Gothic UI" panose="020B0500000000000000" pitchFamily="34" charset="-128"/>
                <a:ea typeface="Yu Gothic UI" panose="020B0500000000000000" pitchFamily="34" charset="-128"/>
              </a:rPr>
              <a:t>と認証方式</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8" name="diagram:application">
            <a:extLst>
              <a:ext uri="{FF2B5EF4-FFF2-40B4-BE49-F238E27FC236}">
                <a16:creationId xmlns:a16="http://schemas.microsoft.com/office/drawing/2014/main" id="{9C9F200A-5C37-16F6-461A-9CA4616F5AE0}"/>
              </a:ext>
            </a:extLst>
          </p:cNvPr>
          <p:cNvSpPr/>
          <p:nvPr/>
        </p:nvSpPr>
        <p:spPr>
          <a:xfrm>
            <a:off x="584200" y="3187700"/>
            <a:ext cx="32766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アプリ側</a:t>
            </a:r>
          </a:p>
          <a:p>
            <a:pPr algn="ctr"/>
            <a:r>
              <a:rPr lang="ja-JP" altLang="en-US" sz="1600">
                <a:solidFill>
                  <a:srgbClr val="0B2430"/>
                </a:solidFill>
                <a:latin typeface="Yu Gothic UI" panose="020B0500000000000000" pitchFamily="34" charset="-128"/>
                <a:ea typeface="Yu Gothic UI" panose="020B0500000000000000" pitchFamily="34" charset="-128"/>
              </a:rPr>
              <a:t>接続先・</a:t>
            </a:r>
            <a:r>
              <a:rPr lang="en-US" altLang="ja-JP" sz="1600">
                <a:solidFill>
                  <a:srgbClr val="0B2430"/>
                </a:solidFill>
                <a:latin typeface="Yu Gothic UI" panose="020B0500000000000000" pitchFamily="34" charset="-128"/>
                <a:ea typeface="Yu Gothic UI" panose="020B0500000000000000" pitchFamily="34" charset="-128"/>
              </a:rPr>
              <a:t>ID</a:t>
            </a:r>
            <a:r>
              <a:rPr lang="ja-JP" altLang="en-US" sz="1600">
                <a:solidFill>
                  <a:srgbClr val="0B2430"/>
                </a:solidFill>
                <a:latin typeface="Yu Gothic UI" panose="020B0500000000000000" pitchFamily="34" charset="-128"/>
                <a:ea typeface="Yu Gothic UI" panose="020B0500000000000000" pitchFamily="34" charset="-128"/>
              </a:rPr>
              <a:t>・資格情報</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9" name="diagram:line">
            <a:extLst>
              <a:ext uri="{FF2B5EF4-FFF2-40B4-BE49-F238E27FC236}">
                <a16:creationId xmlns:a16="http://schemas.microsoft.com/office/drawing/2014/main" id="{DD18DFE6-05DC-FC85-B233-C07FEB0D10CF}"/>
              </a:ext>
            </a:extLst>
          </p:cNvPr>
          <p:cNvCxnSpPr/>
          <p:nvPr/>
        </p:nvCxnSpPr>
        <p:spPr>
          <a:xfrm>
            <a:off x="838200" y="2654300"/>
            <a:ext cx="0" cy="53340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sp>
        <p:nvSpPr>
          <p:cNvPr id="10" name="diagram:identity-check">
            <a:extLst>
              <a:ext uri="{FF2B5EF4-FFF2-40B4-BE49-F238E27FC236}">
                <a16:creationId xmlns:a16="http://schemas.microsoft.com/office/drawing/2014/main" id="{C27E3400-6298-D00D-8F89-C56AEEE972B0}"/>
              </a:ext>
            </a:extLst>
          </p:cNvPr>
          <p:cNvSpPr txBox="1"/>
          <p:nvPr/>
        </p:nvSpPr>
        <p:spPr>
          <a:xfrm>
            <a:off x="1041400" y="2743200"/>
            <a:ext cx="2819400" cy="406400"/>
          </a:xfrm>
          <a:prstGeom prst="rect">
            <a:avLst/>
          </a:prstGeom>
          <a:noFill/>
        </p:spPr>
        <p:txBody>
          <a:bodyPr vert="horz" wrap="square" lIns="0" tIns="0" rIns="0" bIns="0" rtlCol="0" anchor="t">
            <a:noAutofit/>
          </a:bodyPr>
          <a:lstStyle/>
          <a:p>
            <a:r>
              <a:rPr lang="en-US" altLang="ja-JP" sz="1200">
                <a:solidFill>
                  <a:srgbClr val="566473"/>
                </a:solidFill>
                <a:latin typeface="Yu Gothic UI" panose="020B0500000000000000" pitchFamily="34" charset="-128"/>
                <a:ea typeface="Yu Gothic UI" panose="020B0500000000000000" pitchFamily="34" charset="-128"/>
              </a:rPr>
              <a:t>ID</a:t>
            </a:r>
            <a:r>
              <a:rPr lang="ja-JP" altLang="en-US" sz="1200">
                <a:solidFill>
                  <a:srgbClr val="566473"/>
                </a:solidFill>
                <a:latin typeface="Yu Gothic UI" panose="020B0500000000000000" pitchFamily="34" charset="-128"/>
                <a:ea typeface="Yu Gothic UI" panose="020B0500000000000000" pitchFamily="34" charset="-128"/>
              </a:rPr>
              <a:t>の一致だけでなく資格情報を検証</a:t>
            </a:r>
            <a:endParaRPr lang="en-US" sz="1200">
              <a:solidFill>
                <a:srgbClr val="566473"/>
              </a:solidFill>
              <a:latin typeface="Yu Gothic UI" panose="020B0500000000000000" pitchFamily="34" charset="-128"/>
              <a:ea typeface="Yu Gothic UI" panose="020B0500000000000000" pitchFamily="34" charset="-128"/>
            </a:endParaRPr>
          </a:p>
        </p:txBody>
      </p:sp>
      <p:graphicFrame>
        <p:nvGraphicFramePr>
          <p:cNvPr id="11" name="source:table">
            <a:extLst>
              <a:ext uri="{FF2B5EF4-FFF2-40B4-BE49-F238E27FC236}">
                <a16:creationId xmlns:a16="http://schemas.microsoft.com/office/drawing/2014/main" id="{1688E641-A587-D4F9-93BB-842F08CF88C0}"/>
              </a:ext>
            </a:extLst>
          </p:cNvPr>
          <p:cNvGraphicFramePr>
            <a:graphicFrameLocks noGrp="1"/>
          </p:cNvGraphicFramePr>
          <p:nvPr>
            <p:extLst>
              <p:ext uri="{D42A27DB-BD31-4B8C-83A1-F6EECF244321}">
                <p14:modId xmlns:p14="http://schemas.microsoft.com/office/powerpoint/2010/main" val="3000151558"/>
              </p:ext>
            </p:extLst>
          </p:nvPr>
        </p:nvGraphicFramePr>
        <p:xfrm>
          <a:off x="4241800" y="1676400"/>
          <a:ext cx="7366000" cy="2222500"/>
        </p:xfrm>
        <a:graphic>
          <a:graphicData uri="http://schemas.openxmlformats.org/drawingml/2006/table">
            <a:tbl>
              <a:tblPr firstRow="1" bandRow="1">
                <a:tableStyleId>{5C22544A-7EE6-4342-B048-85BDC9FD1C3A}</a:tableStyleId>
              </a:tblPr>
              <a:tblGrid>
                <a:gridCol w="965200">
                  <a:extLst>
                    <a:ext uri="{9D8B030D-6E8A-4147-A177-3AD203B41FA5}">
                      <a16:colId xmlns:a16="http://schemas.microsoft.com/office/drawing/2014/main" val="4051760052"/>
                    </a:ext>
                  </a:extLst>
                </a:gridCol>
                <a:gridCol w="3175000">
                  <a:extLst>
                    <a:ext uri="{9D8B030D-6E8A-4147-A177-3AD203B41FA5}">
                      <a16:colId xmlns:a16="http://schemas.microsoft.com/office/drawing/2014/main" val="3604728290"/>
                    </a:ext>
                  </a:extLst>
                </a:gridCol>
                <a:gridCol w="3225800">
                  <a:extLst>
                    <a:ext uri="{9D8B030D-6E8A-4147-A177-3AD203B41FA5}">
                      <a16:colId xmlns:a16="http://schemas.microsoft.com/office/drawing/2014/main" val="913981569"/>
                    </a:ext>
                  </a:extLst>
                </a:gridCol>
              </a:tblGrid>
              <a:tr h="381000">
                <a:tc>
                  <a:txBody>
                    <a:bodyPr/>
                    <a:lstStyle/>
                    <a:p>
                      <a:pPr algn="l">
                        <a:spcBef>
                          <a:spcPts val="0"/>
                        </a:spcBef>
                        <a:spcAft>
                          <a:spcPts val="0"/>
                        </a:spcAft>
                        <a:buFontTx/>
                        <a:buNone/>
                      </a:pPr>
                      <a:r>
                        <a:rPr lang="ja-JP" altLang="en-US" sz="1350" b="1">
                          <a:solidFill>
                            <a:srgbClr val="0B2430"/>
                          </a:solidFill>
                          <a:latin typeface="Yu Gothic UI" panose="020B0500000000000000" pitchFamily="34" charset="-128"/>
                          <a:ea typeface="Yu Gothic UI" panose="020B0500000000000000" pitchFamily="34" charset="-128"/>
                        </a:rPr>
                        <a:t>要素</a:t>
                      </a:r>
                      <a:endParaRPr lang="en-US" sz="135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50" b="1">
                          <a:solidFill>
                            <a:srgbClr val="0B2430"/>
                          </a:solidFill>
                          <a:latin typeface="Yu Gothic UI" panose="020B0500000000000000" pitchFamily="34" charset="-128"/>
                          <a:ea typeface="Yu Gothic UI" panose="020B0500000000000000" pitchFamily="34" charset="-128"/>
                        </a:rPr>
                        <a:t>今回の説明例</a:t>
                      </a:r>
                      <a:endParaRPr lang="en-US" sz="135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50" b="1">
                          <a:solidFill>
                            <a:srgbClr val="0B2430"/>
                          </a:solidFill>
                          <a:latin typeface="Yu Gothic UI" panose="020B0500000000000000" pitchFamily="34" charset="-128"/>
                          <a:ea typeface="Yu Gothic UI" panose="020B0500000000000000" pitchFamily="34" charset="-128"/>
                        </a:rPr>
                        <a:t>意味</a:t>
                      </a:r>
                      <a:endParaRPr lang="en-US" sz="135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280894736"/>
                  </a:ext>
                </a:extLst>
              </a:tr>
              <a:tr h="546100">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接続先</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50" b="0">
                          <a:solidFill>
                            <a:srgbClr val="0B2430"/>
                          </a:solidFill>
                          <a:latin typeface="Yu Gothic UI" panose="020B0500000000000000" pitchFamily="34" charset="-128"/>
                          <a:ea typeface="Yu Gothic UI" panose="020B0500000000000000" pitchFamily="34" charset="-128"/>
                        </a:rPr>
                        <a:t>iot-training-hub.azure-devices.net</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どの</a:t>
                      </a:r>
                      <a:r>
                        <a:rPr lang="en-US" altLang="ja-JP" sz="1350" b="0">
                          <a:solidFill>
                            <a:srgbClr val="0B2430"/>
                          </a:solidFill>
                          <a:latin typeface="Yu Gothic UI" panose="020B0500000000000000" pitchFamily="34" charset="-128"/>
                          <a:ea typeface="Yu Gothic UI" panose="020B0500000000000000" pitchFamily="34" charset="-128"/>
                        </a:rPr>
                        <a:t>Hub</a:t>
                      </a:r>
                      <a:r>
                        <a:rPr lang="ja-JP" altLang="en-US" sz="1350" b="0">
                          <a:solidFill>
                            <a:srgbClr val="0B2430"/>
                          </a:solidFill>
                          <a:latin typeface="Yu Gothic UI" panose="020B0500000000000000" pitchFamily="34" charset="-128"/>
                          <a:ea typeface="Yu Gothic UI" panose="020B0500000000000000" pitchFamily="34" charset="-128"/>
                        </a:rPr>
                        <a:t>に接続するか</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597420075"/>
                  </a:ext>
                </a:extLst>
              </a:tr>
              <a:tr h="482600">
                <a:tc>
                  <a:txBody>
                    <a:bodyPr/>
                    <a:lstStyle/>
                    <a:p>
                      <a:pPr algn="l">
                        <a:spcBef>
                          <a:spcPts val="0"/>
                        </a:spcBef>
                        <a:spcAft>
                          <a:spcPts val="0"/>
                        </a:spcAft>
                        <a:buFontTx/>
                        <a:buNone/>
                      </a:pPr>
                      <a:r>
                        <a:rPr lang="en-US" sz="1350" b="0">
                          <a:solidFill>
                            <a:srgbClr val="0B2430"/>
                          </a:solidFill>
                          <a:latin typeface="Yu Gothic UI" panose="020B0500000000000000" pitchFamily="34" charset="-128"/>
                          <a:ea typeface="Yu Gothic UI" panose="020B0500000000000000" pitchFamily="34" charset="-128"/>
                        </a:rPr>
                        <a:t>Device ID</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50" b="0">
                          <a:solidFill>
                            <a:srgbClr val="0B2430"/>
                          </a:solidFill>
                          <a:latin typeface="Yu Gothic UI" panose="020B0500000000000000" pitchFamily="34" charset="-128"/>
                          <a:ea typeface="Yu Gothic UI" panose="020B0500000000000000" pitchFamily="34" charset="-128"/>
                        </a:rPr>
                        <a:t>temp-sensor-01</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350" b="0">
                          <a:solidFill>
                            <a:srgbClr val="0B2430"/>
                          </a:solidFill>
                          <a:latin typeface="Yu Gothic UI" panose="020B0500000000000000" pitchFamily="34" charset="-128"/>
                          <a:ea typeface="Yu Gothic UI" panose="020B0500000000000000" pitchFamily="34" charset="-128"/>
                        </a:rPr>
                        <a:t>Hub</a:t>
                      </a:r>
                      <a:r>
                        <a:rPr lang="ja-JP" altLang="en-US" sz="1350" b="0">
                          <a:solidFill>
                            <a:srgbClr val="0B2430"/>
                          </a:solidFill>
                          <a:latin typeface="Yu Gothic UI" panose="020B0500000000000000" pitchFamily="34" charset="-128"/>
                          <a:ea typeface="Yu Gothic UI" panose="020B0500000000000000" pitchFamily="34" charset="-128"/>
                        </a:rPr>
                        <a:t>内のどのデバイスか</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80463797"/>
                  </a:ext>
                </a:extLst>
              </a:tr>
              <a:tr h="812800">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資格情報</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対称キー、または証明書と対応する秘密鍵</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そのデバイスとして認証する材料</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478615307"/>
                  </a:ext>
                </a:extLst>
              </a:tr>
            </a:tbl>
          </a:graphicData>
        </a:graphic>
      </p:graphicFrame>
      <p:sp>
        <p:nvSpPr>
          <p:cNvPr id="12" name="source:block:2">
            <a:extLst>
              <a:ext uri="{FF2B5EF4-FFF2-40B4-BE49-F238E27FC236}">
                <a16:creationId xmlns:a16="http://schemas.microsoft.com/office/drawing/2014/main" id="{9E0760AB-21B4-A2E7-AE22-2FD40202D56B}"/>
              </a:ext>
            </a:extLst>
          </p:cNvPr>
          <p:cNvSpPr txBox="1"/>
          <p:nvPr/>
        </p:nvSpPr>
        <p:spPr>
          <a:xfrm>
            <a:off x="584200" y="4127499"/>
            <a:ext cx="11023600" cy="6731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デバイス認証の入口は、</a:t>
            </a:r>
            <a:r>
              <a:rPr lang="ja-JP" altLang="en-US" sz="1400" b="1">
                <a:solidFill>
                  <a:srgbClr val="0B2430"/>
                </a:solidFill>
                <a:latin typeface="Yu Gothic UI" panose="020B0500000000000000" pitchFamily="34" charset="-128"/>
                <a:ea typeface="Yu Gothic UI" panose="020B0500000000000000" pitchFamily="34" charset="-128"/>
              </a:rPr>
              <a:t>対称キーで生成する有効期限付きの</a:t>
            </a:r>
            <a:r>
              <a:rPr lang="en-US" altLang="ja-JP" sz="1400" b="1">
                <a:solidFill>
                  <a:srgbClr val="0B2430"/>
                </a:solidFill>
                <a:latin typeface="Yu Gothic UI" panose="020B0500000000000000" pitchFamily="34" charset="-128"/>
                <a:ea typeface="Yu Gothic UI" panose="020B0500000000000000" pitchFamily="34" charset="-128"/>
              </a:rPr>
              <a:t>SAS</a:t>
            </a:r>
            <a:r>
              <a:rPr lang="ja-JP" altLang="en-US" sz="1400" b="1">
                <a:solidFill>
                  <a:srgbClr val="0B2430"/>
                </a:solidFill>
                <a:latin typeface="Yu Gothic UI" panose="020B0500000000000000" pitchFamily="34" charset="-128"/>
                <a:ea typeface="Yu Gothic UI" panose="020B0500000000000000" pitchFamily="34" charset="-128"/>
              </a:rPr>
              <a:t>トークン</a:t>
            </a:r>
            <a:r>
              <a:rPr lang="ja-JP" altLang="en-US" sz="1400">
                <a:solidFill>
                  <a:srgbClr val="0B2430"/>
                </a:solidFill>
                <a:latin typeface="Yu Gothic UI" panose="020B0500000000000000" pitchFamily="34" charset="-128"/>
                <a:ea typeface="Yu Gothic UI" panose="020B0500000000000000" pitchFamily="34" charset="-128"/>
              </a:rPr>
              <a:t>と</a:t>
            </a:r>
            <a:r>
              <a:rPr lang="en-US" altLang="ja-JP" sz="1400" b="1">
                <a:solidFill>
                  <a:srgbClr val="0B2430"/>
                </a:solidFill>
                <a:latin typeface="Yu Gothic UI" panose="020B0500000000000000" pitchFamily="34" charset="-128"/>
                <a:ea typeface="Yu Gothic UI" panose="020B0500000000000000" pitchFamily="34" charset="-128"/>
              </a:rPr>
              <a:t>X.509</a:t>
            </a:r>
            <a:r>
              <a:rPr lang="ja-JP" altLang="en-US" sz="1400" b="1">
                <a:solidFill>
                  <a:srgbClr val="0B2430"/>
                </a:solidFill>
                <a:latin typeface="Yu Gothic UI" panose="020B0500000000000000" pitchFamily="34" charset="-128"/>
                <a:ea typeface="Yu Gothic UI" panose="020B0500000000000000" pitchFamily="34" charset="-128"/>
              </a:rPr>
              <a:t>形式のデジタル証明書</a:t>
            </a:r>
            <a:r>
              <a:rPr lang="ja-JP" altLang="en-US" sz="1400">
                <a:solidFill>
                  <a:srgbClr val="0B2430"/>
                </a:solidFill>
                <a:latin typeface="Yu Gothic UI" panose="020B0500000000000000" pitchFamily="34" charset="-128"/>
                <a:ea typeface="Yu Gothic UI" panose="020B0500000000000000" pitchFamily="34" charset="-128"/>
              </a:rPr>
              <a:t>。</a:t>
            </a:r>
          </a:p>
          <a:p>
            <a:r>
              <a:rPr lang="en-US" altLang="ja-JP" sz="1400">
                <a:solidFill>
                  <a:srgbClr val="0B2430"/>
                </a:solidFill>
                <a:latin typeface="Yu Gothic UI" panose="020B0500000000000000" pitchFamily="34" charset="-128"/>
                <a:ea typeface="Yu Gothic UI" panose="020B0500000000000000" pitchFamily="34" charset="-128"/>
              </a:rPr>
              <a:t>ID</a:t>
            </a:r>
            <a:r>
              <a:rPr lang="ja-JP" altLang="en-US" sz="1400">
                <a:solidFill>
                  <a:srgbClr val="0B2430"/>
                </a:solidFill>
                <a:latin typeface="Yu Gothic UI" panose="020B0500000000000000" pitchFamily="34" charset="-128"/>
                <a:ea typeface="Yu Gothic UI" panose="020B0500000000000000" pitchFamily="34" charset="-128"/>
              </a:rPr>
              <a:t>を知っているだけでは認証できない（</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[2]</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3" name="source:block:3">
            <a:extLst>
              <a:ext uri="{FF2B5EF4-FFF2-40B4-BE49-F238E27FC236}">
                <a16:creationId xmlns:a16="http://schemas.microsoft.com/office/drawing/2014/main" id="{672C5BF0-FE6D-DFD4-AE78-E661A8F0837B}"/>
              </a:ext>
            </a:extLst>
          </p:cNvPr>
          <p:cNvSpPr txBox="1"/>
          <p:nvPr/>
        </p:nvSpPr>
        <p:spPr>
          <a:xfrm>
            <a:off x="584200" y="4838699"/>
            <a:ext cx="11023600" cy="292100"/>
          </a:xfrm>
          <a:prstGeom prst="rect">
            <a:avLst/>
          </a:prstGeom>
          <a:noFill/>
        </p:spPr>
        <p:txBody>
          <a:bodyPr vert="horz" wrap="square" lIns="0" tIns="0" rIns="0" bIns="0" rtlCol="0" anchor="t">
            <a:noAutofit/>
          </a:bodyPr>
          <a:lstStyle/>
          <a:p>
            <a:r>
              <a:rPr lang="ja-JP" altLang="en-US" sz="1300">
                <a:solidFill>
                  <a:srgbClr val="0B2430"/>
                </a:solidFill>
                <a:latin typeface="Yu Gothic UI" panose="020B0500000000000000" pitchFamily="34" charset="-128"/>
                <a:ea typeface="Yu Gothic UI" panose="020B0500000000000000" pitchFamily="34" charset="-128"/>
              </a:rPr>
              <a:t>今回の対称キー方式の接続文字列の形（説明用・接続不可）</a:t>
            </a:r>
            <a:r>
              <a:rPr lang="en-US" altLang="ja-JP"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4" name="diagram:code-background">
            <a:extLst>
              <a:ext uri="{FF2B5EF4-FFF2-40B4-BE49-F238E27FC236}">
                <a16:creationId xmlns:a16="http://schemas.microsoft.com/office/drawing/2014/main" id="{83063E30-B3DF-899A-866C-9D7C43C32CAC}"/>
              </a:ext>
            </a:extLst>
          </p:cNvPr>
          <p:cNvSpPr/>
          <p:nvPr/>
        </p:nvSpPr>
        <p:spPr>
          <a:xfrm>
            <a:off x="584200" y="5181600"/>
            <a:ext cx="8280400" cy="800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source:block:4">
            <a:extLst>
              <a:ext uri="{FF2B5EF4-FFF2-40B4-BE49-F238E27FC236}">
                <a16:creationId xmlns:a16="http://schemas.microsoft.com/office/drawing/2014/main" id="{2D99225F-6F2A-10FD-67F6-45B7986B0248}"/>
              </a:ext>
            </a:extLst>
          </p:cNvPr>
          <p:cNvSpPr txBox="1"/>
          <p:nvPr/>
        </p:nvSpPr>
        <p:spPr>
          <a:xfrm>
            <a:off x="723900" y="5257800"/>
            <a:ext cx="8026400" cy="685800"/>
          </a:xfrm>
          <a:prstGeom prst="rect">
            <a:avLst/>
          </a:prstGeom>
          <a:noFill/>
        </p:spPr>
        <p:txBody>
          <a:bodyPr vert="horz" wrap="square" lIns="0" tIns="0" rIns="0" bIns="0" rtlCol="0" anchor="t">
            <a:noAutofit/>
          </a:bodyPr>
          <a:lstStyle/>
          <a:p>
            <a:r>
              <a:rPr lang="en-US" sz="1500">
                <a:solidFill>
                  <a:srgbClr val="0B2430"/>
                </a:solidFill>
                <a:latin typeface="Consolas" panose="020B0609020204030204" pitchFamily="49" charset="0"/>
                <a:ea typeface="Yu Gothic UI" panose="020B0500000000000000" pitchFamily="34" charset="-128"/>
              </a:rPr>
              <a:t>HostName=iot-training-hub.azure-devices.net;</a:t>
            </a:r>
          </a:p>
          <a:p>
            <a:r>
              <a:rPr lang="en-US" sz="1500">
                <a:solidFill>
                  <a:srgbClr val="0B2430"/>
                </a:solidFill>
                <a:latin typeface="Consolas" panose="020B0609020204030204" pitchFamily="49" charset="0"/>
                <a:ea typeface="Yu Gothic UI" panose="020B0500000000000000" pitchFamily="34" charset="-128"/>
              </a:rPr>
              <a:t>DeviceId=temp-sensor-01;</a:t>
            </a:r>
          </a:p>
          <a:p>
            <a:r>
              <a:rPr lang="en-US" sz="1500">
                <a:solidFill>
                  <a:srgbClr val="0B2430"/>
                </a:solidFill>
                <a:latin typeface="Consolas" panose="020B0609020204030204" pitchFamily="49" charset="0"/>
                <a:ea typeface="Yu Gothic UI" panose="020B0500000000000000" pitchFamily="34" charset="-128"/>
              </a:rPr>
              <a:t>SharedAccessKey=&lt;</a:t>
            </a:r>
            <a:r>
              <a:rPr lang="ja-JP" altLang="en-US" sz="1500">
                <a:solidFill>
                  <a:srgbClr val="0B2430"/>
                </a:solidFill>
                <a:latin typeface="Consolas" panose="020B0609020204030204" pitchFamily="49" charset="0"/>
                <a:ea typeface="Yu Gothic UI" panose="020B0500000000000000" pitchFamily="34" charset="-128"/>
              </a:rPr>
              <a:t>非表示</a:t>
            </a:r>
            <a:r>
              <a:rPr lang="en-US" altLang="ja-JP" sz="1500">
                <a:solidFill>
                  <a:srgbClr val="0B2430"/>
                </a:solidFill>
                <a:latin typeface="Consolas" panose="020B0609020204030204" pitchFamily="49" charset="0"/>
                <a:ea typeface="Yu Gothic UI" panose="020B0500000000000000" pitchFamily="34" charset="-128"/>
              </a:rPr>
              <a:t>&gt;</a:t>
            </a:r>
            <a:endParaRPr lang="en-US" sz="1500">
              <a:solidFill>
                <a:srgbClr val="0B2430"/>
              </a:solidFill>
              <a:latin typeface="Consolas" panose="020B0609020204030204" pitchFamily="49" charset="0"/>
              <a:ea typeface="Yu Gothic UI" panose="020B0500000000000000" pitchFamily="34" charset="-128"/>
            </a:endParaRPr>
          </a:p>
        </p:txBody>
      </p:sp>
      <p:sp>
        <p:nvSpPr>
          <p:cNvPr id="16" name="diagram:single-line">
            <a:extLst>
              <a:ext uri="{FF2B5EF4-FFF2-40B4-BE49-F238E27FC236}">
                <a16:creationId xmlns:a16="http://schemas.microsoft.com/office/drawing/2014/main" id="{CBB030AA-9155-2899-DEE5-F9BEEF05E5E6}"/>
              </a:ext>
            </a:extLst>
          </p:cNvPr>
          <p:cNvSpPr txBox="1"/>
          <p:nvPr/>
        </p:nvSpPr>
        <p:spPr>
          <a:xfrm>
            <a:off x="9080500" y="5410199"/>
            <a:ext cx="2527300" cy="304800"/>
          </a:xfrm>
          <a:prstGeom prst="rect">
            <a:avLst/>
          </a:prstGeom>
          <a:noFill/>
        </p:spPr>
        <p:txBody>
          <a:bodyPr vert="horz" wrap="square" lIns="0" tIns="0" rIns="0" bIns="0" rtlCol="0" anchor="t">
            <a:noAutofit/>
          </a:bodyPr>
          <a:lstStyle/>
          <a:p>
            <a:r>
              <a:rPr lang="ja-JP" altLang="en-US" sz="1300">
                <a:solidFill>
                  <a:srgbClr val="566473"/>
                </a:solidFill>
                <a:latin typeface="Yu Gothic UI" panose="020B0500000000000000" pitchFamily="34" charset="-128"/>
                <a:ea typeface="Yu Gothic UI" panose="020B0500000000000000" pitchFamily="34" charset="-128"/>
              </a:rPr>
              <a:t>実際は</a:t>
            </a:r>
            <a:r>
              <a:rPr lang="en-US" altLang="ja-JP" sz="1300">
                <a:solidFill>
                  <a:srgbClr val="566473"/>
                </a:solidFill>
                <a:latin typeface="Yu Gothic UI" panose="020B0500000000000000" pitchFamily="34" charset="-128"/>
                <a:ea typeface="Yu Gothic UI" panose="020B0500000000000000" pitchFamily="34" charset="-128"/>
              </a:rPr>
              <a:t>1</a:t>
            </a:r>
            <a:r>
              <a:rPr lang="ja-JP" altLang="en-US" sz="1300">
                <a:solidFill>
                  <a:srgbClr val="566473"/>
                </a:solidFill>
                <a:latin typeface="Yu Gothic UI" panose="020B0500000000000000" pitchFamily="34" charset="-128"/>
                <a:ea typeface="Yu Gothic UI" panose="020B0500000000000000" pitchFamily="34" charset="-128"/>
              </a:rPr>
              <a:t>行で設定</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17" name="source:block:5">
            <a:extLst>
              <a:ext uri="{FF2B5EF4-FFF2-40B4-BE49-F238E27FC236}">
                <a16:creationId xmlns:a16="http://schemas.microsoft.com/office/drawing/2014/main" id="{B13D0D59-AC21-D790-E2C2-D1DAEAE85026}"/>
              </a:ext>
            </a:extLst>
          </p:cNvPr>
          <p:cNvSpPr txBox="1"/>
          <p:nvPr/>
        </p:nvSpPr>
        <p:spPr>
          <a:xfrm>
            <a:off x="584200" y="6032500"/>
            <a:ext cx="11023600" cy="304800"/>
          </a:xfrm>
          <a:prstGeom prst="rect">
            <a:avLst/>
          </a:prstGeom>
          <a:noFill/>
        </p:spPr>
        <p:txBody>
          <a:bodyPr vert="horz" wrap="square" lIns="0" tIns="0" rIns="0" bIns="0" rtlCol="0" anchor="t">
            <a:noAutofit/>
          </a:bodyPr>
          <a:lstStyle/>
          <a:p>
            <a:r>
              <a:rPr lang="ja-JP" altLang="en-US" sz="1400" b="1">
                <a:solidFill>
                  <a:srgbClr val="0078D4"/>
                </a:solidFill>
                <a:latin typeface="Yu Gothic UI" panose="020B0500000000000000" pitchFamily="34" charset="-128"/>
                <a:ea typeface="Yu Gothic UI" panose="020B0500000000000000" pitchFamily="34" charset="-128"/>
              </a:rPr>
              <a:t>接続文字列は</a:t>
            </a:r>
            <a:r>
              <a:rPr lang="en-US" altLang="ja-JP" sz="1400" b="1">
                <a:solidFill>
                  <a:srgbClr val="0078D4"/>
                </a:solidFill>
                <a:latin typeface="Yu Gothic UI" panose="020B0500000000000000" pitchFamily="34" charset="-128"/>
                <a:ea typeface="Yu Gothic UI" panose="020B0500000000000000" pitchFamily="34" charset="-128"/>
              </a:rPr>
              <a:t>URL</a:t>
            </a:r>
            <a:r>
              <a:rPr lang="ja-JP" altLang="en-US" sz="1400" b="1">
                <a:solidFill>
                  <a:srgbClr val="0078D4"/>
                </a:solidFill>
                <a:latin typeface="Yu Gothic UI" panose="020B0500000000000000" pitchFamily="34" charset="-128"/>
                <a:ea typeface="Yu Gothic UI" panose="020B0500000000000000" pitchFamily="34" charset="-128"/>
              </a:rPr>
              <a:t>ではなく、キーを含む秘密情報。画面・コード・ログに公開しない。</a:t>
            </a:r>
            <a:r>
              <a:rPr lang="ja-JP" altLang="en-US" sz="1400">
                <a:solidFill>
                  <a:srgbClr val="0078D4"/>
                </a:solidFill>
                <a:latin typeface="Yu Gothic UI" panose="020B0500000000000000" pitchFamily="34" charset="-128"/>
                <a:ea typeface="Yu Gothic UI" panose="020B0500000000000000" pitchFamily="34" charset="-128"/>
              </a:rPr>
              <a:t>（</a:t>
            </a:r>
            <a:r>
              <a:rPr lang="en-US" altLang="ja-JP" sz="1400">
                <a:solidFill>
                  <a:srgbClr val="0078D4"/>
                </a:solidFill>
                <a:latin typeface="Yu Gothic UI" panose="020B0500000000000000" pitchFamily="34" charset="-128"/>
                <a:ea typeface="Yu Gothic UI" panose="020B0500000000000000" pitchFamily="34" charset="-128"/>
              </a:rPr>
              <a:t>[1]</a:t>
            </a:r>
            <a:r>
              <a:rPr lang="ja-JP" altLang="en-US" sz="1400">
                <a:solidFill>
                  <a:srgbClr val="0078D4"/>
                </a:solidFill>
                <a:latin typeface="Yu Gothic UI" panose="020B0500000000000000" pitchFamily="34" charset="-128"/>
                <a:ea typeface="Yu Gothic UI" panose="020B0500000000000000" pitchFamily="34" charset="-128"/>
              </a:rPr>
              <a:t>）</a:t>
            </a:r>
            <a:endParaRPr lang="en-US" sz="1400">
              <a:solidFill>
                <a:srgbClr val="0078D4"/>
              </a:solidFill>
              <a:latin typeface="Yu Gothic UI" panose="020B0500000000000000" pitchFamily="34" charset="-128"/>
              <a:ea typeface="Yu Gothic UI" panose="020B0500000000000000" pitchFamily="34" charset="-128"/>
            </a:endParaRPr>
          </a:p>
        </p:txBody>
      </p:sp>
      <p:sp>
        <p:nvSpPr>
          <p:cNvPr id="18" name="citation:1">
            <a:extLst>
              <a:ext uri="{FF2B5EF4-FFF2-40B4-BE49-F238E27FC236}">
                <a16:creationId xmlns:a16="http://schemas.microsoft.com/office/drawing/2014/main" id="{970EE841-2C80-6C3D-4E08-593792FEC264}"/>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3"/>
              </a:rPr>
              <a:t>[1] SAS </a:t>
            </a:r>
            <a:r>
              <a:rPr lang="ja-JP" altLang="en-US" sz="950">
                <a:solidFill>
                  <a:srgbClr val="566473"/>
                </a:solidFill>
                <a:latin typeface="Yu Gothic UI" panose="020B0500000000000000" pitchFamily="34" charset="-128"/>
                <a:ea typeface="Yu Gothic UI" panose="020B0500000000000000" pitchFamily="34" charset="-128"/>
                <a:hlinkClick r:id="rId3"/>
              </a:rPr>
              <a:t>による認証</a:t>
            </a:r>
            <a:endParaRPr lang="en-US" sz="950">
              <a:solidFill>
                <a:srgbClr val="566473"/>
              </a:solidFill>
              <a:latin typeface="Yu Gothic UI" panose="020B0500000000000000" pitchFamily="34" charset="-128"/>
              <a:ea typeface="Yu Gothic UI" panose="020B0500000000000000" pitchFamily="34" charset="-128"/>
            </a:endParaRPr>
          </a:p>
        </p:txBody>
      </p:sp>
      <p:sp>
        <p:nvSpPr>
          <p:cNvPr id="19" name="citation:2">
            <a:extLst>
              <a:ext uri="{FF2B5EF4-FFF2-40B4-BE49-F238E27FC236}">
                <a16:creationId xmlns:a16="http://schemas.microsoft.com/office/drawing/2014/main" id="{DA4DA5F6-7EBD-1D4B-5292-4040ADA1592C}"/>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4"/>
              </a:rPr>
              <a:t>[2] X.509 </a:t>
            </a:r>
            <a:r>
              <a:rPr lang="ja-JP" altLang="en-US" sz="950">
                <a:solidFill>
                  <a:srgbClr val="566473"/>
                </a:solidFill>
                <a:latin typeface="Yu Gothic UI" panose="020B0500000000000000" pitchFamily="34" charset="-128"/>
                <a:ea typeface="Yu Gothic UI" panose="020B0500000000000000" pitchFamily="34" charset="-128"/>
                <a:hlinkClick r:id="rId4"/>
              </a:rPr>
              <a:t>による認証</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4167350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認証・権限・通信保護の違い</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4</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D0D00BAA-863F-A131-B517-197EF320F21B}"/>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誰として接続するか、何を許可するか、通信内容をどう守るかは別の問い。</a:t>
            </a:r>
            <a:endParaRPr lang="en-US" sz="1600" b="1">
              <a:solidFill>
                <a:srgbClr val="0B2430"/>
              </a:solidFill>
              <a:latin typeface="Yu Gothic UI" panose="020B0500000000000000" pitchFamily="34" charset="-128"/>
              <a:ea typeface="Yu Gothic UI" panose="020B0500000000000000" pitchFamily="34" charset="-128"/>
            </a:endParaRPr>
          </a:p>
        </p:txBody>
      </p:sp>
      <p:graphicFrame>
        <p:nvGraphicFramePr>
          <p:cNvPr id="7" name="source:table">
            <a:extLst>
              <a:ext uri="{FF2B5EF4-FFF2-40B4-BE49-F238E27FC236}">
                <a16:creationId xmlns:a16="http://schemas.microsoft.com/office/drawing/2014/main" id="{3024F11C-D890-0D72-4AB2-DB72FAF8B8B2}"/>
              </a:ext>
            </a:extLst>
          </p:cNvPr>
          <p:cNvGraphicFramePr>
            <a:graphicFrameLocks noGrp="1"/>
          </p:cNvGraphicFramePr>
          <p:nvPr>
            <p:extLst>
              <p:ext uri="{D42A27DB-BD31-4B8C-83A1-F6EECF244321}">
                <p14:modId xmlns:p14="http://schemas.microsoft.com/office/powerpoint/2010/main" val="664440168"/>
              </p:ext>
            </p:extLst>
          </p:nvPr>
        </p:nvGraphicFramePr>
        <p:xfrm>
          <a:off x="584200" y="1600200"/>
          <a:ext cx="11023600" cy="18669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181824859"/>
                    </a:ext>
                  </a:extLst>
                </a:gridCol>
                <a:gridCol w="3302000">
                  <a:extLst>
                    <a:ext uri="{9D8B030D-6E8A-4147-A177-3AD203B41FA5}">
                      <a16:colId xmlns:a16="http://schemas.microsoft.com/office/drawing/2014/main" val="1559729293"/>
                    </a:ext>
                  </a:extLst>
                </a:gridCol>
                <a:gridCol w="6197600">
                  <a:extLst>
                    <a:ext uri="{9D8B030D-6E8A-4147-A177-3AD203B41FA5}">
                      <a16:colId xmlns:a16="http://schemas.microsoft.com/office/drawing/2014/main" val="2201873282"/>
                    </a:ext>
                  </a:extLst>
                </a:gridCol>
              </a:tblGrid>
              <a:tr h="406400">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観点</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確認する問い</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具体例</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3269348924"/>
                  </a:ext>
                </a:extLst>
              </a:tr>
              <a:tr h="4826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認証</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誰として接続するか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temp-sensor-01 </a:t>
                      </a:r>
                      <a:r>
                        <a:rPr lang="ja-JP" altLang="en-US" sz="1400" b="0">
                          <a:solidFill>
                            <a:srgbClr val="0B2430"/>
                          </a:solidFill>
                          <a:latin typeface="Yu Gothic UI" panose="020B0500000000000000" pitchFamily="34" charset="-128"/>
                          <a:ea typeface="Yu Gothic UI" panose="020B0500000000000000" pitchFamily="34" charset="-128"/>
                        </a:rPr>
                        <a:t>として資格情報を検証する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962263626"/>
                  </a:ext>
                </a:extLst>
              </a:tr>
              <a:tr h="4953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認可・権限</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その主体に何を許すか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自分のテレメトリ送信と、サービス側からの操作を分ける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719606199"/>
                  </a:ext>
                </a:extLst>
              </a:tr>
              <a:tr h="4826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通信保護</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経路上で内容を守れるか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TLS</a:t>
                      </a:r>
                      <a:r>
                        <a:rPr lang="ja-JP" altLang="en-US" sz="1400" b="0">
                          <a:solidFill>
                            <a:srgbClr val="0B2430"/>
                          </a:solidFill>
                          <a:latin typeface="Yu Gothic UI" panose="020B0500000000000000" pitchFamily="34" charset="-128"/>
                          <a:ea typeface="Yu Gothic UI" panose="020B0500000000000000" pitchFamily="34" charset="-128"/>
                        </a:rPr>
                        <a:t>で通信を暗号化する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445111722"/>
                  </a:ext>
                </a:extLst>
              </a:tr>
            </a:tbl>
          </a:graphicData>
        </a:graphic>
      </p:graphicFrame>
      <p:sp>
        <p:nvSpPr>
          <p:cNvPr id="8" name="diagram:device">
            <a:extLst>
              <a:ext uri="{FF2B5EF4-FFF2-40B4-BE49-F238E27FC236}">
                <a16:creationId xmlns:a16="http://schemas.microsoft.com/office/drawing/2014/main" id="{1D52B044-622E-03CA-521E-5981FFF8573E}"/>
              </a:ext>
            </a:extLst>
          </p:cNvPr>
          <p:cNvSpPr/>
          <p:nvPr/>
        </p:nvSpPr>
        <p:spPr>
          <a:xfrm>
            <a:off x="584200" y="3860800"/>
            <a:ext cx="2286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デバイス側</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9" name="diagram:hub">
            <a:extLst>
              <a:ext uri="{FF2B5EF4-FFF2-40B4-BE49-F238E27FC236}">
                <a16:creationId xmlns:a16="http://schemas.microsoft.com/office/drawing/2014/main" id="{8A3E138D-36F6-F09B-1481-3D1AE9BC628B}"/>
              </a:ext>
            </a:extLst>
          </p:cNvPr>
          <p:cNvSpPr/>
          <p:nvPr/>
        </p:nvSpPr>
        <p:spPr>
          <a:xfrm>
            <a:off x="5029200" y="3860800"/>
            <a:ext cx="2032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600">
                <a:solidFill>
                  <a:srgbClr val="0B2430"/>
                </a:solidFill>
                <a:latin typeface="Yu Gothic UI" panose="020B0500000000000000" pitchFamily="34" charset="-128"/>
                <a:ea typeface="Yu Gothic UI" panose="020B0500000000000000" pitchFamily="34" charset="-128"/>
              </a:rPr>
              <a:t>IoT Hub</a:t>
            </a:r>
          </a:p>
        </p:txBody>
      </p:sp>
      <p:sp>
        <p:nvSpPr>
          <p:cNvPr id="10" name="diagram:service">
            <a:extLst>
              <a:ext uri="{FF2B5EF4-FFF2-40B4-BE49-F238E27FC236}">
                <a16:creationId xmlns:a16="http://schemas.microsoft.com/office/drawing/2014/main" id="{459BDAFC-D989-DEC5-92CE-16A2AA6F9EB4}"/>
              </a:ext>
            </a:extLst>
          </p:cNvPr>
          <p:cNvSpPr/>
          <p:nvPr/>
        </p:nvSpPr>
        <p:spPr>
          <a:xfrm>
            <a:off x="9321800" y="3860800"/>
            <a:ext cx="2286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サービス側</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11" name="diagram:line">
            <a:extLst>
              <a:ext uri="{FF2B5EF4-FFF2-40B4-BE49-F238E27FC236}">
                <a16:creationId xmlns:a16="http://schemas.microsoft.com/office/drawing/2014/main" id="{9A36553F-2AC8-000E-84C1-1E4106F1CFDB}"/>
              </a:ext>
            </a:extLst>
          </p:cNvPr>
          <p:cNvCxnSpPr/>
          <p:nvPr/>
        </p:nvCxnSpPr>
        <p:spPr>
          <a:xfrm>
            <a:off x="2870200" y="4102100"/>
            <a:ext cx="21590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2" name="diagram:line">
            <a:extLst>
              <a:ext uri="{FF2B5EF4-FFF2-40B4-BE49-F238E27FC236}">
                <a16:creationId xmlns:a16="http://schemas.microsoft.com/office/drawing/2014/main" id="{C46A6464-8E7B-60BF-04B9-AFFA96425CEE}"/>
              </a:ext>
            </a:extLst>
          </p:cNvPr>
          <p:cNvCxnSpPr/>
          <p:nvPr/>
        </p:nvCxnSpPr>
        <p:spPr>
          <a:xfrm flipH="1">
            <a:off x="7061200" y="4102100"/>
            <a:ext cx="22606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3" name="diagram:device-credential">
            <a:extLst>
              <a:ext uri="{FF2B5EF4-FFF2-40B4-BE49-F238E27FC236}">
                <a16:creationId xmlns:a16="http://schemas.microsoft.com/office/drawing/2014/main" id="{F1B46F1D-5F32-967A-26B6-C3A32F0061A8}"/>
              </a:ext>
            </a:extLst>
          </p:cNvPr>
          <p:cNvSpPr txBox="1"/>
          <p:nvPr/>
        </p:nvSpPr>
        <p:spPr>
          <a:xfrm>
            <a:off x="2870200" y="3556000"/>
            <a:ext cx="2159000" cy="279400"/>
          </a:xfrm>
          <a:prstGeom prst="rect">
            <a:avLst/>
          </a:prstGeom>
          <a:noFill/>
        </p:spPr>
        <p:txBody>
          <a:bodyPr vert="horz" wrap="square" lIns="0" tIns="0" rIns="0" bIns="0" rtlCol="0" anchor="t">
            <a:noAutofit/>
          </a:bodyPr>
          <a:lstStyle/>
          <a:p>
            <a:pPr algn="ctr"/>
            <a:r>
              <a:rPr lang="ja-JP" altLang="en-US" sz="1150">
                <a:solidFill>
                  <a:srgbClr val="566473"/>
                </a:solidFill>
                <a:latin typeface="Yu Gothic UI" panose="020B0500000000000000" pitchFamily="34" charset="-128"/>
                <a:ea typeface="Yu Gothic UI" panose="020B0500000000000000" pitchFamily="34" charset="-128"/>
              </a:rPr>
              <a:t>デバイス固有の資格情報</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4" name="diagram:service-credential">
            <a:extLst>
              <a:ext uri="{FF2B5EF4-FFF2-40B4-BE49-F238E27FC236}">
                <a16:creationId xmlns:a16="http://schemas.microsoft.com/office/drawing/2014/main" id="{F402C673-4B45-1111-2D53-D3E939C7A5EE}"/>
              </a:ext>
            </a:extLst>
          </p:cNvPr>
          <p:cNvSpPr txBox="1"/>
          <p:nvPr/>
        </p:nvSpPr>
        <p:spPr>
          <a:xfrm>
            <a:off x="7061200" y="3556000"/>
            <a:ext cx="2260600" cy="279400"/>
          </a:xfrm>
          <a:prstGeom prst="rect">
            <a:avLst/>
          </a:prstGeom>
          <a:noFill/>
        </p:spPr>
        <p:txBody>
          <a:bodyPr vert="horz" wrap="square" lIns="0" tIns="0" rIns="0" bIns="0" rtlCol="0" anchor="t">
            <a:noAutofit/>
          </a:bodyPr>
          <a:lstStyle/>
          <a:p>
            <a:pPr algn="ctr"/>
            <a:r>
              <a:rPr lang="ja-JP" altLang="en-US" sz="1150">
                <a:solidFill>
                  <a:srgbClr val="566473"/>
                </a:solidFill>
                <a:latin typeface="Yu Gothic UI" panose="020B0500000000000000" pitchFamily="34" charset="-128"/>
                <a:ea typeface="Yu Gothic UI" panose="020B0500000000000000" pitchFamily="34" charset="-128"/>
              </a:rPr>
              <a:t>サービス側の認証と権限</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5" name="diagram:tls-device">
            <a:extLst>
              <a:ext uri="{FF2B5EF4-FFF2-40B4-BE49-F238E27FC236}">
                <a16:creationId xmlns:a16="http://schemas.microsoft.com/office/drawing/2014/main" id="{4962418C-FAFE-9E6D-40CF-816EC9CED8D0}"/>
              </a:ext>
            </a:extLst>
          </p:cNvPr>
          <p:cNvSpPr txBox="1"/>
          <p:nvPr/>
        </p:nvSpPr>
        <p:spPr>
          <a:xfrm>
            <a:off x="2870200" y="4394200"/>
            <a:ext cx="2159000" cy="292100"/>
          </a:xfrm>
          <a:prstGeom prst="rect">
            <a:avLst/>
          </a:prstGeom>
          <a:noFill/>
        </p:spPr>
        <p:txBody>
          <a:bodyPr vert="horz" wrap="square" lIns="0" tIns="0" rIns="0" bIns="0" rtlCol="0" anchor="t">
            <a:noAutofit/>
          </a:bodyPr>
          <a:lstStyle/>
          <a:p>
            <a:pPr algn="ctr"/>
            <a:r>
              <a:rPr lang="en-US" altLang="ja-JP" sz="1150">
                <a:solidFill>
                  <a:srgbClr val="566473"/>
                </a:solidFill>
                <a:latin typeface="Yu Gothic UI" panose="020B0500000000000000" pitchFamily="34" charset="-128"/>
                <a:ea typeface="Yu Gothic UI" panose="020B0500000000000000" pitchFamily="34" charset="-128"/>
              </a:rPr>
              <a:t>TLS</a:t>
            </a:r>
            <a:r>
              <a:rPr lang="ja-JP" altLang="en-US" sz="1150">
                <a:solidFill>
                  <a:srgbClr val="566473"/>
                </a:solidFill>
                <a:latin typeface="Yu Gothic UI" panose="020B0500000000000000" pitchFamily="34" charset="-128"/>
                <a:ea typeface="Yu Gothic UI" panose="020B0500000000000000" pitchFamily="34" charset="-128"/>
              </a:rPr>
              <a:t>で通信経路を暗号化</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6" name="diagram:tls-service">
            <a:extLst>
              <a:ext uri="{FF2B5EF4-FFF2-40B4-BE49-F238E27FC236}">
                <a16:creationId xmlns:a16="http://schemas.microsoft.com/office/drawing/2014/main" id="{9877CEB8-F011-5965-BE4D-5417062DEA50}"/>
              </a:ext>
            </a:extLst>
          </p:cNvPr>
          <p:cNvSpPr txBox="1"/>
          <p:nvPr/>
        </p:nvSpPr>
        <p:spPr>
          <a:xfrm>
            <a:off x="7061200" y="4394200"/>
            <a:ext cx="2260600" cy="292100"/>
          </a:xfrm>
          <a:prstGeom prst="rect">
            <a:avLst/>
          </a:prstGeom>
          <a:noFill/>
        </p:spPr>
        <p:txBody>
          <a:bodyPr vert="horz" wrap="square" lIns="0" tIns="0" rIns="0" bIns="0" rtlCol="0" anchor="t">
            <a:noAutofit/>
          </a:bodyPr>
          <a:lstStyle/>
          <a:p>
            <a:pPr algn="ctr"/>
            <a:r>
              <a:rPr lang="en-US" altLang="ja-JP" sz="1150">
                <a:solidFill>
                  <a:srgbClr val="566473"/>
                </a:solidFill>
                <a:latin typeface="Yu Gothic UI" panose="020B0500000000000000" pitchFamily="34" charset="-128"/>
                <a:ea typeface="Yu Gothic UI" panose="020B0500000000000000" pitchFamily="34" charset="-128"/>
              </a:rPr>
              <a:t>TLS</a:t>
            </a:r>
            <a:r>
              <a:rPr lang="ja-JP" altLang="en-US" sz="1150">
                <a:solidFill>
                  <a:srgbClr val="566473"/>
                </a:solidFill>
                <a:latin typeface="Yu Gothic UI" panose="020B0500000000000000" pitchFamily="34" charset="-128"/>
                <a:ea typeface="Yu Gothic UI" panose="020B0500000000000000" pitchFamily="34" charset="-128"/>
              </a:rPr>
              <a:t>で通信経路を暗号化</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7" name="source:block:2">
            <a:extLst>
              <a:ext uri="{FF2B5EF4-FFF2-40B4-BE49-F238E27FC236}">
                <a16:creationId xmlns:a16="http://schemas.microsoft.com/office/drawing/2014/main" id="{4834173E-FD16-DF0D-FFBA-5F8671316184}"/>
              </a:ext>
            </a:extLst>
          </p:cNvPr>
          <p:cNvSpPr txBox="1"/>
          <p:nvPr/>
        </p:nvSpPr>
        <p:spPr>
          <a:xfrm>
            <a:off x="584200" y="4762499"/>
            <a:ext cx="11023600" cy="8763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デバイス側は </a:t>
            </a:r>
            <a:r>
              <a:rPr lang="en-US" altLang="ja-JP" sz="1400" b="1">
                <a:solidFill>
                  <a:srgbClr val="0B2430"/>
                </a:solidFill>
                <a:latin typeface="Yu Gothic UI" panose="020B0500000000000000" pitchFamily="34" charset="-128"/>
                <a:ea typeface="Yu Gothic UI" panose="020B0500000000000000" pitchFamily="34" charset="-128"/>
              </a:rPr>
              <a:t>SAS / X.509</a:t>
            </a:r>
            <a:r>
              <a:rPr lang="ja-JP" altLang="en-US" sz="1400">
                <a:solidFill>
                  <a:srgbClr val="0B2430"/>
                </a:solidFill>
                <a:latin typeface="Yu Gothic UI" panose="020B0500000000000000" pitchFamily="34" charset="-128"/>
                <a:ea typeface="Yu Gothic UI" panose="020B0500000000000000" pitchFamily="34" charset="-128"/>
              </a:rPr>
              <a:t>。</a:t>
            </a:r>
          </a:p>
          <a:p>
            <a:r>
              <a:rPr lang="ja-JP" altLang="en-US" sz="1400">
                <a:solidFill>
                  <a:srgbClr val="0B2430"/>
                </a:solidFill>
                <a:latin typeface="Yu Gothic UI" panose="020B0500000000000000" pitchFamily="34" charset="-128"/>
                <a:ea typeface="Yu Gothic UI" panose="020B0500000000000000" pitchFamily="34" charset="-128"/>
              </a:rPr>
              <a:t>デバイス管理・操作を行うサービス</a:t>
            </a:r>
            <a:r>
              <a:rPr lang="en-US" altLang="ja-JP" sz="1400">
                <a:solidFill>
                  <a:srgbClr val="0B2430"/>
                </a:solidFill>
                <a:latin typeface="Yu Gothic UI" panose="020B0500000000000000" pitchFamily="34" charset="-128"/>
                <a:ea typeface="Yu Gothic UI" panose="020B0500000000000000" pitchFamily="34" charset="-128"/>
              </a:rPr>
              <a:t>API</a:t>
            </a:r>
            <a:r>
              <a:rPr lang="ja-JP" altLang="en-US" sz="1400">
                <a:solidFill>
                  <a:srgbClr val="0B2430"/>
                </a:solidFill>
                <a:latin typeface="Yu Gothic UI" panose="020B0500000000000000" pitchFamily="34" charset="-128"/>
                <a:ea typeface="Yu Gothic UI" panose="020B0500000000000000" pitchFamily="34" charset="-128"/>
              </a:rPr>
              <a:t>は </a:t>
            </a:r>
            <a:r>
              <a:rPr lang="en-US" altLang="ja-JP" sz="1400" b="1">
                <a:solidFill>
                  <a:srgbClr val="0B2430"/>
                </a:solidFill>
                <a:latin typeface="Yu Gothic UI" panose="020B0500000000000000" pitchFamily="34" charset="-128"/>
                <a:ea typeface="Yu Gothic UI" panose="020B0500000000000000" pitchFamily="34" charset="-128"/>
              </a:rPr>
              <a:t>Entra ID</a:t>
            </a:r>
            <a:r>
              <a:rPr lang="ja-JP" altLang="en-US" sz="1400" b="1">
                <a:solidFill>
                  <a:srgbClr val="0B2430"/>
                </a:solidFill>
                <a:latin typeface="Yu Gothic UI" panose="020B0500000000000000" pitchFamily="34" charset="-128"/>
                <a:ea typeface="Yu Gothic UI" panose="020B0500000000000000" pitchFamily="34" charset="-128"/>
              </a:rPr>
              <a:t>で認証 </a:t>
            </a:r>
            <a:r>
              <a:rPr lang="en-US" altLang="ja-JP" sz="1400" b="1">
                <a:solidFill>
                  <a:srgbClr val="0B2430"/>
                </a:solidFill>
                <a:latin typeface="Yu Gothic UI" panose="020B0500000000000000" pitchFamily="34" charset="-128"/>
                <a:ea typeface="Yu Gothic UI" panose="020B0500000000000000" pitchFamily="34" charset="-128"/>
              </a:rPr>
              <a:t>+ Azure RBAC</a:t>
            </a:r>
            <a:r>
              <a:rPr lang="ja-JP" altLang="en-US" sz="1400" b="1">
                <a:solidFill>
                  <a:srgbClr val="0B2430"/>
                </a:solidFill>
                <a:latin typeface="Yu Gothic UI" panose="020B0500000000000000" pitchFamily="34" charset="-128"/>
                <a:ea typeface="Yu Gothic UI" panose="020B0500000000000000" pitchFamily="34" charset="-128"/>
              </a:rPr>
              <a:t>で権限付与</a:t>
            </a:r>
            <a:r>
              <a:rPr lang="ja-JP" altLang="en-US" sz="1400">
                <a:solidFill>
                  <a:srgbClr val="0B2430"/>
                </a:solidFill>
                <a:latin typeface="Yu Gothic UI" panose="020B0500000000000000" pitchFamily="34" charset="-128"/>
                <a:ea typeface="Yu Gothic UI" panose="020B0500000000000000" pitchFamily="34" charset="-128"/>
              </a:rPr>
              <a:t>、または </a:t>
            </a:r>
            <a:r>
              <a:rPr lang="ja-JP" altLang="en-US" sz="1400" b="1">
                <a:solidFill>
                  <a:srgbClr val="0B2430"/>
                </a:solidFill>
                <a:latin typeface="Yu Gothic UI" panose="020B0500000000000000" pitchFamily="34" charset="-128"/>
                <a:ea typeface="Yu Gothic UI" panose="020B0500000000000000" pitchFamily="34" charset="-128"/>
              </a:rPr>
              <a:t>共有アクセスポリシー（</a:t>
            </a:r>
            <a:r>
              <a:rPr lang="en-US" altLang="ja-JP" sz="1400" b="1">
                <a:solidFill>
                  <a:srgbClr val="0B2430"/>
                </a:solidFill>
                <a:latin typeface="Yu Gothic UI" panose="020B0500000000000000" pitchFamily="34" charset="-128"/>
                <a:ea typeface="Yu Gothic UI" panose="020B0500000000000000" pitchFamily="34" charset="-128"/>
              </a:rPr>
              <a:t>Hub</a:t>
            </a:r>
            <a:r>
              <a:rPr lang="ja-JP" altLang="en-US" sz="1400" b="1">
                <a:solidFill>
                  <a:srgbClr val="0B2430"/>
                </a:solidFill>
                <a:latin typeface="Yu Gothic UI" panose="020B0500000000000000" pitchFamily="34" charset="-128"/>
                <a:ea typeface="Yu Gothic UI" panose="020B0500000000000000" pitchFamily="34" charset="-128"/>
              </a:rPr>
              <a:t>側の権限設定）の</a:t>
            </a:r>
            <a:r>
              <a:rPr lang="en-US" altLang="ja-JP" sz="1400" b="1">
                <a:solidFill>
                  <a:srgbClr val="0B2430"/>
                </a:solidFill>
                <a:latin typeface="Yu Gothic UI" panose="020B0500000000000000" pitchFamily="34" charset="-128"/>
                <a:ea typeface="Yu Gothic UI" panose="020B0500000000000000" pitchFamily="34" charset="-128"/>
              </a:rPr>
              <a:t>SAS</a:t>
            </a:r>
            <a:r>
              <a:rPr lang="ja-JP" altLang="en-US" sz="1400">
                <a:solidFill>
                  <a:srgbClr val="0B2430"/>
                </a:solidFill>
                <a:latin typeface="Yu Gothic UI" panose="020B0500000000000000" pitchFamily="34" charset="-128"/>
                <a:ea typeface="Yu Gothic UI" panose="020B0500000000000000" pitchFamily="34" charset="-128"/>
              </a:rPr>
              <a:t>を使う。</a:t>
            </a:r>
          </a:p>
          <a:p>
            <a:r>
              <a:rPr lang="en-US" altLang="ja-JP" sz="1400">
                <a:solidFill>
                  <a:srgbClr val="0B2430"/>
                </a:solidFill>
                <a:latin typeface="Yu Gothic UI" panose="020B0500000000000000" pitchFamily="34" charset="-128"/>
                <a:ea typeface="Yu Gothic UI" panose="020B0500000000000000" pitchFamily="34" charset="-128"/>
              </a:rPr>
              <a:t>Entra ID</a:t>
            </a:r>
            <a:r>
              <a:rPr lang="ja-JP" altLang="en-US" sz="1400">
                <a:solidFill>
                  <a:srgbClr val="0B2430"/>
                </a:solidFill>
                <a:latin typeface="Yu Gothic UI" panose="020B0500000000000000" pitchFamily="34" charset="-128"/>
                <a:ea typeface="Yu Gothic UI" panose="020B0500000000000000" pitchFamily="34" charset="-128"/>
              </a:rPr>
              <a:t>認証はデバイス</a:t>
            </a:r>
            <a:r>
              <a:rPr lang="en-US" altLang="ja-JP" sz="1400">
                <a:solidFill>
                  <a:srgbClr val="0B2430"/>
                </a:solidFill>
                <a:latin typeface="Yu Gothic UI" panose="020B0500000000000000" pitchFamily="34" charset="-128"/>
                <a:ea typeface="Yu Gothic UI" panose="020B0500000000000000" pitchFamily="34" charset="-128"/>
              </a:rPr>
              <a:t>API</a:t>
            </a:r>
            <a:r>
              <a:rPr lang="ja-JP" altLang="en-US" sz="1400">
                <a:solidFill>
                  <a:srgbClr val="0B2430"/>
                </a:solidFill>
                <a:latin typeface="Yu Gothic UI" panose="020B0500000000000000" pitchFamily="34" charset="-128"/>
                <a:ea typeface="Yu Gothic UI" panose="020B0500000000000000" pitchFamily="34" charset="-128"/>
              </a:rPr>
              <a:t>には使えない（</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[2]</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8" name="source:block:3">
            <a:extLst>
              <a:ext uri="{FF2B5EF4-FFF2-40B4-BE49-F238E27FC236}">
                <a16:creationId xmlns:a16="http://schemas.microsoft.com/office/drawing/2014/main" id="{6738B240-B5DD-BBBB-80AC-6F66E50BF829}"/>
              </a:ext>
            </a:extLst>
          </p:cNvPr>
          <p:cNvSpPr txBox="1"/>
          <p:nvPr/>
        </p:nvSpPr>
        <p:spPr>
          <a:xfrm>
            <a:off x="584200" y="5740400"/>
            <a:ext cx="11023600" cy="5715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デバイス用とサービス側の資格情報を分ける。</a:t>
            </a:r>
            <a:r>
              <a:rPr lang="en-US" altLang="ja-JP" sz="1500" b="1">
                <a:solidFill>
                  <a:srgbClr val="0078D4"/>
                </a:solidFill>
                <a:latin typeface="Yu Gothic UI" panose="020B0500000000000000" pitchFamily="34" charset="-128"/>
                <a:ea typeface="Yu Gothic UI" panose="020B0500000000000000" pitchFamily="34" charset="-128"/>
              </a:rPr>
              <a:t>TLS</a:t>
            </a:r>
            <a:r>
              <a:rPr lang="ja-JP" altLang="en-US" sz="1500" b="1">
                <a:solidFill>
                  <a:srgbClr val="0078D4"/>
                </a:solidFill>
                <a:latin typeface="Yu Gothic UI" panose="020B0500000000000000" pitchFamily="34" charset="-128"/>
                <a:ea typeface="Yu Gothic UI" panose="020B0500000000000000" pitchFamily="34" charset="-128"/>
              </a:rPr>
              <a:t>を使っていても、キーの公開が安全になるわけではない。</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[3]</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[4]</a:t>
            </a:r>
            <a:r>
              <a:rPr lang="ja-JP" altLang="en-US" sz="1500">
                <a:solidFill>
                  <a:srgbClr val="0078D4"/>
                </a:solidFill>
                <a:latin typeface="Yu Gothic UI" panose="020B0500000000000000" pitchFamily="34" charset="-128"/>
                <a:ea typeface="Yu Gothic UI" panose="020B0500000000000000" pitchFamily="34" charset="-128"/>
              </a:rPr>
              <a:t>）</a:t>
            </a:r>
            <a:endParaRPr lang="en-US" sz="1500">
              <a:solidFill>
                <a:srgbClr val="0078D4"/>
              </a:solidFill>
              <a:latin typeface="Yu Gothic UI" panose="020B0500000000000000" pitchFamily="34" charset="-128"/>
              <a:ea typeface="Yu Gothic UI" panose="020B0500000000000000" pitchFamily="34" charset="-128"/>
            </a:endParaRPr>
          </a:p>
        </p:txBody>
      </p:sp>
      <p:sp>
        <p:nvSpPr>
          <p:cNvPr id="19" name="citation:1">
            <a:extLst>
              <a:ext uri="{FF2B5EF4-FFF2-40B4-BE49-F238E27FC236}">
                <a16:creationId xmlns:a16="http://schemas.microsoft.com/office/drawing/2014/main" id="{DE980683-6419-9E54-4EBF-E04C61FD1EF2}"/>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SAS </a:t>
            </a:r>
            <a:r>
              <a:rPr lang="ja-JP" altLang="en-US" sz="950">
                <a:solidFill>
                  <a:srgbClr val="566473"/>
                </a:solidFill>
                <a:latin typeface="Yu Gothic UI" panose="020B0500000000000000" pitchFamily="34" charset="-128"/>
                <a:ea typeface="Yu Gothic UI" panose="020B0500000000000000" pitchFamily="34" charset="-128"/>
                <a:hlinkClick r:id="rId3"/>
              </a:rPr>
              <a:t>とアクセス権</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0" name="citation:2">
            <a:extLst>
              <a:ext uri="{FF2B5EF4-FFF2-40B4-BE49-F238E27FC236}">
                <a16:creationId xmlns:a16="http://schemas.microsoft.com/office/drawing/2014/main" id="{AD172F15-F30F-A9C1-0949-213CB0BC5568}"/>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4"/>
              </a:rPr>
              <a:t>[2] Microsoft Entra ID </a:t>
            </a:r>
            <a:r>
              <a:rPr lang="ja-JP" altLang="en-US" sz="950">
                <a:solidFill>
                  <a:srgbClr val="566473"/>
                </a:solidFill>
                <a:latin typeface="Yu Gothic UI" panose="020B0500000000000000" pitchFamily="34" charset="-128"/>
                <a:ea typeface="Yu Gothic UI" panose="020B0500000000000000" pitchFamily="34" charset="-128"/>
                <a:hlinkClick r:id="rId4"/>
              </a:rPr>
              <a:t>によるサービス </a:t>
            </a:r>
            <a:r>
              <a:rPr lang="en-US" sz="950">
                <a:solidFill>
                  <a:srgbClr val="566473"/>
                </a:solidFill>
                <a:latin typeface="Yu Gothic UI" panose="020B0500000000000000" pitchFamily="34" charset="-128"/>
                <a:ea typeface="Yu Gothic UI" panose="020B0500000000000000" pitchFamily="34" charset="-128"/>
                <a:hlinkClick r:id="rId4"/>
              </a:rPr>
              <a:t>API </a:t>
            </a:r>
            <a:r>
              <a:rPr lang="ja-JP" altLang="en-US" sz="950">
                <a:solidFill>
                  <a:srgbClr val="566473"/>
                </a:solidFill>
                <a:latin typeface="Yu Gothic UI" panose="020B0500000000000000" pitchFamily="34" charset="-128"/>
                <a:ea typeface="Yu Gothic UI" panose="020B0500000000000000" pitchFamily="34" charset="-128"/>
                <a:hlinkClick r:id="rId4"/>
              </a:rPr>
              <a:t>の認証</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1" name="citation:3">
            <a:extLst>
              <a:ext uri="{FF2B5EF4-FFF2-40B4-BE49-F238E27FC236}">
                <a16:creationId xmlns:a16="http://schemas.microsoft.com/office/drawing/2014/main" id="{5C416962-4CCB-05AB-FDCF-8F4330DE72DD}"/>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5"/>
              </a:rPr>
              <a:t>[3] TLS </a:t>
            </a:r>
            <a:r>
              <a:rPr lang="ja-JP" altLang="en-US" sz="950">
                <a:solidFill>
                  <a:srgbClr val="566473"/>
                </a:solidFill>
                <a:latin typeface="Yu Gothic UI" panose="020B0500000000000000" pitchFamily="34" charset="-128"/>
                <a:ea typeface="Yu Gothic UI" panose="020B0500000000000000" pitchFamily="34" charset="-128"/>
                <a:hlinkClick r:id="rId5"/>
              </a:rPr>
              <a:t>サポート</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2" name="citation:4">
            <a:extLst>
              <a:ext uri="{FF2B5EF4-FFF2-40B4-BE49-F238E27FC236}">
                <a16:creationId xmlns:a16="http://schemas.microsoft.com/office/drawing/2014/main" id="{D307DEA2-A9C1-D767-5C86-F7C0B4157EAF}"/>
              </a:ext>
            </a:extLst>
          </p:cNvPr>
          <p:cNvSpPr txBox="1"/>
          <p:nvPr/>
        </p:nvSpPr>
        <p:spPr>
          <a:xfrm>
            <a:off x="6146800" y="65278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6"/>
              </a:rPr>
              <a:t>[4] </a:t>
            </a:r>
            <a:r>
              <a:rPr lang="ja-JP" altLang="en-US" sz="950">
                <a:solidFill>
                  <a:srgbClr val="566473"/>
                </a:solidFill>
                <a:latin typeface="Yu Gothic UI" panose="020B0500000000000000" pitchFamily="34" charset="-128"/>
                <a:ea typeface="Yu Gothic UI" panose="020B0500000000000000" pitchFamily="34" charset="-128"/>
                <a:hlinkClick r:id="rId6"/>
              </a:rPr>
              <a:t>セキュリティ推奨事項</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8054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Hub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の通信プロトコルと選び分け</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5</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FBBA91FE-D5A0-F554-EC09-4D7E461B462A}"/>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通信プロトコルはデータをやり取りする方式。デバイスの制約と受信方法に合わせて選ぶ。</a:t>
            </a:r>
            <a:endParaRPr lang="en-US" sz="1600" b="1">
              <a:solidFill>
                <a:srgbClr val="0B2430"/>
              </a:solidFill>
              <a:latin typeface="Yu Gothic UI" panose="020B0500000000000000" pitchFamily="34" charset="-128"/>
              <a:ea typeface="Yu Gothic UI" panose="020B0500000000000000" pitchFamily="34" charset="-128"/>
            </a:endParaRPr>
          </a:p>
        </p:txBody>
      </p:sp>
      <p:graphicFrame>
        <p:nvGraphicFramePr>
          <p:cNvPr id="7" name="source:table">
            <a:extLst>
              <a:ext uri="{FF2B5EF4-FFF2-40B4-BE49-F238E27FC236}">
                <a16:creationId xmlns:a16="http://schemas.microsoft.com/office/drawing/2014/main" id="{CC8ACDD0-2FCB-9250-F911-25D2FD3805B1}"/>
              </a:ext>
            </a:extLst>
          </p:cNvPr>
          <p:cNvGraphicFramePr>
            <a:graphicFrameLocks noGrp="1"/>
          </p:cNvGraphicFramePr>
          <p:nvPr>
            <p:extLst>
              <p:ext uri="{D42A27DB-BD31-4B8C-83A1-F6EECF244321}">
                <p14:modId xmlns:p14="http://schemas.microsoft.com/office/powerpoint/2010/main" val="3734757057"/>
              </p:ext>
            </p:extLst>
          </p:nvPr>
        </p:nvGraphicFramePr>
        <p:xfrm>
          <a:off x="584200" y="1701800"/>
          <a:ext cx="11023600" cy="29718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4005785422"/>
                    </a:ext>
                  </a:extLst>
                </a:gridCol>
                <a:gridCol w="2806700">
                  <a:extLst>
                    <a:ext uri="{9D8B030D-6E8A-4147-A177-3AD203B41FA5}">
                      <a16:colId xmlns:a16="http://schemas.microsoft.com/office/drawing/2014/main" val="1064771468"/>
                    </a:ext>
                  </a:extLst>
                </a:gridCol>
                <a:gridCol w="2806700">
                  <a:extLst>
                    <a:ext uri="{9D8B030D-6E8A-4147-A177-3AD203B41FA5}">
                      <a16:colId xmlns:a16="http://schemas.microsoft.com/office/drawing/2014/main" val="577938728"/>
                    </a:ext>
                  </a:extLst>
                </a:gridCol>
                <a:gridCol w="2997200">
                  <a:extLst>
                    <a:ext uri="{9D8B030D-6E8A-4147-A177-3AD203B41FA5}">
                      <a16:colId xmlns:a16="http://schemas.microsoft.com/office/drawing/2014/main" val="290802421"/>
                    </a:ext>
                  </a:extLst>
                </a:gridCol>
              </a:tblGrid>
              <a:tr h="406400">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観点</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en-US" sz="1400" b="1">
                          <a:solidFill>
                            <a:srgbClr val="0B2430"/>
                          </a:solidFill>
                          <a:latin typeface="Yu Gothic UI" panose="020B0500000000000000" pitchFamily="34" charset="-128"/>
                          <a:ea typeface="Yu Gothic UI" panose="020B0500000000000000" pitchFamily="34" charset="-128"/>
                        </a:rPr>
                        <a:t>MQTT</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en-US" sz="1400" b="1">
                          <a:solidFill>
                            <a:srgbClr val="0B2430"/>
                          </a:solidFill>
                          <a:latin typeface="Yu Gothic UI" panose="020B0500000000000000" pitchFamily="34" charset="-128"/>
                          <a:ea typeface="Yu Gothic UI" panose="020B0500000000000000" pitchFamily="34" charset="-128"/>
                        </a:rPr>
                        <a:t>AMQP</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en-US" sz="1400" b="1">
                          <a:solidFill>
                            <a:srgbClr val="0B2430"/>
                          </a:solidFill>
                          <a:latin typeface="Yu Gothic UI" panose="020B0500000000000000" pitchFamily="34" charset="-128"/>
                          <a:ea typeface="Yu Gothic UI" panose="020B0500000000000000" pitchFamily="34" charset="-128"/>
                        </a:rPr>
                        <a:t>HTTPS</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3935195096"/>
                  </a:ext>
                </a:extLst>
              </a:tr>
              <a:tr h="6477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主な選択場面</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一般的なデバイスの直接接続</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複数デバイスを集約するゲートウェイ</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他の方式を利用できないデバイス</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675415696"/>
                  </a:ext>
                </a:extLst>
              </a:tr>
              <a:tr h="7747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クラウド→デバイスの</a:t>
                      </a:r>
                    </a:p>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メッセージ受信（</a:t>
                      </a:r>
                      <a:r>
                        <a:rPr lang="en-US" altLang="ja-JP" sz="1400" b="0">
                          <a:solidFill>
                            <a:srgbClr val="0B2430"/>
                          </a:solidFill>
                          <a:latin typeface="Yu Gothic UI" panose="020B0500000000000000" pitchFamily="34" charset="-128"/>
                          <a:ea typeface="Yu Gothic UI" panose="020B0500000000000000" pitchFamily="34" charset="-128"/>
                        </a:rPr>
                        <a:t>C2D</a:t>
                      </a:r>
                      <a:r>
                        <a:rPr lang="ja-JP" altLang="en-US" sz="1400" b="0">
                          <a:solidFill>
                            <a:srgbClr val="0B2430"/>
                          </a:solidFill>
                          <a:latin typeface="Yu Gothic UI" panose="020B0500000000000000" pitchFamily="34" charset="-128"/>
                          <a:ea typeface="Yu Gothic UI" panose="020B0500000000000000" pitchFamily="34" charset="-128"/>
                        </a:rPr>
                        <a:t>）</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サーバーからプッシュ</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サーバーからプッシュ</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デバイスから定期的に問い合わせる（ポーリング）</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886869100"/>
                  </a:ext>
                </a:extLst>
              </a:tr>
              <a:tr h="546100">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1</a:t>
                      </a:r>
                      <a:r>
                        <a:rPr lang="ja-JP" altLang="en-US" sz="1400" b="0">
                          <a:solidFill>
                            <a:srgbClr val="0B2430"/>
                          </a:solidFill>
                          <a:latin typeface="Yu Gothic UI" panose="020B0500000000000000" pitchFamily="34" charset="-128"/>
                          <a:ea typeface="Yu Gothic UI" panose="020B0500000000000000" pitchFamily="34" charset="-128"/>
                        </a:rPr>
                        <a:t>つの</a:t>
                      </a:r>
                      <a:r>
                        <a:rPr lang="en-US" altLang="ja-JP" sz="1400" b="0">
                          <a:solidFill>
                            <a:srgbClr val="0B2430"/>
                          </a:solidFill>
                          <a:latin typeface="Yu Gothic UI" panose="020B0500000000000000" pitchFamily="34" charset="-128"/>
                          <a:ea typeface="Yu Gothic UI" panose="020B0500000000000000" pitchFamily="34" charset="-128"/>
                        </a:rPr>
                        <a:t>TLS</a:t>
                      </a:r>
                      <a:r>
                        <a:rPr lang="ja-JP" altLang="en-US" sz="1400" b="0">
                          <a:solidFill>
                            <a:srgbClr val="0B2430"/>
                          </a:solidFill>
                          <a:latin typeface="Yu Gothic UI" panose="020B0500000000000000" pitchFamily="34" charset="-128"/>
                          <a:ea typeface="Yu Gothic UI" panose="020B0500000000000000" pitchFamily="34" charset="-128"/>
                        </a:rPr>
                        <a:t>接続で扱うデバイス</a:t>
                      </a:r>
                      <a:r>
                        <a:rPr lang="en-US" altLang="ja-JP" sz="1400" b="0">
                          <a:solidFill>
                            <a:srgbClr val="0B2430"/>
                          </a:solidFill>
                          <a:latin typeface="Yu Gothic UI" panose="020B0500000000000000" pitchFamily="34" charset="-128"/>
                          <a:ea typeface="Yu Gothic UI" panose="020B0500000000000000" pitchFamily="34" charset="-128"/>
                        </a:rPr>
                        <a:t>ID</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1</a:t>
                      </a:r>
                      <a:r>
                        <a:rPr lang="ja-JP" altLang="en-US" sz="1400" b="0">
                          <a:solidFill>
                            <a:srgbClr val="0B2430"/>
                          </a:solidFill>
                          <a:latin typeface="Yu Gothic UI" panose="020B0500000000000000" pitchFamily="34" charset="-128"/>
                          <a:ea typeface="Yu Gothic UI" panose="020B0500000000000000" pitchFamily="34" charset="-128"/>
                        </a:rPr>
                        <a:t>つ</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複数</a:t>
                      </a:r>
                      <a:r>
                        <a:rPr lang="en-US" altLang="ja-JP" sz="1400" b="0">
                          <a:solidFill>
                            <a:srgbClr val="0B2430"/>
                          </a:solidFill>
                          <a:latin typeface="Yu Gothic UI" panose="020B0500000000000000" pitchFamily="34" charset="-128"/>
                          <a:ea typeface="Yu Gothic UI" panose="020B0500000000000000" pitchFamily="34" charset="-128"/>
                        </a:rPr>
                        <a:t>ID</a:t>
                      </a:r>
                      <a:r>
                        <a:rPr lang="ja-JP" altLang="en-US" sz="1400" b="0">
                          <a:solidFill>
                            <a:srgbClr val="0B2430"/>
                          </a:solidFill>
                          <a:latin typeface="Yu Gothic UI" panose="020B0500000000000000" pitchFamily="34" charset="-128"/>
                          <a:ea typeface="Yu Gothic UI" panose="020B0500000000000000" pitchFamily="34" charset="-128"/>
                        </a:rPr>
                        <a:t>を多重化できる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1</a:t>
                      </a:r>
                      <a:r>
                        <a:rPr lang="ja-JP" altLang="en-US" sz="1400" b="0">
                          <a:solidFill>
                            <a:srgbClr val="0B2430"/>
                          </a:solidFill>
                          <a:latin typeface="Yu Gothic UI" panose="020B0500000000000000" pitchFamily="34" charset="-128"/>
                          <a:ea typeface="Yu Gothic UI" panose="020B0500000000000000" pitchFamily="34" charset="-128"/>
                        </a:rPr>
                        <a:t>つ</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687135754"/>
                  </a:ext>
                </a:extLst>
              </a:tr>
              <a:tr h="5969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送信先ポート</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8883 / </a:t>
                      </a:r>
                    </a:p>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WebSocket</a:t>
                      </a:r>
                      <a:r>
                        <a:rPr lang="ja-JP" altLang="en-US" sz="1400" b="0">
                          <a:solidFill>
                            <a:srgbClr val="0B2430"/>
                          </a:solidFill>
                          <a:latin typeface="Yu Gothic UI" panose="020B0500000000000000" pitchFamily="34" charset="-128"/>
                          <a:ea typeface="Yu Gothic UI" panose="020B0500000000000000" pitchFamily="34" charset="-128"/>
                        </a:rPr>
                        <a:t>経由は</a:t>
                      </a:r>
                      <a:r>
                        <a:rPr lang="en-US" altLang="ja-JP" sz="1400" b="0">
                          <a:solidFill>
                            <a:srgbClr val="0B2430"/>
                          </a:solidFill>
                          <a:latin typeface="Yu Gothic UI" panose="020B0500000000000000" pitchFamily="34" charset="-128"/>
                          <a:ea typeface="Yu Gothic UI" panose="020B0500000000000000" pitchFamily="34" charset="-128"/>
                        </a:rPr>
                        <a:t>443</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5671 / </a:t>
                      </a:r>
                    </a:p>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WebSocket</a:t>
                      </a:r>
                      <a:r>
                        <a:rPr lang="ja-JP" altLang="en-US" sz="1400" b="0">
                          <a:solidFill>
                            <a:srgbClr val="0B2430"/>
                          </a:solidFill>
                          <a:latin typeface="Yu Gothic UI" panose="020B0500000000000000" pitchFamily="34" charset="-128"/>
                          <a:ea typeface="Yu Gothic UI" panose="020B0500000000000000" pitchFamily="34" charset="-128"/>
                        </a:rPr>
                        <a:t>経由は</a:t>
                      </a:r>
                      <a:r>
                        <a:rPr lang="en-US" altLang="ja-JP" sz="1400" b="0">
                          <a:solidFill>
                            <a:srgbClr val="0B2430"/>
                          </a:solidFill>
                          <a:latin typeface="Yu Gothic UI" panose="020B0500000000000000" pitchFamily="34" charset="-128"/>
                          <a:ea typeface="Yu Gothic UI" panose="020B0500000000000000" pitchFamily="34" charset="-128"/>
                        </a:rPr>
                        <a:t>443</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443</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187153292"/>
                  </a:ext>
                </a:extLst>
              </a:tr>
            </a:tbl>
          </a:graphicData>
        </a:graphic>
      </p:graphicFrame>
      <p:sp>
        <p:nvSpPr>
          <p:cNvPr id="8" name="source:block:2">
            <a:extLst>
              <a:ext uri="{FF2B5EF4-FFF2-40B4-BE49-F238E27FC236}">
                <a16:creationId xmlns:a16="http://schemas.microsoft.com/office/drawing/2014/main" id="{6EACC0A7-A575-981B-BB50-8E6EC914C9D1}"/>
              </a:ext>
            </a:extLst>
          </p:cNvPr>
          <p:cNvSpPr txBox="1"/>
          <p:nvPr/>
        </p:nvSpPr>
        <p:spPr>
          <a:xfrm>
            <a:off x="584200" y="4864100"/>
            <a:ext cx="11023600" cy="533400"/>
          </a:xfrm>
          <a:prstGeom prst="rect">
            <a:avLst/>
          </a:prstGeom>
          <a:noFill/>
        </p:spPr>
        <p:txBody>
          <a:bodyPr vert="horz" wrap="square" lIns="0" tIns="0" rIns="0" bIns="0" rtlCol="0" anchor="t">
            <a:noAutofit/>
          </a:bodyPr>
          <a:lstStyle/>
          <a:p>
            <a:r>
              <a:rPr lang="en-US" altLang="ja-JP" sz="1400">
                <a:solidFill>
                  <a:srgbClr val="0B2430"/>
                </a:solidFill>
                <a:latin typeface="Yu Gothic UI" panose="020B0500000000000000" pitchFamily="34" charset="-128"/>
                <a:ea typeface="Yu Gothic UI" panose="020B0500000000000000" pitchFamily="34" charset="-128"/>
              </a:rPr>
              <a:t>IoT Hub</a:t>
            </a:r>
            <a:r>
              <a:rPr lang="ja-JP" altLang="en-US" sz="1400">
                <a:solidFill>
                  <a:srgbClr val="0B2430"/>
                </a:solidFill>
                <a:latin typeface="Yu Gothic UI" panose="020B0500000000000000" pitchFamily="34" charset="-128"/>
                <a:ea typeface="Yu Gothic UI" panose="020B0500000000000000" pitchFamily="34" charset="-128"/>
              </a:rPr>
              <a:t>のデバイス側通信を比較。</a:t>
            </a:r>
            <a:r>
              <a:rPr lang="en-US" altLang="ja-JP" sz="1400">
                <a:solidFill>
                  <a:srgbClr val="0B2430"/>
                </a:solidFill>
                <a:latin typeface="Yu Gothic UI" panose="020B0500000000000000" pitchFamily="34" charset="-128"/>
                <a:ea typeface="Yu Gothic UI" panose="020B0500000000000000" pitchFamily="34" charset="-128"/>
              </a:rPr>
              <a:t>C2D</a:t>
            </a:r>
            <a:r>
              <a:rPr lang="ja-JP" altLang="en-US" sz="1400">
                <a:solidFill>
                  <a:srgbClr val="0B2430"/>
                </a:solidFill>
                <a:latin typeface="Yu Gothic UI" panose="020B0500000000000000" pitchFamily="34" charset="-128"/>
                <a:ea typeface="Yu Gothic UI" panose="020B0500000000000000" pitchFamily="34" charset="-128"/>
              </a:rPr>
              <a:t>メッセージを速やかに受け取る用途は</a:t>
            </a:r>
            <a:r>
              <a:rPr lang="en-US" altLang="ja-JP" sz="1400">
                <a:solidFill>
                  <a:srgbClr val="0B2430"/>
                </a:solidFill>
                <a:latin typeface="Yu Gothic UI" panose="020B0500000000000000" pitchFamily="34" charset="-128"/>
                <a:ea typeface="Yu Gothic UI" panose="020B0500000000000000" pitchFamily="34" charset="-128"/>
              </a:rPr>
              <a:t>MQTT / AMQP</a:t>
            </a:r>
            <a:r>
              <a:rPr lang="ja-JP" altLang="en-US" sz="1400">
                <a:solidFill>
                  <a:srgbClr val="0B2430"/>
                </a:solidFill>
                <a:latin typeface="Yu Gothic UI" panose="020B0500000000000000" pitchFamily="34" charset="-128"/>
                <a:ea typeface="Yu Gothic UI" panose="020B0500000000000000" pitchFamily="34" charset="-128"/>
              </a:rPr>
              <a:t>を選ぶ。操作機能全般の対応比較ではない（</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9" name="source:block:3">
            <a:extLst>
              <a:ext uri="{FF2B5EF4-FFF2-40B4-BE49-F238E27FC236}">
                <a16:creationId xmlns:a16="http://schemas.microsoft.com/office/drawing/2014/main" id="{ED50FC7E-4612-A4E2-87D6-39CFC4799D35}"/>
              </a:ext>
            </a:extLst>
          </p:cNvPr>
          <p:cNvSpPr txBox="1"/>
          <p:nvPr/>
        </p:nvSpPr>
        <p:spPr>
          <a:xfrm>
            <a:off x="584200" y="5486400"/>
            <a:ext cx="11023600" cy="520700"/>
          </a:xfrm>
          <a:prstGeom prst="rect">
            <a:avLst/>
          </a:prstGeom>
          <a:noFill/>
        </p:spPr>
        <p:txBody>
          <a:bodyPr vert="horz" wrap="square" lIns="0" tIns="0" rIns="0" bIns="0" rtlCol="0" anchor="t">
            <a:noAutofit/>
          </a:bodyPr>
          <a:lstStyle/>
          <a:p>
            <a:r>
              <a:rPr lang="en-US" altLang="ja-JP" sz="1400" b="1">
                <a:solidFill>
                  <a:srgbClr val="0B2430"/>
                </a:solidFill>
                <a:latin typeface="Yu Gothic UI" panose="020B0500000000000000" pitchFamily="34" charset="-128"/>
                <a:ea typeface="Yu Gothic UI" panose="020B0500000000000000" pitchFamily="34" charset="-128"/>
              </a:rPr>
              <a:t>443</a:t>
            </a:r>
            <a:r>
              <a:rPr lang="ja-JP" altLang="en-US" sz="1400" b="1">
                <a:solidFill>
                  <a:srgbClr val="0B2430"/>
                </a:solidFill>
                <a:latin typeface="Yu Gothic UI" panose="020B0500000000000000" pitchFamily="34" charset="-128"/>
                <a:ea typeface="Yu Gothic UI" panose="020B0500000000000000" pitchFamily="34" charset="-128"/>
              </a:rPr>
              <a:t>番ポートを使う通信が、すべて</a:t>
            </a:r>
            <a:r>
              <a:rPr lang="en-US" altLang="ja-JP" sz="1400" b="1">
                <a:solidFill>
                  <a:srgbClr val="0B2430"/>
                </a:solidFill>
                <a:latin typeface="Yu Gothic UI" panose="020B0500000000000000" pitchFamily="34" charset="-128"/>
                <a:ea typeface="Yu Gothic UI" panose="020B0500000000000000" pitchFamily="34" charset="-128"/>
              </a:rPr>
              <a:t>HTTPS</a:t>
            </a:r>
            <a:r>
              <a:rPr lang="ja-JP" altLang="en-US" sz="1400" b="1">
                <a:solidFill>
                  <a:srgbClr val="0B2430"/>
                </a:solidFill>
                <a:latin typeface="Yu Gothic UI" panose="020B0500000000000000" pitchFamily="34" charset="-128"/>
                <a:ea typeface="Yu Gothic UI" panose="020B0500000000000000" pitchFamily="34" charset="-128"/>
              </a:rPr>
              <a:t>方式になるわけではない。</a:t>
            </a:r>
            <a:r>
              <a:rPr lang="ja-JP" altLang="en-US" sz="1400">
                <a:solidFill>
                  <a:srgbClr val="0B2430"/>
                </a:solidFill>
                <a:latin typeface="Yu Gothic UI" panose="020B0500000000000000" pitchFamily="34" charset="-128"/>
                <a:ea typeface="Yu Gothic UI" panose="020B0500000000000000" pitchFamily="34" charset="-128"/>
              </a:rPr>
              <a:t> </a:t>
            </a:r>
            <a:r>
              <a:rPr lang="en-US" altLang="ja-JP" sz="1400">
                <a:solidFill>
                  <a:srgbClr val="0B2430"/>
                </a:solidFill>
                <a:latin typeface="Yu Gothic UI" panose="020B0500000000000000" pitchFamily="34" charset="-128"/>
                <a:ea typeface="Yu Gothic UI" panose="020B0500000000000000" pitchFamily="34" charset="-128"/>
              </a:rPr>
              <a:t>MQTT / AMQP</a:t>
            </a:r>
            <a:r>
              <a:rPr lang="ja-JP" altLang="en-US" sz="1400">
                <a:solidFill>
                  <a:srgbClr val="0B2430"/>
                </a:solidFill>
                <a:latin typeface="Yu Gothic UI" panose="020B0500000000000000" pitchFamily="34" charset="-128"/>
                <a:ea typeface="Yu Gothic UI" panose="020B0500000000000000" pitchFamily="34" charset="-128"/>
              </a:rPr>
              <a:t>は</a:t>
            </a:r>
            <a:r>
              <a:rPr lang="en-US" altLang="ja-JP" sz="1400">
                <a:solidFill>
                  <a:srgbClr val="0B2430"/>
                </a:solidFill>
                <a:latin typeface="Yu Gothic UI" panose="020B0500000000000000" pitchFamily="34" charset="-128"/>
                <a:ea typeface="Yu Gothic UI" panose="020B0500000000000000" pitchFamily="34" charset="-128"/>
              </a:rPr>
              <a:t>WebSocket</a:t>
            </a:r>
            <a:r>
              <a:rPr lang="ja-JP" altLang="en-US" sz="1400">
                <a:solidFill>
                  <a:srgbClr val="0B2430"/>
                </a:solidFill>
                <a:latin typeface="Yu Gothic UI" panose="020B0500000000000000" pitchFamily="34" charset="-128"/>
                <a:ea typeface="Yu Gothic UI" panose="020B0500000000000000" pitchFamily="34" charset="-128"/>
              </a:rPr>
              <a:t>経由でも利用できる（</a:t>
            </a:r>
            <a:r>
              <a:rPr lang="en-US" altLang="ja-JP" sz="1400">
                <a:solidFill>
                  <a:srgbClr val="0B2430"/>
                </a:solidFill>
                <a:latin typeface="Yu Gothic UI" panose="020B0500000000000000" pitchFamily="34" charset="-128"/>
                <a:ea typeface="Yu Gothic UI" panose="020B0500000000000000" pitchFamily="34" charset="-128"/>
              </a:rPr>
              <a:t>[2]</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0" name="source:block:4">
            <a:extLst>
              <a:ext uri="{FF2B5EF4-FFF2-40B4-BE49-F238E27FC236}">
                <a16:creationId xmlns:a16="http://schemas.microsoft.com/office/drawing/2014/main" id="{4C146F56-1E8B-31EB-6FA5-07A7B6744DFC}"/>
              </a:ext>
            </a:extLst>
          </p:cNvPr>
          <p:cNvSpPr txBox="1"/>
          <p:nvPr/>
        </p:nvSpPr>
        <p:spPr>
          <a:xfrm>
            <a:off x="584200" y="6057900"/>
            <a:ext cx="11023600" cy="279400"/>
          </a:xfrm>
          <a:prstGeom prst="rect">
            <a:avLst/>
          </a:prstGeom>
          <a:noFill/>
        </p:spPr>
        <p:txBody>
          <a:bodyPr vert="horz" wrap="square" lIns="0" tIns="0" rIns="0" bIns="0" rtlCol="0" anchor="t">
            <a:noAutofit/>
          </a:bodyPr>
          <a:lstStyle/>
          <a:p>
            <a:r>
              <a:rPr lang="en-US" altLang="ja-JP" sz="1400" b="1">
                <a:solidFill>
                  <a:srgbClr val="0078D4"/>
                </a:solidFill>
                <a:latin typeface="Yu Gothic UI" panose="020B0500000000000000" pitchFamily="34" charset="-128"/>
                <a:ea typeface="Yu Gothic UI" panose="020B0500000000000000" pitchFamily="34" charset="-128"/>
              </a:rPr>
              <a:t>IoT Hub</a:t>
            </a:r>
            <a:r>
              <a:rPr lang="ja-JP" altLang="en-US" sz="1400" b="1">
                <a:solidFill>
                  <a:srgbClr val="0078D4"/>
                </a:solidFill>
                <a:latin typeface="Yu Gothic UI" panose="020B0500000000000000" pitchFamily="34" charset="-128"/>
                <a:ea typeface="Yu Gothic UI" panose="020B0500000000000000" pitchFamily="34" charset="-128"/>
              </a:rPr>
              <a:t>の</a:t>
            </a:r>
            <a:r>
              <a:rPr lang="en-US" altLang="ja-JP" sz="1400" b="1">
                <a:solidFill>
                  <a:srgbClr val="0078D4"/>
                </a:solidFill>
                <a:latin typeface="Yu Gothic UI" panose="020B0500000000000000" pitchFamily="34" charset="-128"/>
                <a:ea typeface="Yu Gothic UI" panose="020B0500000000000000" pitchFamily="34" charset="-128"/>
              </a:rPr>
              <a:t>MQTT</a:t>
            </a:r>
            <a:r>
              <a:rPr lang="ja-JP" altLang="en-US" sz="1400" b="1">
                <a:solidFill>
                  <a:srgbClr val="0078D4"/>
                </a:solidFill>
                <a:latin typeface="Yu Gothic UI" panose="020B0500000000000000" pitchFamily="34" charset="-128"/>
                <a:ea typeface="Yu Gothic UI" panose="020B0500000000000000" pitchFamily="34" charset="-128"/>
              </a:rPr>
              <a:t>対応は機能が限定され、汎用</a:t>
            </a:r>
            <a:r>
              <a:rPr lang="en-US" altLang="ja-JP" sz="1400" b="1">
                <a:solidFill>
                  <a:srgbClr val="0078D4"/>
                </a:solidFill>
                <a:latin typeface="Yu Gothic UI" panose="020B0500000000000000" pitchFamily="34" charset="-128"/>
                <a:ea typeface="Yu Gothic UI" panose="020B0500000000000000" pitchFamily="34" charset="-128"/>
              </a:rPr>
              <a:t>MQTT</a:t>
            </a:r>
            <a:r>
              <a:rPr lang="ja-JP" altLang="en-US" sz="1400" b="1">
                <a:solidFill>
                  <a:srgbClr val="0078D4"/>
                </a:solidFill>
                <a:latin typeface="Yu Gothic UI" panose="020B0500000000000000" pitchFamily="34" charset="-128"/>
                <a:ea typeface="Yu Gothic UI" panose="020B0500000000000000" pitchFamily="34" charset="-128"/>
              </a:rPr>
              <a:t>ブローカーと同じではない。</a:t>
            </a:r>
            <a:r>
              <a:rPr lang="ja-JP" altLang="en-US" sz="1400">
                <a:solidFill>
                  <a:srgbClr val="0078D4"/>
                </a:solidFill>
                <a:latin typeface="Yu Gothic UI" panose="020B0500000000000000" pitchFamily="34" charset="-128"/>
                <a:ea typeface="Yu Gothic UI" panose="020B0500000000000000" pitchFamily="34" charset="-128"/>
              </a:rPr>
              <a:t>（</a:t>
            </a:r>
            <a:r>
              <a:rPr lang="en-US" altLang="ja-JP" sz="1400">
                <a:solidFill>
                  <a:srgbClr val="0078D4"/>
                </a:solidFill>
                <a:latin typeface="Yu Gothic UI" panose="020B0500000000000000" pitchFamily="34" charset="-128"/>
                <a:ea typeface="Yu Gothic UI" panose="020B0500000000000000" pitchFamily="34" charset="-128"/>
              </a:rPr>
              <a:t>[3]</a:t>
            </a:r>
            <a:r>
              <a:rPr lang="ja-JP" altLang="en-US" sz="1400">
                <a:solidFill>
                  <a:srgbClr val="0078D4"/>
                </a:solidFill>
                <a:latin typeface="Yu Gothic UI" panose="020B0500000000000000" pitchFamily="34" charset="-128"/>
                <a:ea typeface="Yu Gothic UI" panose="020B0500000000000000" pitchFamily="34" charset="-128"/>
              </a:rPr>
              <a:t>）</a:t>
            </a:r>
            <a:endParaRPr lang="en-US" sz="1400">
              <a:solidFill>
                <a:srgbClr val="0078D4"/>
              </a:solidFill>
              <a:latin typeface="Yu Gothic UI" panose="020B0500000000000000" pitchFamily="34" charset="-128"/>
              <a:ea typeface="Yu Gothic UI" panose="020B0500000000000000" pitchFamily="34" charset="-128"/>
            </a:endParaRPr>
          </a:p>
        </p:txBody>
      </p:sp>
      <p:sp>
        <p:nvSpPr>
          <p:cNvPr id="11" name="citation:1">
            <a:extLst>
              <a:ext uri="{FF2B5EF4-FFF2-40B4-BE49-F238E27FC236}">
                <a16:creationId xmlns:a16="http://schemas.microsoft.com/office/drawing/2014/main" id="{46B89D84-4A97-A661-E046-31D30DF425B6}"/>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a:t>
            </a:r>
            <a:r>
              <a:rPr lang="ja-JP" altLang="en-US" sz="950">
                <a:solidFill>
                  <a:srgbClr val="566473"/>
                </a:solidFill>
                <a:latin typeface="Yu Gothic UI" panose="020B0500000000000000" pitchFamily="34" charset="-128"/>
                <a:ea typeface="Yu Gothic UI" panose="020B0500000000000000" pitchFamily="34" charset="-128"/>
                <a:hlinkClick r:id="rId3"/>
              </a:rPr>
              <a:t>対応プロトコル・選択基準・ポート</a:t>
            </a:r>
            <a:endParaRPr lang="en-US" sz="950">
              <a:solidFill>
                <a:srgbClr val="566473"/>
              </a:solidFill>
              <a:latin typeface="Yu Gothic UI" panose="020B0500000000000000" pitchFamily="34" charset="-128"/>
              <a:ea typeface="Yu Gothic UI" panose="020B0500000000000000" pitchFamily="34" charset="-128"/>
            </a:endParaRPr>
          </a:p>
        </p:txBody>
      </p:sp>
      <p:sp>
        <p:nvSpPr>
          <p:cNvPr id="12" name="citation:2">
            <a:extLst>
              <a:ext uri="{FF2B5EF4-FFF2-40B4-BE49-F238E27FC236}">
                <a16:creationId xmlns:a16="http://schemas.microsoft.com/office/drawing/2014/main" id="{340D62BB-B021-494B-91A9-560CCF4F3502}"/>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rPr>
              <a:t>[2] WebSocket</a:t>
            </a:r>
            <a:r>
              <a:rPr lang="ja-JP" altLang="en-US" sz="950">
                <a:solidFill>
                  <a:srgbClr val="566473"/>
                </a:solidFill>
                <a:latin typeface="Yu Gothic UI" panose="020B0500000000000000" pitchFamily="34" charset="-128"/>
                <a:ea typeface="Yu Gothic UI" panose="020B0500000000000000" pitchFamily="34" charset="-128"/>
                <a:hlinkClick r:id="rId4"/>
              </a:rPr>
              <a:t>とポート番号</a:t>
            </a:r>
            <a:endParaRPr lang="en-US" sz="950">
              <a:solidFill>
                <a:srgbClr val="566473"/>
              </a:solidFill>
              <a:latin typeface="Yu Gothic UI" panose="020B0500000000000000" pitchFamily="34" charset="-128"/>
              <a:ea typeface="Yu Gothic UI" panose="020B0500000000000000" pitchFamily="34" charset="-128"/>
            </a:endParaRPr>
          </a:p>
        </p:txBody>
      </p:sp>
      <p:sp>
        <p:nvSpPr>
          <p:cNvPr id="13" name="citation:3">
            <a:extLst>
              <a:ext uri="{FF2B5EF4-FFF2-40B4-BE49-F238E27FC236}">
                <a16:creationId xmlns:a16="http://schemas.microsoft.com/office/drawing/2014/main" id="{0389D49C-C96C-C3F2-E5FD-7C27A477568F}"/>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5"/>
              </a:rPr>
              <a:t>[3] MQTT</a:t>
            </a:r>
            <a:r>
              <a:rPr lang="ja-JP" altLang="en-US" sz="950">
                <a:solidFill>
                  <a:srgbClr val="566473"/>
                </a:solidFill>
                <a:latin typeface="Yu Gothic UI" panose="020B0500000000000000" pitchFamily="34" charset="-128"/>
                <a:ea typeface="Yu Gothic UI" panose="020B0500000000000000" pitchFamily="34" charset="-128"/>
                <a:hlinkClick r:id="rId5"/>
              </a:rPr>
              <a:t>サポートの範囲</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0487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SDK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の役割と用途別の使い分け</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6</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614294D0-3987-2E58-B666-15D0673492E3}"/>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プロトコルは通信の方式。</a:t>
            </a:r>
            <a:r>
              <a:rPr lang="en-US" altLang="ja-JP" sz="1600" b="1">
                <a:solidFill>
                  <a:srgbClr val="0B2430"/>
                </a:solidFill>
                <a:latin typeface="Yu Gothic UI" panose="020B0500000000000000" pitchFamily="34" charset="-128"/>
                <a:ea typeface="Yu Gothic UI" panose="020B0500000000000000" pitchFamily="34" charset="-128"/>
              </a:rPr>
              <a:t>SDK</a:t>
            </a:r>
            <a:r>
              <a:rPr lang="ja-JP" altLang="en-US" sz="1600" b="1">
                <a:solidFill>
                  <a:srgbClr val="0B2430"/>
                </a:solidFill>
                <a:latin typeface="Yu Gothic UI" panose="020B0500000000000000" pitchFamily="34" charset="-128"/>
                <a:ea typeface="Yu Gothic UI" panose="020B0500000000000000" pitchFamily="34" charset="-128"/>
              </a:rPr>
              <a:t>は、その通信機能をアプリから使うためのライブラリ。</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source:block:1">
            <a:extLst>
              <a:ext uri="{FF2B5EF4-FFF2-40B4-BE49-F238E27FC236}">
                <a16:creationId xmlns:a16="http://schemas.microsoft.com/office/drawing/2014/main" id="{AE1AE728-A1DF-B9C3-E173-20279C148260}"/>
              </a:ext>
            </a:extLst>
          </p:cNvPr>
          <p:cNvSpPr txBox="1"/>
          <p:nvPr/>
        </p:nvSpPr>
        <p:spPr>
          <a:xfrm>
            <a:off x="584200" y="1600200"/>
            <a:ext cx="11023600" cy="533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前ページの通信方式をアプリから利用する際は、</a:t>
            </a:r>
            <a:r>
              <a:rPr lang="en-US" altLang="ja-JP" sz="1400">
                <a:solidFill>
                  <a:srgbClr val="0B2430"/>
                </a:solidFill>
                <a:latin typeface="Yu Gothic UI" panose="020B0500000000000000" pitchFamily="34" charset="-128"/>
                <a:ea typeface="Yu Gothic UI" panose="020B0500000000000000" pitchFamily="34" charset="-128"/>
              </a:rPr>
              <a:t>SDK</a:t>
            </a:r>
            <a:r>
              <a:rPr lang="ja-JP" altLang="en-US" sz="1400">
                <a:solidFill>
                  <a:srgbClr val="0B2430"/>
                </a:solidFill>
                <a:latin typeface="Yu Gothic UI" panose="020B0500000000000000" pitchFamily="34" charset="-128"/>
                <a:ea typeface="Yu Gothic UI" panose="020B0500000000000000" pitchFamily="34" charset="-128"/>
              </a:rPr>
              <a:t>の対応範囲も確認する。</a:t>
            </a:r>
            <a:r>
              <a:rPr lang="en-US" altLang="ja-JP" sz="1400">
                <a:solidFill>
                  <a:srgbClr val="0B2430"/>
                </a:solidFill>
                <a:latin typeface="Yu Gothic UI" panose="020B0500000000000000" pitchFamily="34" charset="-128"/>
                <a:ea typeface="Yu Gothic UI" panose="020B0500000000000000" pitchFamily="34" charset="-128"/>
              </a:rPr>
              <a:t>SDK</a:t>
            </a:r>
            <a:r>
              <a:rPr lang="ja-JP" altLang="en-US" sz="1400">
                <a:solidFill>
                  <a:srgbClr val="0B2430"/>
                </a:solidFill>
                <a:latin typeface="Yu Gothic UI" panose="020B0500000000000000" pitchFamily="34" charset="-128"/>
                <a:ea typeface="Yu Gothic UI" panose="020B0500000000000000" pitchFamily="34" charset="-128"/>
              </a:rPr>
              <a:t>ごとに使えるプロトコルは異なる（</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8" name="diagram:layer:0">
            <a:extLst>
              <a:ext uri="{FF2B5EF4-FFF2-40B4-BE49-F238E27FC236}">
                <a16:creationId xmlns:a16="http://schemas.microsoft.com/office/drawing/2014/main" id="{3B2ADFFC-3851-10D0-216B-27F75A02B03F}"/>
              </a:ext>
            </a:extLst>
          </p:cNvPr>
          <p:cNvSpPr/>
          <p:nvPr/>
        </p:nvSpPr>
        <p:spPr>
          <a:xfrm>
            <a:off x="584200" y="2324100"/>
            <a:ext cx="31369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デバイスアプリ</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9" name="diagram:line">
            <a:extLst>
              <a:ext uri="{FF2B5EF4-FFF2-40B4-BE49-F238E27FC236}">
                <a16:creationId xmlns:a16="http://schemas.microsoft.com/office/drawing/2014/main" id="{90FE3E9E-70D6-F53D-FBDE-24CA4A052AD9}"/>
              </a:ext>
            </a:extLst>
          </p:cNvPr>
          <p:cNvCxnSpPr/>
          <p:nvPr/>
        </p:nvCxnSpPr>
        <p:spPr>
          <a:xfrm>
            <a:off x="2159000" y="2882900"/>
            <a:ext cx="0" cy="26670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0" name="diagram:layer:1">
            <a:extLst>
              <a:ext uri="{FF2B5EF4-FFF2-40B4-BE49-F238E27FC236}">
                <a16:creationId xmlns:a16="http://schemas.microsoft.com/office/drawing/2014/main" id="{5A92DB16-3DA1-B0F5-5A98-C7C0E4868ED9}"/>
              </a:ext>
            </a:extLst>
          </p:cNvPr>
          <p:cNvSpPr/>
          <p:nvPr/>
        </p:nvSpPr>
        <p:spPr>
          <a:xfrm>
            <a:off x="584200" y="3149600"/>
            <a:ext cx="31369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デバイス </a:t>
            </a:r>
            <a:r>
              <a:rPr lang="en-US" sz="1400">
                <a:solidFill>
                  <a:srgbClr val="0B2430"/>
                </a:solidFill>
                <a:latin typeface="Yu Gothic UI" panose="020B0500000000000000" pitchFamily="34" charset="-128"/>
                <a:ea typeface="Yu Gothic UI" panose="020B0500000000000000" pitchFamily="34" charset="-128"/>
              </a:rPr>
              <a:t>SDK</a:t>
            </a:r>
          </a:p>
        </p:txBody>
      </p:sp>
      <p:cxnSp>
        <p:nvCxnSpPr>
          <p:cNvPr id="11" name="diagram:line">
            <a:extLst>
              <a:ext uri="{FF2B5EF4-FFF2-40B4-BE49-F238E27FC236}">
                <a16:creationId xmlns:a16="http://schemas.microsoft.com/office/drawing/2014/main" id="{79765E1C-05EE-EAE9-7695-F66C07180D73}"/>
              </a:ext>
            </a:extLst>
          </p:cNvPr>
          <p:cNvCxnSpPr/>
          <p:nvPr/>
        </p:nvCxnSpPr>
        <p:spPr>
          <a:xfrm>
            <a:off x="2159000" y="3708400"/>
            <a:ext cx="0" cy="26670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2" name="diagram:layer:2">
            <a:extLst>
              <a:ext uri="{FF2B5EF4-FFF2-40B4-BE49-F238E27FC236}">
                <a16:creationId xmlns:a16="http://schemas.microsoft.com/office/drawing/2014/main" id="{D2174B7F-E335-65D0-BD8F-2D03217EBEFD}"/>
              </a:ext>
            </a:extLst>
          </p:cNvPr>
          <p:cNvSpPr/>
          <p:nvPr/>
        </p:nvSpPr>
        <p:spPr>
          <a:xfrm>
            <a:off x="584200" y="3975100"/>
            <a:ext cx="31369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通信プロトコル</a:t>
            </a:r>
            <a:r>
              <a:rPr lang="en-US" altLang="ja-JP" sz="1400">
                <a:solidFill>
                  <a:srgbClr val="0B2430"/>
                </a:solidFill>
                <a:latin typeface="Yu Gothic UI" panose="020B0500000000000000" pitchFamily="34" charset="-128"/>
                <a:ea typeface="Yu Gothic UI" panose="020B0500000000000000" pitchFamily="34" charset="-128"/>
              </a:rPr>
              <a:t>: MQTT</a:t>
            </a:r>
            <a:r>
              <a:rPr lang="ja-JP" altLang="en-US" sz="1400">
                <a:solidFill>
                  <a:srgbClr val="0B2430"/>
                </a:solidFill>
                <a:latin typeface="Yu Gothic UI" panose="020B0500000000000000" pitchFamily="34" charset="-128"/>
                <a:ea typeface="Yu Gothic UI" panose="020B0500000000000000" pitchFamily="34" charset="-128"/>
              </a:rPr>
              <a:t>など</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13" name="diagram:line">
            <a:extLst>
              <a:ext uri="{FF2B5EF4-FFF2-40B4-BE49-F238E27FC236}">
                <a16:creationId xmlns:a16="http://schemas.microsoft.com/office/drawing/2014/main" id="{C5F1BB14-142C-31C6-CE8E-454C7B6A6162}"/>
              </a:ext>
            </a:extLst>
          </p:cNvPr>
          <p:cNvCxnSpPr/>
          <p:nvPr/>
        </p:nvCxnSpPr>
        <p:spPr>
          <a:xfrm>
            <a:off x="2159000" y="4533900"/>
            <a:ext cx="0" cy="26670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4" name="diagram:layer:3">
            <a:extLst>
              <a:ext uri="{FF2B5EF4-FFF2-40B4-BE49-F238E27FC236}">
                <a16:creationId xmlns:a16="http://schemas.microsoft.com/office/drawing/2014/main" id="{E05C2B3C-873D-0B70-17BD-EC4A8491DF17}"/>
              </a:ext>
            </a:extLst>
          </p:cNvPr>
          <p:cNvSpPr/>
          <p:nvPr/>
        </p:nvSpPr>
        <p:spPr>
          <a:xfrm>
            <a:off x="584200" y="4800600"/>
            <a:ext cx="31369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400">
                <a:solidFill>
                  <a:srgbClr val="0B2430"/>
                </a:solidFill>
                <a:latin typeface="Yu Gothic UI" panose="020B0500000000000000" pitchFamily="34" charset="-128"/>
                <a:ea typeface="Yu Gothic UI" panose="020B0500000000000000" pitchFamily="34" charset="-128"/>
              </a:rPr>
              <a:t>IoT Hub</a:t>
            </a:r>
          </a:p>
        </p:txBody>
      </p:sp>
      <p:graphicFrame>
        <p:nvGraphicFramePr>
          <p:cNvPr id="15" name="source:table">
            <a:extLst>
              <a:ext uri="{FF2B5EF4-FFF2-40B4-BE49-F238E27FC236}">
                <a16:creationId xmlns:a16="http://schemas.microsoft.com/office/drawing/2014/main" id="{D646F9FF-89A0-65C1-F011-E9CFD38AE500}"/>
              </a:ext>
            </a:extLst>
          </p:cNvPr>
          <p:cNvGraphicFramePr>
            <a:graphicFrameLocks noGrp="1"/>
          </p:cNvGraphicFramePr>
          <p:nvPr>
            <p:extLst>
              <p:ext uri="{D42A27DB-BD31-4B8C-83A1-F6EECF244321}">
                <p14:modId xmlns:p14="http://schemas.microsoft.com/office/powerpoint/2010/main" val="46200772"/>
              </p:ext>
            </p:extLst>
          </p:nvPr>
        </p:nvGraphicFramePr>
        <p:xfrm>
          <a:off x="4127500" y="2324100"/>
          <a:ext cx="7480300" cy="3035300"/>
        </p:xfrm>
        <a:graphic>
          <a:graphicData uri="http://schemas.openxmlformats.org/drawingml/2006/table">
            <a:tbl>
              <a:tblPr firstRow="1" bandRow="1">
                <a:tableStyleId>{5C22544A-7EE6-4342-B048-85BDC9FD1C3A}</a:tableStyleId>
              </a:tblPr>
              <a:tblGrid>
                <a:gridCol w="4254500">
                  <a:extLst>
                    <a:ext uri="{9D8B030D-6E8A-4147-A177-3AD203B41FA5}">
                      <a16:colId xmlns:a16="http://schemas.microsoft.com/office/drawing/2014/main" val="411524723"/>
                    </a:ext>
                  </a:extLst>
                </a:gridCol>
                <a:gridCol w="3225800">
                  <a:extLst>
                    <a:ext uri="{9D8B030D-6E8A-4147-A177-3AD203B41FA5}">
                      <a16:colId xmlns:a16="http://schemas.microsoft.com/office/drawing/2014/main" val="1212232713"/>
                    </a:ext>
                  </a:extLst>
                </a:gridCol>
              </a:tblGrid>
              <a:tr h="393700">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やりたいこと</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使うライブラリ</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2453599191"/>
                  </a:ext>
                </a:extLst>
              </a:tr>
              <a:tr h="6604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デバイスから送信し、指示を受ける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IoT Hub </a:t>
                      </a:r>
                      <a:r>
                        <a:rPr lang="ja-JP" altLang="en-US" sz="1400" b="0">
                          <a:solidFill>
                            <a:srgbClr val="0B2430"/>
                          </a:solidFill>
                          <a:latin typeface="Yu Gothic UI" panose="020B0500000000000000" pitchFamily="34" charset="-128"/>
                          <a:ea typeface="Yu Gothic UI" panose="020B0500000000000000" pitchFamily="34" charset="-128"/>
                        </a:rPr>
                        <a:t>デバイス </a:t>
                      </a:r>
                      <a:r>
                        <a:rPr lang="en-US" sz="1400" b="0">
                          <a:solidFill>
                            <a:srgbClr val="0B2430"/>
                          </a:solidFill>
                          <a:latin typeface="Yu Gothic UI" panose="020B0500000000000000" pitchFamily="34" charset="-128"/>
                          <a:ea typeface="Yu Gothic UI" panose="020B0500000000000000" pitchFamily="34" charset="-128"/>
                        </a:rPr>
                        <a:t>SDK</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006816057"/>
                  </a:ext>
                </a:extLst>
              </a:tr>
              <a:tr h="6604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デバイス</a:t>
                      </a:r>
                      <a:r>
                        <a:rPr lang="en-US" altLang="ja-JP" sz="1400" b="0">
                          <a:solidFill>
                            <a:srgbClr val="0B2430"/>
                          </a:solidFill>
                          <a:latin typeface="Yu Gothic UI" panose="020B0500000000000000" pitchFamily="34" charset="-128"/>
                          <a:ea typeface="Yu Gothic UI" panose="020B0500000000000000" pitchFamily="34" charset="-128"/>
                        </a:rPr>
                        <a:t>ID</a:t>
                      </a:r>
                      <a:r>
                        <a:rPr lang="ja-JP" altLang="en-US" sz="1400" b="0">
                          <a:solidFill>
                            <a:srgbClr val="0B2430"/>
                          </a:solidFill>
                          <a:latin typeface="Yu Gothic UI" panose="020B0500000000000000" pitchFamily="34" charset="-128"/>
                          <a:ea typeface="Yu Gothic UI" panose="020B0500000000000000" pitchFamily="34" charset="-128"/>
                        </a:rPr>
                        <a:t>を管理し、操作や設定変更を要求する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IoT Hub </a:t>
                      </a:r>
                      <a:r>
                        <a:rPr lang="ja-JP" altLang="en-US" sz="1400" b="0">
                          <a:solidFill>
                            <a:srgbClr val="0B2430"/>
                          </a:solidFill>
                          <a:latin typeface="Yu Gothic UI" panose="020B0500000000000000" pitchFamily="34" charset="-128"/>
                          <a:ea typeface="Yu Gothic UI" panose="020B0500000000000000" pitchFamily="34" charset="-128"/>
                        </a:rPr>
                        <a:t>サービス </a:t>
                      </a:r>
                      <a:r>
                        <a:rPr lang="en-US" sz="1400" b="0">
                          <a:solidFill>
                            <a:srgbClr val="0B2430"/>
                          </a:solidFill>
                          <a:latin typeface="Yu Gothic UI" panose="020B0500000000000000" pitchFamily="34" charset="-128"/>
                          <a:ea typeface="Yu Gothic UI" panose="020B0500000000000000" pitchFamily="34" charset="-128"/>
                        </a:rPr>
                        <a:t>SDK</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950126603"/>
                  </a:ext>
                </a:extLst>
              </a:tr>
              <a:tr h="660400">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Hub</a:t>
                      </a:r>
                      <a:r>
                        <a:rPr lang="ja-JP" altLang="en-US" sz="1400" b="0">
                          <a:solidFill>
                            <a:srgbClr val="0B2430"/>
                          </a:solidFill>
                          <a:latin typeface="Yu Gothic UI" panose="020B0500000000000000" pitchFamily="34" charset="-128"/>
                          <a:ea typeface="Yu Gothic UI" panose="020B0500000000000000" pitchFamily="34" charset="-128"/>
                        </a:rPr>
                        <a:t>リソース自体を作成・管理する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IoT Hub </a:t>
                      </a:r>
                      <a:r>
                        <a:rPr lang="ja-JP" altLang="en-US" sz="1400" b="0">
                          <a:solidFill>
                            <a:srgbClr val="0B2430"/>
                          </a:solidFill>
                          <a:latin typeface="Yu Gothic UI" panose="020B0500000000000000" pitchFamily="34" charset="-128"/>
                          <a:ea typeface="Yu Gothic UI" panose="020B0500000000000000" pitchFamily="34" charset="-128"/>
                        </a:rPr>
                        <a:t>管理 </a:t>
                      </a:r>
                      <a:r>
                        <a:rPr lang="en-US" sz="1400" b="0">
                          <a:solidFill>
                            <a:srgbClr val="0B2430"/>
                          </a:solidFill>
                          <a:latin typeface="Yu Gothic UI" panose="020B0500000000000000" pitchFamily="34" charset="-128"/>
                          <a:ea typeface="Yu Gothic UI" panose="020B0500000000000000" pitchFamily="34" charset="-128"/>
                        </a:rPr>
                        <a:t>SDK</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994167528"/>
                  </a:ext>
                </a:extLst>
              </a:tr>
              <a:tr h="6604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組み込みエンドポイントから</a:t>
                      </a:r>
                      <a:r>
                        <a:rPr lang="en-US" altLang="ja-JP" sz="1400" b="0">
                          <a:solidFill>
                            <a:srgbClr val="0B2430"/>
                          </a:solidFill>
                          <a:latin typeface="Yu Gothic UI" panose="020B0500000000000000" pitchFamily="34" charset="-128"/>
                          <a:ea typeface="Yu Gothic UI" panose="020B0500000000000000" pitchFamily="34" charset="-128"/>
                        </a:rPr>
                        <a:t>D2C</a:t>
                      </a:r>
                      <a:r>
                        <a:rPr lang="ja-JP" altLang="en-US" sz="1400" b="0">
                          <a:solidFill>
                            <a:srgbClr val="0B2430"/>
                          </a:solidFill>
                          <a:latin typeface="Yu Gothic UI" panose="020B0500000000000000" pitchFamily="34" charset="-128"/>
                          <a:ea typeface="Yu Gothic UI" panose="020B0500000000000000" pitchFamily="34" charset="-128"/>
                        </a:rPr>
                        <a:t>を読む</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Event Hubs SDK</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815003175"/>
                  </a:ext>
                </a:extLst>
              </a:tr>
            </a:tbl>
          </a:graphicData>
        </a:graphic>
      </p:graphicFrame>
      <p:sp>
        <p:nvSpPr>
          <p:cNvPr id="16" name="diagram:next-endpoint">
            <a:extLst>
              <a:ext uri="{FF2B5EF4-FFF2-40B4-BE49-F238E27FC236}">
                <a16:creationId xmlns:a16="http://schemas.microsoft.com/office/drawing/2014/main" id="{18B82329-3680-539F-EA68-C2860A5AA957}"/>
              </a:ext>
            </a:extLst>
          </p:cNvPr>
          <p:cNvSpPr txBox="1"/>
          <p:nvPr/>
        </p:nvSpPr>
        <p:spPr>
          <a:xfrm>
            <a:off x="8343900" y="5460999"/>
            <a:ext cx="32639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読み取り口は</a:t>
            </a:r>
            <a:r>
              <a:rPr lang="en-US" altLang="ja-JP" sz="1100">
                <a:solidFill>
                  <a:srgbClr val="566473"/>
                </a:solidFill>
                <a:latin typeface="Yu Gothic UI" panose="020B0500000000000000" pitchFamily="34" charset="-128"/>
                <a:ea typeface="Yu Gothic UI" panose="020B0500000000000000" pitchFamily="34" charset="-128"/>
              </a:rPr>
              <a:t>03-08</a:t>
            </a:r>
            <a:r>
              <a:rPr lang="ja-JP" altLang="en-US" sz="1100">
                <a:solidFill>
                  <a:srgbClr val="566473"/>
                </a:solidFill>
                <a:latin typeface="Yu Gothic UI" panose="020B0500000000000000" pitchFamily="34" charset="-128"/>
                <a:ea typeface="Yu Gothic UI" panose="020B0500000000000000" pitchFamily="34" charset="-128"/>
              </a:rPr>
              <a:t>で確認</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7" name="source:block:3">
            <a:extLst>
              <a:ext uri="{FF2B5EF4-FFF2-40B4-BE49-F238E27FC236}">
                <a16:creationId xmlns:a16="http://schemas.microsoft.com/office/drawing/2014/main" id="{9200A0E8-4520-628E-BEB9-48EEA63571A9}"/>
              </a:ext>
            </a:extLst>
          </p:cNvPr>
          <p:cNvSpPr txBox="1"/>
          <p:nvPr/>
        </p:nvSpPr>
        <p:spPr>
          <a:xfrm>
            <a:off x="584200" y="5854700"/>
            <a:ext cx="11023600" cy="457200"/>
          </a:xfrm>
          <a:prstGeom prst="rect">
            <a:avLst/>
          </a:prstGeom>
          <a:noFill/>
        </p:spPr>
        <p:txBody>
          <a:bodyPr vert="horz" wrap="square" lIns="0" tIns="0" rIns="0" bIns="0" rtlCol="0" anchor="t">
            <a:noAutofit/>
          </a:bodyPr>
          <a:lstStyle/>
          <a:p>
            <a:r>
              <a:rPr lang="en-US" altLang="ja-JP" sz="1400">
                <a:solidFill>
                  <a:srgbClr val="0B2430"/>
                </a:solidFill>
                <a:latin typeface="Yu Gothic UI" panose="020B0500000000000000" pitchFamily="34" charset="-128"/>
                <a:ea typeface="Yu Gothic UI" panose="020B0500000000000000" pitchFamily="34" charset="-128"/>
              </a:rPr>
              <a:t>SDK</a:t>
            </a:r>
            <a:r>
              <a:rPr lang="ja-JP" altLang="en-US" sz="1400">
                <a:solidFill>
                  <a:srgbClr val="0B2430"/>
                </a:solidFill>
                <a:latin typeface="Yu Gothic UI" panose="020B0500000000000000" pitchFamily="34" charset="-128"/>
                <a:ea typeface="Yu Gothic UI" panose="020B0500000000000000" pitchFamily="34" charset="-128"/>
              </a:rPr>
              <a:t>は実行する役割に合わせて選ぶ。</a:t>
            </a:r>
            <a:r>
              <a:rPr lang="en-US" altLang="ja-JP" sz="1400">
                <a:solidFill>
                  <a:srgbClr val="0B2430"/>
                </a:solidFill>
                <a:latin typeface="Yu Gothic UI" panose="020B0500000000000000" pitchFamily="34" charset="-128"/>
                <a:ea typeface="Yu Gothic UI" panose="020B0500000000000000" pitchFamily="34" charset="-128"/>
              </a:rPr>
              <a:t>D2C</a:t>
            </a:r>
            <a:r>
              <a:rPr lang="ja-JP" altLang="en-US" sz="1400">
                <a:solidFill>
                  <a:srgbClr val="0B2430"/>
                </a:solidFill>
                <a:latin typeface="Yu Gothic UI" panose="020B0500000000000000" pitchFamily="34" charset="-128"/>
                <a:ea typeface="Yu Gothic UI" panose="020B0500000000000000" pitchFamily="34" charset="-128"/>
              </a:rPr>
              <a:t>はデバイスからクラウドへの通信（</a:t>
            </a:r>
            <a:r>
              <a:rPr lang="en-US" altLang="ja-JP" sz="1400">
                <a:solidFill>
                  <a:srgbClr val="0B2430"/>
                </a:solidFill>
                <a:latin typeface="Yu Gothic UI" panose="020B0500000000000000" pitchFamily="34" charset="-128"/>
                <a:ea typeface="Yu Gothic UI" panose="020B0500000000000000" pitchFamily="34" charset="-128"/>
              </a:rPr>
              <a:t>Device-to-Cloud</a:t>
            </a:r>
            <a:r>
              <a:rPr lang="ja-JP" altLang="en-US" sz="1400">
                <a:solidFill>
                  <a:srgbClr val="0B2430"/>
                </a:solidFill>
                <a:latin typeface="Yu Gothic UI" panose="020B0500000000000000" pitchFamily="34" charset="-128"/>
                <a:ea typeface="Yu Gothic UI" panose="020B0500000000000000" pitchFamily="34" charset="-128"/>
              </a:rPr>
              <a:t>）を指す（</a:t>
            </a:r>
            <a:r>
              <a:rPr lang="en-US" altLang="ja-JP" sz="1400">
                <a:solidFill>
                  <a:srgbClr val="0B2430"/>
                </a:solidFill>
                <a:latin typeface="Yu Gothic UI" panose="020B0500000000000000" pitchFamily="34" charset="-128"/>
                <a:ea typeface="Yu Gothic UI" panose="020B0500000000000000" pitchFamily="34" charset="-128"/>
              </a:rPr>
              <a:t>[2]</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[3]</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8" name="citation:1">
            <a:extLst>
              <a:ext uri="{FF2B5EF4-FFF2-40B4-BE49-F238E27FC236}">
                <a16:creationId xmlns:a16="http://schemas.microsoft.com/office/drawing/2014/main" id="{41754530-A23A-BDEE-F14C-9CD56073B566}"/>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a:t>
            </a:r>
            <a:r>
              <a:rPr lang="ja-JP" altLang="en-US" sz="950">
                <a:solidFill>
                  <a:srgbClr val="566473"/>
                </a:solidFill>
                <a:latin typeface="Yu Gothic UI" panose="020B0500000000000000" pitchFamily="34" charset="-128"/>
                <a:ea typeface="Yu Gothic UI" panose="020B0500000000000000" pitchFamily="34" charset="-128"/>
                <a:hlinkClick r:id="rId3"/>
              </a:rPr>
              <a:t>通信プロトコルの選択</a:t>
            </a:r>
            <a:endParaRPr lang="en-US" sz="950">
              <a:solidFill>
                <a:srgbClr val="566473"/>
              </a:solidFill>
              <a:latin typeface="Yu Gothic UI" panose="020B0500000000000000" pitchFamily="34" charset="-128"/>
              <a:ea typeface="Yu Gothic UI" panose="020B0500000000000000" pitchFamily="34" charset="-128"/>
            </a:endParaRPr>
          </a:p>
        </p:txBody>
      </p:sp>
      <p:sp>
        <p:nvSpPr>
          <p:cNvPr id="19" name="citation:2">
            <a:extLst>
              <a:ext uri="{FF2B5EF4-FFF2-40B4-BE49-F238E27FC236}">
                <a16:creationId xmlns:a16="http://schemas.microsoft.com/office/drawing/2014/main" id="{622046A8-0471-9329-60C0-0A7A2E20A526}"/>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4"/>
              </a:rPr>
              <a:t>[2] IoT Hub SDK</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0" name="citation:3">
            <a:extLst>
              <a:ext uri="{FF2B5EF4-FFF2-40B4-BE49-F238E27FC236}">
                <a16:creationId xmlns:a16="http://schemas.microsoft.com/office/drawing/2014/main" id="{8E1AFF31-7D40-5D2C-3735-88D2F8323F16}"/>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5"/>
              </a:rPr>
              <a:t>[3] D2C </a:t>
            </a:r>
            <a:r>
              <a:rPr lang="ja-JP" altLang="en-US" sz="950">
                <a:solidFill>
                  <a:srgbClr val="566473"/>
                </a:solidFill>
                <a:latin typeface="Yu Gothic UI" panose="020B0500000000000000" pitchFamily="34" charset="-128"/>
                <a:ea typeface="Yu Gothic UI" panose="020B0500000000000000" pitchFamily="34" charset="-128"/>
                <a:hlinkClick r:id="rId5"/>
              </a:rPr>
              <a:t>読み取りの </a:t>
            </a:r>
            <a:r>
              <a:rPr lang="en-US" sz="950">
                <a:solidFill>
                  <a:srgbClr val="566473"/>
                </a:solidFill>
                <a:latin typeface="Yu Gothic UI" panose="020B0500000000000000" pitchFamily="34" charset="-128"/>
                <a:ea typeface="Yu Gothic UI" panose="020B0500000000000000" pitchFamily="34" charset="-128"/>
                <a:hlinkClick r:id="rId5"/>
              </a:rPr>
              <a:t>SDK</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440249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温度テレメトリの本文と送信処理</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7</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4BE26868-1342-F6E5-4B84-BF9289E9F021}"/>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テレメトリは、測定値やイベントをデバイスから送るデータ。本文はデバイスアプリが作る。</a:t>
            </a:r>
            <a:r>
              <a:rPr lang="ja-JP" altLang="en-US" sz="1600">
                <a:solidFill>
                  <a:srgbClr val="0B2430"/>
                </a:solidFill>
                <a:latin typeface="Yu Gothic UI" panose="020B0500000000000000" pitchFamily="34" charset="-128"/>
                <a:ea typeface="Yu Gothic UI" panose="020B0500000000000000" pitchFamily="34" charset="-128"/>
              </a:rPr>
              <a:t>（</a:t>
            </a:r>
            <a:r>
              <a:rPr lang="en-US" altLang="ja-JP" sz="1600">
                <a:solidFill>
                  <a:srgbClr val="0B2430"/>
                </a:solidFill>
                <a:latin typeface="Yu Gothic UI" panose="020B0500000000000000" pitchFamily="34" charset="-128"/>
                <a:ea typeface="Yu Gothic UI" panose="020B0500000000000000" pitchFamily="34" charset="-128"/>
              </a:rPr>
              <a:t>[1]</a:t>
            </a:r>
            <a:r>
              <a:rPr lang="ja-JP" altLang="en-US" sz="1600">
                <a:solidFill>
                  <a:srgbClr val="0B2430"/>
                </a:solidFill>
                <a:latin typeface="Yu Gothic UI" panose="020B0500000000000000" pitchFamily="34" charset="-128"/>
                <a:ea typeface="Yu Gothic UI" panose="020B0500000000000000" pitchFamily="34" charset="-128"/>
              </a:rPr>
              <a:t>）</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7" name="source:block:1">
            <a:extLst>
              <a:ext uri="{FF2B5EF4-FFF2-40B4-BE49-F238E27FC236}">
                <a16:creationId xmlns:a16="http://schemas.microsoft.com/office/drawing/2014/main" id="{1777F6D4-E536-F71C-5004-FC414125EAAC}"/>
              </a:ext>
            </a:extLst>
          </p:cNvPr>
          <p:cNvSpPr txBox="1"/>
          <p:nvPr/>
        </p:nvSpPr>
        <p:spPr>
          <a:xfrm>
            <a:off x="584200" y="1612900"/>
            <a:ext cx="11023600" cy="3429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本文の説明例（この講義では温度は摂氏、湿度は相対湿度</a:t>
            </a:r>
            <a:r>
              <a:rPr lang="en-US" altLang="ja-JP" sz="1400">
                <a:solidFill>
                  <a:srgbClr val="0B2430"/>
                </a:solidFill>
                <a:latin typeface="Yu Gothic UI" panose="020B0500000000000000" pitchFamily="34" charset="-128"/>
                <a:ea typeface="Yu Gothic UI" panose="020B0500000000000000" pitchFamily="34" charset="-128"/>
              </a:rPr>
              <a:t>%</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8" name="diagram:payload-background">
            <a:extLst>
              <a:ext uri="{FF2B5EF4-FFF2-40B4-BE49-F238E27FC236}">
                <a16:creationId xmlns:a16="http://schemas.microsoft.com/office/drawing/2014/main" id="{C15023D7-EB42-6843-C823-614D57DFF128}"/>
              </a:ext>
            </a:extLst>
          </p:cNvPr>
          <p:cNvSpPr/>
          <p:nvPr/>
        </p:nvSpPr>
        <p:spPr>
          <a:xfrm>
            <a:off x="584200" y="2184400"/>
            <a:ext cx="5651500" cy="1003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source:block:2">
            <a:extLst>
              <a:ext uri="{FF2B5EF4-FFF2-40B4-BE49-F238E27FC236}">
                <a16:creationId xmlns:a16="http://schemas.microsoft.com/office/drawing/2014/main" id="{81AC4590-F45C-7E37-D4A1-BAF2A5DF6106}"/>
              </a:ext>
            </a:extLst>
          </p:cNvPr>
          <p:cNvSpPr txBox="1"/>
          <p:nvPr/>
        </p:nvSpPr>
        <p:spPr>
          <a:xfrm>
            <a:off x="774700" y="2438399"/>
            <a:ext cx="5295900" cy="533400"/>
          </a:xfrm>
          <a:prstGeom prst="rect">
            <a:avLst/>
          </a:prstGeom>
          <a:noFill/>
        </p:spPr>
        <p:txBody>
          <a:bodyPr vert="horz" wrap="square" lIns="0" tIns="0" rIns="0" bIns="0" rtlCol="0" anchor="t">
            <a:noAutofit/>
          </a:bodyPr>
          <a:lstStyle/>
          <a:p>
            <a:r>
              <a:rPr lang="en-US" sz="2000">
                <a:solidFill>
                  <a:srgbClr val="0B2430"/>
                </a:solidFill>
                <a:latin typeface="Consolas" panose="020B0609020204030204" pitchFamily="49" charset="0"/>
                <a:ea typeface="Yu Gothic UI" panose="020B0500000000000000" pitchFamily="34" charset="-128"/>
              </a:rPr>
              <a:t>{"temperature":25,"humidity":45}</a:t>
            </a:r>
          </a:p>
        </p:txBody>
      </p:sp>
      <p:sp>
        <p:nvSpPr>
          <p:cNvPr id="10" name="diagram:units">
            <a:extLst>
              <a:ext uri="{FF2B5EF4-FFF2-40B4-BE49-F238E27FC236}">
                <a16:creationId xmlns:a16="http://schemas.microsoft.com/office/drawing/2014/main" id="{EB3E388E-4F9A-58F5-ADC1-340CC0F6E9E5}"/>
              </a:ext>
            </a:extLst>
          </p:cNvPr>
          <p:cNvSpPr txBox="1"/>
          <p:nvPr/>
        </p:nvSpPr>
        <p:spPr>
          <a:xfrm>
            <a:off x="584200" y="3314699"/>
            <a:ext cx="5651500" cy="292100"/>
          </a:xfrm>
          <a:prstGeom prst="rect">
            <a:avLst/>
          </a:prstGeom>
          <a:noFill/>
        </p:spPr>
        <p:txBody>
          <a:bodyPr vert="horz" wrap="square" lIns="0" tIns="0" rIns="0" bIns="0" rtlCol="0" anchor="t">
            <a:noAutofit/>
          </a:bodyPr>
          <a:lstStyle/>
          <a:p>
            <a:r>
              <a:rPr lang="en-US" sz="1300">
                <a:solidFill>
                  <a:srgbClr val="566473"/>
                </a:solidFill>
                <a:latin typeface="Yu Gothic UI" panose="020B0500000000000000" pitchFamily="34" charset="-128"/>
                <a:ea typeface="Yu Gothic UI" panose="020B0500000000000000" pitchFamily="34" charset="-128"/>
              </a:rPr>
              <a:t>temperature: </a:t>
            </a:r>
            <a:r>
              <a:rPr lang="ja-JP" altLang="en-US" sz="1300">
                <a:solidFill>
                  <a:srgbClr val="566473"/>
                </a:solidFill>
                <a:latin typeface="Yu Gothic UI" panose="020B0500000000000000" pitchFamily="34" charset="-128"/>
                <a:ea typeface="Yu Gothic UI" panose="020B0500000000000000" pitchFamily="34" charset="-128"/>
              </a:rPr>
              <a:t>摂氏 </a:t>
            </a:r>
            <a:r>
              <a:rPr lang="en-US" altLang="ja-JP" sz="1300">
                <a:solidFill>
                  <a:srgbClr val="566473"/>
                </a:solidFill>
                <a:latin typeface="Yu Gothic UI" panose="020B0500000000000000" pitchFamily="34" charset="-128"/>
                <a:ea typeface="Yu Gothic UI" panose="020B0500000000000000" pitchFamily="34" charset="-128"/>
              </a:rPr>
              <a:t>/ </a:t>
            </a:r>
            <a:r>
              <a:rPr lang="en-US" sz="1300">
                <a:solidFill>
                  <a:srgbClr val="566473"/>
                </a:solidFill>
                <a:latin typeface="Yu Gothic UI" panose="020B0500000000000000" pitchFamily="34" charset="-128"/>
                <a:ea typeface="Yu Gothic UI" panose="020B0500000000000000" pitchFamily="34" charset="-128"/>
              </a:rPr>
              <a:t>humidity: </a:t>
            </a:r>
            <a:r>
              <a:rPr lang="ja-JP" altLang="en-US" sz="1300">
                <a:solidFill>
                  <a:srgbClr val="566473"/>
                </a:solidFill>
                <a:latin typeface="Yu Gothic UI" panose="020B0500000000000000" pitchFamily="34" charset="-128"/>
                <a:ea typeface="Yu Gothic UI" panose="020B0500000000000000" pitchFamily="34" charset="-128"/>
              </a:rPr>
              <a:t>相対湿度</a:t>
            </a:r>
            <a:r>
              <a:rPr lang="en-US" altLang="ja-JP" sz="1300">
                <a:solidFill>
                  <a:srgbClr val="566473"/>
                </a:solidFill>
                <a:latin typeface="Yu Gothic UI" panose="020B0500000000000000" pitchFamily="34" charset="-128"/>
                <a:ea typeface="Yu Gothic UI" panose="020B0500000000000000" pitchFamily="34" charset="-128"/>
              </a:rPr>
              <a:t>%</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11" name="source:block:3/item:0">
            <a:extLst>
              <a:ext uri="{FF2B5EF4-FFF2-40B4-BE49-F238E27FC236}">
                <a16:creationId xmlns:a16="http://schemas.microsoft.com/office/drawing/2014/main" id="{F622F972-B1BA-A4D0-B0A1-555AA0FA0DF5}"/>
              </a:ext>
            </a:extLst>
          </p:cNvPr>
          <p:cNvSpPr txBox="1"/>
          <p:nvPr/>
        </p:nvSpPr>
        <p:spPr>
          <a:xfrm>
            <a:off x="6756400" y="2209800"/>
            <a:ext cx="4851400" cy="584200"/>
          </a:xfrm>
          <a:prstGeom prst="rect">
            <a:avLst/>
          </a:prstGeom>
          <a:noFill/>
        </p:spPr>
        <p:txBody>
          <a:bodyPr vert="horz" wrap="square" lIns="0" tIns="0" rIns="0" bIns="0" rtlCol="0" anchor="t">
            <a:noAutofit/>
          </a:bodyPr>
          <a:lstStyle/>
          <a:p>
            <a:r>
              <a:rPr lang="en-US" altLang="ja-JP" sz="1500">
                <a:solidFill>
                  <a:srgbClr val="0B2430"/>
                </a:solidFill>
                <a:latin typeface="Yu Gothic UI" panose="020B0500000000000000" pitchFamily="34" charset="-128"/>
                <a:ea typeface="Yu Gothic UI" panose="020B0500000000000000" pitchFamily="34" charset="-128"/>
              </a:rPr>
              <a:t>1. </a:t>
            </a:r>
            <a:r>
              <a:rPr lang="ja-JP" altLang="en-US" sz="1500">
                <a:solidFill>
                  <a:srgbClr val="0B2430"/>
                </a:solidFill>
                <a:latin typeface="Yu Gothic UI" panose="020B0500000000000000" pitchFamily="34" charset="-128"/>
                <a:ea typeface="Yu Gothic UI" panose="020B0500000000000000" pitchFamily="34" charset="-128"/>
              </a:rPr>
              <a:t>アプリが温度・湿度の値を用意する。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2" name="source:block:3/item:1">
            <a:extLst>
              <a:ext uri="{FF2B5EF4-FFF2-40B4-BE49-F238E27FC236}">
                <a16:creationId xmlns:a16="http://schemas.microsoft.com/office/drawing/2014/main" id="{635B3D5E-5D22-A48B-9E6F-52C799A3BCCD}"/>
              </a:ext>
            </a:extLst>
          </p:cNvPr>
          <p:cNvSpPr txBox="1"/>
          <p:nvPr/>
        </p:nvSpPr>
        <p:spPr>
          <a:xfrm>
            <a:off x="6756400" y="2882900"/>
            <a:ext cx="4851400" cy="584200"/>
          </a:xfrm>
          <a:prstGeom prst="rect">
            <a:avLst/>
          </a:prstGeom>
          <a:noFill/>
        </p:spPr>
        <p:txBody>
          <a:bodyPr vert="horz" wrap="square" lIns="0" tIns="0" rIns="0" bIns="0" rtlCol="0" anchor="t">
            <a:noAutofit/>
          </a:bodyPr>
          <a:lstStyle/>
          <a:p>
            <a:r>
              <a:rPr lang="en-US" altLang="ja-JP" sz="1500">
                <a:solidFill>
                  <a:srgbClr val="0B2430"/>
                </a:solidFill>
                <a:latin typeface="Yu Gothic UI" panose="020B0500000000000000" pitchFamily="34" charset="-128"/>
                <a:ea typeface="Yu Gothic UI" panose="020B0500000000000000" pitchFamily="34" charset="-128"/>
              </a:rPr>
              <a:t>2. JSON</a:t>
            </a:r>
            <a:r>
              <a:rPr lang="ja-JP" altLang="en-US" sz="1500">
                <a:solidFill>
                  <a:srgbClr val="0B2430"/>
                </a:solidFill>
                <a:latin typeface="Yu Gothic UI" panose="020B0500000000000000" pitchFamily="34" charset="-128"/>
                <a:ea typeface="Yu Gothic UI" panose="020B0500000000000000" pitchFamily="34" charset="-128"/>
              </a:rPr>
              <a:t>の本文をメッセージにし、デバイス</a:t>
            </a:r>
            <a:r>
              <a:rPr lang="en-US" altLang="ja-JP" sz="1500">
                <a:solidFill>
                  <a:srgbClr val="0B2430"/>
                </a:solidFill>
                <a:latin typeface="Yu Gothic UI" panose="020B0500000000000000" pitchFamily="34" charset="-128"/>
                <a:ea typeface="Yu Gothic UI" panose="020B0500000000000000" pitchFamily="34" charset="-128"/>
              </a:rPr>
              <a:t>SDK</a:t>
            </a:r>
            <a:r>
              <a:rPr lang="ja-JP" altLang="en-US" sz="1500">
                <a:solidFill>
                  <a:srgbClr val="0B2430"/>
                </a:solidFill>
                <a:latin typeface="Yu Gothic UI" panose="020B0500000000000000" pitchFamily="34" charset="-128"/>
                <a:ea typeface="Yu Gothic UI" panose="020B0500000000000000" pitchFamily="34" charset="-128"/>
              </a:rPr>
              <a:t>で送る。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3" name="source:block:3/item:2">
            <a:extLst>
              <a:ext uri="{FF2B5EF4-FFF2-40B4-BE49-F238E27FC236}">
                <a16:creationId xmlns:a16="http://schemas.microsoft.com/office/drawing/2014/main" id="{0D2ADF01-49AC-2492-D75C-D0C9F7D5E16F}"/>
              </a:ext>
            </a:extLst>
          </p:cNvPr>
          <p:cNvSpPr txBox="1"/>
          <p:nvPr/>
        </p:nvSpPr>
        <p:spPr>
          <a:xfrm>
            <a:off x="6756400" y="3556000"/>
            <a:ext cx="4851400" cy="584200"/>
          </a:xfrm>
          <a:prstGeom prst="rect">
            <a:avLst/>
          </a:prstGeom>
          <a:noFill/>
        </p:spPr>
        <p:txBody>
          <a:bodyPr vert="horz" wrap="square" lIns="0" tIns="0" rIns="0" bIns="0" rtlCol="0" anchor="t">
            <a:noAutofit/>
          </a:bodyPr>
          <a:lstStyle/>
          <a:p>
            <a:r>
              <a:rPr lang="en-US" altLang="ja-JP" sz="1500">
                <a:solidFill>
                  <a:srgbClr val="0B2430"/>
                </a:solidFill>
                <a:latin typeface="Yu Gothic UI" panose="020B0500000000000000" pitchFamily="34" charset="-128"/>
                <a:ea typeface="Yu Gothic UI" panose="020B0500000000000000" pitchFamily="34" charset="-128"/>
              </a:rPr>
              <a:t>3. IoT Hub</a:t>
            </a:r>
            <a:r>
              <a:rPr lang="ja-JP" altLang="en-US" sz="1500">
                <a:solidFill>
                  <a:srgbClr val="0B2430"/>
                </a:solidFill>
                <a:latin typeface="Yu Gothic UI" panose="020B0500000000000000" pitchFamily="34" charset="-128"/>
                <a:ea typeface="Yu Gothic UI" panose="020B0500000000000000" pitchFamily="34" charset="-128"/>
              </a:rPr>
              <a:t>を経由して、受信側が読み取る。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4" name="diagram:demo:0">
            <a:extLst>
              <a:ext uri="{FF2B5EF4-FFF2-40B4-BE49-F238E27FC236}">
                <a16:creationId xmlns:a16="http://schemas.microsoft.com/office/drawing/2014/main" id="{1BCA6C94-6DCD-12D8-3BC0-7EBF2A5E7E67}"/>
              </a:ext>
            </a:extLst>
          </p:cNvPr>
          <p:cNvSpPr/>
          <p:nvPr/>
        </p:nvSpPr>
        <p:spPr>
          <a:xfrm>
            <a:off x="584200" y="3797300"/>
            <a:ext cx="1587500" cy="457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500">
                <a:solidFill>
                  <a:srgbClr val="0B2430"/>
                </a:solidFill>
                <a:latin typeface="Yu Gothic UI" panose="020B0500000000000000" pitchFamily="34" charset="-128"/>
                <a:ea typeface="Yu Gothic UI" panose="020B0500000000000000" pitchFamily="34" charset="-128"/>
              </a:rPr>
              <a:t>接続</a:t>
            </a:r>
            <a:endParaRPr lang="en-US" sz="1500">
              <a:solidFill>
                <a:srgbClr val="0B2430"/>
              </a:solidFill>
              <a:latin typeface="Yu Gothic UI" panose="020B0500000000000000" pitchFamily="34" charset="-128"/>
              <a:ea typeface="Yu Gothic UI" panose="020B0500000000000000" pitchFamily="34" charset="-128"/>
            </a:endParaRPr>
          </a:p>
        </p:txBody>
      </p:sp>
      <p:cxnSp>
        <p:nvCxnSpPr>
          <p:cNvPr id="15" name="diagram:line">
            <a:extLst>
              <a:ext uri="{FF2B5EF4-FFF2-40B4-BE49-F238E27FC236}">
                <a16:creationId xmlns:a16="http://schemas.microsoft.com/office/drawing/2014/main" id="{7BA68D45-F5B8-5E21-47C6-AD1560350891}"/>
              </a:ext>
            </a:extLst>
          </p:cNvPr>
          <p:cNvCxnSpPr/>
          <p:nvPr/>
        </p:nvCxnSpPr>
        <p:spPr>
          <a:xfrm>
            <a:off x="2171700" y="4025900"/>
            <a:ext cx="4445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6" name="diagram:demo:1">
            <a:extLst>
              <a:ext uri="{FF2B5EF4-FFF2-40B4-BE49-F238E27FC236}">
                <a16:creationId xmlns:a16="http://schemas.microsoft.com/office/drawing/2014/main" id="{3CD7D34F-02B2-33BE-03DB-6BC88B02BD04}"/>
              </a:ext>
            </a:extLst>
          </p:cNvPr>
          <p:cNvSpPr/>
          <p:nvPr/>
        </p:nvSpPr>
        <p:spPr>
          <a:xfrm>
            <a:off x="2616200" y="3797300"/>
            <a:ext cx="1587500" cy="457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500">
                <a:solidFill>
                  <a:srgbClr val="0B2430"/>
                </a:solidFill>
                <a:latin typeface="Yu Gothic UI" panose="020B0500000000000000" pitchFamily="34" charset="-128"/>
                <a:ea typeface="Yu Gothic UI" panose="020B0500000000000000" pitchFamily="34" charset="-128"/>
              </a:rPr>
              <a:t>start</a:t>
            </a:r>
          </a:p>
        </p:txBody>
      </p:sp>
      <p:cxnSp>
        <p:nvCxnSpPr>
          <p:cNvPr id="17" name="diagram:line">
            <a:extLst>
              <a:ext uri="{FF2B5EF4-FFF2-40B4-BE49-F238E27FC236}">
                <a16:creationId xmlns:a16="http://schemas.microsoft.com/office/drawing/2014/main" id="{FC56168A-88D7-2CD9-12AA-12124BE05F27}"/>
              </a:ext>
            </a:extLst>
          </p:cNvPr>
          <p:cNvCxnSpPr/>
          <p:nvPr/>
        </p:nvCxnSpPr>
        <p:spPr>
          <a:xfrm>
            <a:off x="4203700" y="4025900"/>
            <a:ext cx="4445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8" name="diagram:demo:2">
            <a:extLst>
              <a:ext uri="{FF2B5EF4-FFF2-40B4-BE49-F238E27FC236}">
                <a16:creationId xmlns:a16="http://schemas.microsoft.com/office/drawing/2014/main" id="{6E1C9F5C-C8EF-A185-BF1A-F0FA22A1D6C6}"/>
              </a:ext>
            </a:extLst>
          </p:cNvPr>
          <p:cNvSpPr/>
          <p:nvPr/>
        </p:nvSpPr>
        <p:spPr>
          <a:xfrm>
            <a:off x="4648200" y="3797300"/>
            <a:ext cx="1587500" cy="457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500">
                <a:solidFill>
                  <a:srgbClr val="0B2430"/>
                </a:solidFill>
                <a:latin typeface="Yu Gothic UI" panose="020B0500000000000000" pitchFamily="34" charset="-128"/>
                <a:ea typeface="Yu Gothic UI" panose="020B0500000000000000" pitchFamily="34" charset="-128"/>
              </a:rPr>
              <a:t>送信</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9" name="source:block:4">
            <a:extLst>
              <a:ext uri="{FF2B5EF4-FFF2-40B4-BE49-F238E27FC236}">
                <a16:creationId xmlns:a16="http://schemas.microsoft.com/office/drawing/2014/main" id="{9635CF6D-6C6B-BE5C-D8B1-C35409EA9E52}"/>
              </a:ext>
            </a:extLst>
          </p:cNvPr>
          <p:cNvSpPr txBox="1"/>
          <p:nvPr/>
        </p:nvSpPr>
        <p:spPr>
          <a:xfrm>
            <a:off x="584200" y="4571999"/>
            <a:ext cx="11023600" cy="711200"/>
          </a:xfrm>
          <a:prstGeom prst="rect">
            <a:avLst/>
          </a:prstGeom>
          <a:noFill/>
        </p:spPr>
        <p:txBody>
          <a:bodyPr vert="horz" wrap="square" lIns="0" tIns="0" rIns="0" bIns="0" rtlCol="0" anchor="t">
            <a:noAutofit/>
          </a:bodyPr>
          <a:lstStyle/>
          <a:p>
            <a:r>
              <a:rPr lang="ja-JP" altLang="en-US" sz="1600">
                <a:solidFill>
                  <a:srgbClr val="0B2430"/>
                </a:solidFill>
                <a:latin typeface="Yu Gothic UI" panose="020B0500000000000000" pitchFamily="34" charset="-128"/>
                <a:ea typeface="Yu Gothic UI" panose="020B0500000000000000" pitchFamily="34" charset="-128"/>
              </a:rPr>
              <a:t>今回の実装はランダム値を使った模擬センサー。</a:t>
            </a:r>
            <a:r>
              <a:rPr lang="ja-JP" altLang="en-US" sz="1600" b="1">
                <a:solidFill>
                  <a:srgbClr val="0B2430"/>
                </a:solidFill>
                <a:latin typeface="Yu Gothic UI" panose="020B0500000000000000" pitchFamily="34" charset="-128"/>
                <a:ea typeface="Yu Gothic UI" panose="020B0500000000000000" pitchFamily="34" charset="-128"/>
              </a:rPr>
              <a:t>起動・接続だけでは送信せず、</a:t>
            </a:r>
            <a:r>
              <a:rPr lang="en-US" altLang="ja-JP" sz="1600" b="1">
                <a:solidFill>
                  <a:srgbClr val="0B2430"/>
                </a:solidFill>
                <a:latin typeface="Yu Gothic UI" panose="020B0500000000000000" pitchFamily="34" charset="-128"/>
                <a:ea typeface="Yu Gothic UI" panose="020B0500000000000000" pitchFamily="34" charset="-128"/>
              </a:rPr>
              <a:t>start </a:t>
            </a:r>
            <a:r>
              <a:rPr lang="ja-JP" altLang="en-US" sz="1600" b="1">
                <a:solidFill>
                  <a:srgbClr val="0B2430"/>
                </a:solidFill>
                <a:latin typeface="Yu Gothic UI" panose="020B0500000000000000" pitchFamily="34" charset="-128"/>
                <a:ea typeface="Yu Gothic UI" panose="020B0500000000000000" pitchFamily="34" charset="-128"/>
              </a:rPr>
              <a:t>の操作後に送信する。</a:t>
            </a:r>
            <a:r>
              <a:rPr lang="ja-JP" altLang="en-US" sz="1600">
                <a:solidFill>
                  <a:srgbClr val="0B2430"/>
                </a:solidFill>
                <a:latin typeface="Yu Gothic UI" panose="020B0500000000000000" pitchFamily="34" charset="-128"/>
                <a:ea typeface="Yu Gothic UI" panose="020B0500000000000000" pitchFamily="34" charset="-128"/>
              </a:rPr>
              <a:t>（</a:t>
            </a:r>
            <a:r>
              <a:rPr lang="en-US" altLang="ja-JP" sz="1600">
                <a:solidFill>
                  <a:srgbClr val="0B2430"/>
                </a:solidFill>
                <a:latin typeface="Yu Gothic UI" panose="020B0500000000000000" pitchFamily="34" charset="-128"/>
                <a:ea typeface="Yu Gothic UI" panose="020B0500000000000000" pitchFamily="34" charset="-128"/>
              </a:rPr>
              <a:t>[2]</a:t>
            </a:r>
            <a:r>
              <a:rPr lang="ja-JP" altLang="en-US" sz="1600">
                <a:solidFill>
                  <a:srgbClr val="0B2430"/>
                </a:solidFill>
                <a:latin typeface="Yu Gothic UI" panose="020B0500000000000000" pitchFamily="34" charset="-128"/>
                <a:ea typeface="Yu Gothic UI" panose="020B0500000000000000" pitchFamily="34" charset="-128"/>
              </a:rPr>
              <a:t>）</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20" name="source:block:5">
            <a:extLst>
              <a:ext uri="{FF2B5EF4-FFF2-40B4-BE49-F238E27FC236}">
                <a16:creationId xmlns:a16="http://schemas.microsoft.com/office/drawing/2014/main" id="{DA1D6827-ABDE-AD4A-1994-54C1047D09FF}"/>
              </a:ext>
            </a:extLst>
          </p:cNvPr>
          <p:cNvSpPr txBox="1"/>
          <p:nvPr/>
        </p:nvSpPr>
        <p:spPr>
          <a:xfrm>
            <a:off x="584200" y="5511800"/>
            <a:ext cx="11023600" cy="7366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本文の項目名・単位・意味はアプリ側で決める。</a:t>
            </a:r>
            <a:r>
              <a:rPr lang="en-US" altLang="ja-JP" sz="1500" b="1">
                <a:solidFill>
                  <a:srgbClr val="0078D4"/>
                </a:solidFill>
                <a:latin typeface="Yu Gothic UI" panose="020B0500000000000000" pitchFamily="34" charset="-128"/>
                <a:ea typeface="Yu Gothic UI" panose="020B0500000000000000" pitchFamily="34" charset="-128"/>
              </a:rPr>
              <a:t>IoT Hub</a:t>
            </a:r>
            <a:r>
              <a:rPr lang="ja-JP" altLang="en-US" sz="1500" b="1">
                <a:solidFill>
                  <a:srgbClr val="0078D4"/>
                </a:solidFill>
                <a:latin typeface="Yu Gothic UI" panose="020B0500000000000000" pitchFamily="34" charset="-128"/>
                <a:ea typeface="Yu Gothic UI" panose="020B0500000000000000" pitchFamily="34" charset="-128"/>
              </a:rPr>
              <a:t>への送信だけで分析が完了するわけではない。</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[3]</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[1]</a:t>
            </a:r>
            <a:r>
              <a:rPr lang="ja-JP" altLang="en-US" sz="1500">
                <a:solidFill>
                  <a:srgbClr val="0078D4"/>
                </a:solidFill>
                <a:latin typeface="Yu Gothic UI" panose="020B0500000000000000" pitchFamily="34" charset="-128"/>
                <a:ea typeface="Yu Gothic UI" panose="020B0500000000000000" pitchFamily="34" charset="-128"/>
              </a:rPr>
              <a:t>）</a:t>
            </a:r>
            <a:endParaRPr lang="en-US" sz="1500">
              <a:solidFill>
                <a:srgbClr val="0078D4"/>
              </a:solidFill>
              <a:latin typeface="Yu Gothic UI" panose="020B0500000000000000" pitchFamily="34" charset="-128"/>
              <a:ea typeface="Yu Gothic UI" panose="020B0500000000000000" pitchFamily="34" charset="-128"/>
            </a:endParaRPr>
          </a:p>
        </p:txBody>
      </p:sp>
      <p:sp>
        <p:nvSpPr>
          <p:cNvPr id="21" name="citation:1">
            <a:extLst>
              <a:ext uri="{FF2B5EF4-FFF2-40B4-BE49-F238E27FC236}">
                <a16:creationId xmlns:a16="http://schemas.microsoft.com/office/drawing/2014/main" id="{BE4EB59B-19E1-1FAB-F3D7-4A33FC790F05}"/>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IoT Hub </a:t>
            </a:r>
            <a:r>
              <a:rPr lang="ja-JP" altLang="en-US" sz="950">
                <a:solidFill>
                  <a:srgbClr val="566473"/>
                </a:solidFill>
                <a:latin typeface="Yu Gothic UI" panose="020B0500000000000000" pitchFamily="34" charset="-128"/>
                <a:ea typeface="Yu Gothic UI" panose="020B0500000000000000" pitchFamily="34" charset="-128"/>
                <a:hlinkClick r:id="rId3"/>
              </a:rPr>
              <a:t>のメッセージング</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2" name="citation:2">
            <a:extLst>
              <a:ext uri="{FF2B5EF4-FFF2-40B4-BE49-F238E27FC236}">
                <a16:creationId xmlns:a16="http://schemas.microsoft.com/office/drawing/2014/main" id="{360E99DB-3ED1-73CD-B83A-A6EC50F37631}"/>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ction="ppaction://hlinkfile"/>
              </a:rPr>
              <a:t>[2] </a:t>
            </a:r>
            <a:r>
              <a:rPr lang="ja-JP" altLang="en-US" sz="950">
                <a:solidFill>
                  <a:srgbClr val="566473"/>
                </a:solidFill>
                <a:latin typeface="Yu Gothic UI" panose="020B0500000000000000" pitchFamily="34" charset="-128"/>
                <a:ea typeface="Yu Gothic UI" panose="020B0500000000000000" pitchFamily="34" charset="-128"/>
                <a:hlinkClick r:id="rId4" action="ppaction://hlinkfile"/>
              </a:rPr>
              <a:t>デモ実装</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3" name="citation:3">
            <a:extLst>
              <a:ext uri="{FF2B5EF4-FFF2-40B4-BE49-F238E27FC236}">
                <a16:creationId xmlns:a16="http://schemas.microsoft.com/office/drawing/2014/main" id="{B61F0C33-BED2-DAC9-1F20-77B9CA592D34}"/>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5"/>
              </a:rPr>
              <a:t>[3] </a:t>
            </a:r>
            <a:r>
              <a:rPr lang="ja-JP" altLang="en-US" sz="950">
                <a:solidFill>
                  <a:srgbClr val="566473"/>
                </a:solidFill>
                <a:latin typeface="Yu Gothic UI" panose="020B0500000000000000" pitchFamily="34" charset="-128"/>
                <a:ea typeface="Yu Gothic UI" panose="020B0500000000000000" pitchFamily="34" charset="-128"/>
                <a:hlinkClick r:id="rId5"/>
              </a:rPr>
              <a:t>メッセージの構造</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19164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D2C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を読む組み込みエンドポイント</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8</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4038240B-7EAB-BB5E-E921-ADF4A0124766}"/>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受信アプリは、</a:t>
            </a:r>
            <a:r>
              <a:rPr lang="en-US" altLang="ja-JP" sz="1600" b="1">
                <a:solidFill>
                  <a:srgbClr val="0B2430"/>
                </a:solidFill>
                <a:latin typeface="Yu Gothic UI" panose="020B0500000000000000" pitchFamily="34" charset="-128"/>
                <a:ea typeface="Yu Gothic UI" panose="020B0500000000000000" pitchFamily="34" charset="-128"/>
              </a:rPr>
              <a:t>IoT Hub</a:t>
            </a:r>
            <a:r>
              <a:rPr lang="ja-JP" altLang="en-US" sz="1600" b="1">
                <a:solidFill>
                  <a:srgbClr val="0B2430"/>
                </a:solidFill>
                <a:latin typeface="Yu Gothic UI" panose="020B0500000000000000" pitchFamily="34" charset="-128"/>
                <a:ea typeface="Yu Gothic UI" panose="020B0500000000000000" pitchFamily="34" charset="-128"/>
              </a:rPr>
              <a:t>に用意された</a:t>
            </a:r>
            <a:r>
              <a:rPr lang="en-US" altLang="ja-JP" sz="1600" b="1">
                <a:solidFill>
                  <a:srgbClr val="0B2430"/>
                </a:solidFill>
                <a:latin typeface="Yu Gothic UI" panose="020B0500000000000000" pitchFamily="34" charset="-128"/>
                <a:ea typeface="Yu Gothic UI" panose="020B0500000000000000" pitchFamily="34" charset="-128"/>
              </a:rPr>
              <a:t>D2C</a:t>
            </a:r>
            <a:r>
              <a:rPr lang="ja-JP" altLang="en-US" sz="1600" b="1">
                <a:solidFill>
                  <a:srgbClr val="0B2430"/>
                </a:solidFill>
                <a:latin typeface="Yu Gothic UI" panose="020B0500000000000000" pitchFamily="34" charset="-128"/>
                <a:ea typeface="Yu Gothic UI" panose="020B0500000000000000" pitchFamily="34" charset="-128"/>
              </a:rPr>
              <a:t>の読み取り口を使える。</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source:condition">
            <a:extLst>
              <a:ext uri="{FF2B5EF4-FFF2-40B4-BE49-F238E27FC236}">
                <a16:creationId xmlns:a16="http://schemas.microsoft.com/office/drawing/2014/main" id="{3272673D-F2BD-DCE0-6153-F0099DC1E30B}"/>
              </a:ext>
            </a:extLst>
          </p:cNvPr>
          <p:cNvSpPr txBox="1"/>
          <p:nvPr/>
        </p:nvSpPr>
        <p:spPr>
          <a:xfrm>
            <a:off x="584200" y="1638300"/>
            <a:ext cx="11023600" cy="609600"/>
          </a:xfrm>
          <a:prstGeom prst="rect">
            <a:avLst/>
          </a:prstGeom>
          <a:noFill/>
        </p:spPr>
        <p:txBody>
          <a:bodyPr vert="horz" wrap="square" lIns="0" tIns="0" rIns="0" bIns="0" rtlCol="0" anchor="t">
            <a:noAutofit/>
          </a:bodyPr>
          <a:lstStyle/>
          <a:p>
            <a:r>
              <a:rPr lang="ja-JP" altLang="en-US" sz="1500" b="1">
                <a:solidFill>
                  <a:srgbClr val="0B2430"/>
                </a:solidFill>
                <a:latin typeface="Yu Gothic UI" panose="020B0500000000000000" pitchFamily="34" charset="-128"/>
                <a:ea typeface="Yu Gothic UI" panose="020B0500000000000000" pitchFamily="34" charset="-128"/>
              </a:rPr>
              <a:t>ここではルート未追加で、既定の組み込み宛て配送を有効にした構成を前提にする。</a:t>
            </a:r>
            <a:r>
              <a:rPr lang="ja-JP" altLang="en-US" sz="1500">
                <a:solidFill>
                  <a:srgbClr val="0B2430"/>
                </a:solidFill>
                <a:latin typeface="Yu Gothic UI" panose="020B0500000000000000" pitchFamily="34" charset="-128"/>
                <a:ea typeface="Yu Gothic UI" panose="020B0500000000000000" pitchFamily="34" charset="-128"/>
              </a:rPr>
              <a:t> 配送設定を変更した場合の条件は第</a:t>
            </a:r>
            <a:r>
              <a:rPr lang="en-US" altLang="ja-JP" sz="1500">
                <a:solidFill>
                  <a:srgbClr val="0B2430"/>
                </a:solidFill>
                <a:latin typeface="Yu Gothic UI" panose="020B0500000000000000" pitchFamily="34" charset="-128"/>
                <a:ea typeface="Yu Gothic UI" panose="020B0500000000000000" pitchFamily="34" charset="-128"/>
              </a:rPr>
              <a:t>5</a:t>
            </a:r>
            <a:r>
              <a:rPr lang="ja-JP" altLang="en-US" sz="1500">
                <a:solidFill>
                  <a:srgbClr val="0B2430"/>
                </a:solidFill>
                <a:latin typeface="Yu Gothic UI" panose="020B0500000000000000" pitchFamily="34" charset="-128"/>
                <a:ea typeface="Yu Gothic UI" panose="020B0500000000000000" pitchFamily="34" charset="-128"/>
              </a:rPr>
              <a:t>章で扱う。</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8" name="diagram:hub-boundary">
            <a:extLst>
              <a:ext uri="{FF2B5EF4-FFF2-40B4-BE49-F238E27FC236}">
                <a16:creationId xmlns:a16="http://schemas.microsoft.com/office/drawing/2014/main" id="{CF295128-0246-F2FC-A1EE-94D3183C48CE}"/>
              </a:ext>
            </a:extLst>
          </p:cNvPr>
          <p:cNvSpPr/>
          <p:nvPr/>
        </p:nvSpPr>
        <p:spPr>
          <a:xfrm>
            <a:off x="3886200" y="2476500"/>
            <a:ext cx="4114800" cy="1651000"/>
          </a:xfrm>
          <a:prstGeom prst="rect">
            <a:avLst/>
          </a:prstGeom>
          <a:solidFill>
            <a:srgbClr val="FFFFFF">
              <a:alpha val="0"/>
            </a:srgbClr>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diagram:hub-label">
            <a:extLst>
              <a:ext uri="{FF2B5EF4-FFF2-40B4-BE49-F238E27FC236}">
                <a16:creationId xmlns:a16="http://schemas.microsoft.com/office/drawing/2014/main" id="{062BF5A8-CB04-44D2-5D63-4B7246F94827}"/>
              </a:ext>
            </a:extLst>
          </p:cNvPr>
          <p:cNvSpPr txBox="1"/>
          <p:nvPr/>
        </p:nvSpPr>
        <p:spPr>
          <a:xfrm>
            <a:off x="4089400" y="2628899"/>
            <a:ext cx="3556000" cy="330200"/>
          </a:xfrm>
          <a:prstGeom prst="rect">
            <a:avLst/>
          </a:prstGeom>
          <a:noFill/>
        </p:spPr>
        <p:txBody>
          <a:bodyPr vert="horz" wrap="square" lIns="0" tIns="0" rIns="0" bIns="0" rtlCol="0" anchor="t">
            <a:noAutofit/>
          </a:bodyPr>
          <a:lstStyle/>
          <a:p>
            <a:r>
              <a:rPr lang="en-US">
                <a:solidFill>
                  <a:srgbClr val="0B2430"/>
                </a:solidFill>
                <a:latin typeface="Yu Gothic UI" panose="020B0500000000000000" pitchFamily="34" charset="-128"/>
                <a:ea typeface="Yu Gothic UI" panose="020B0500000000000000" pitchFamily="34" charset="-128"/>
              </a:rPr>
              <a:t>IoT Hub</a:t>
            </a:r>
          </a:p>
        </p:txBody>
      </p:sp>
      <p:sp>
        <p:nvSpPr>
          <p:cNvPr id="10" name="diagram:device">
            <a:extLst>
              <a:ext uri="{FF2B5EF4-FFF2-40B4-BE49-F238E27FC236}">
                <a16:creationId xmlns:a16="http://schemas.microsoft.com/office/drawing/2014/main" id="{D028EC12-ABDF-DC5D-C619-0441DA6DA52D}"/>
              </a:ext>
            </a:extLst>
          </p:cNvPr>
          <p:cNvSpPr/>
          <p:nvPr/>
        </p:nvSpPr>
        <p:spPr>
          <a:xfrm>
            <a:off x="584200" y="3225800"/>
            <a:ext cx="2324100" cy="546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デバイスアプリ</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11" name="diagram:endpoint">
            <a:extLst>
              <a:ext uri="{FF2B5EF4-FFF2-40B4-BE49-F238E27FC236}">
                <a16:creationId xmlns:a16="http://schemas.microsoft.com/office/drawing/2014/main" id="{A15DFB5B-DA47-834D-1504-B32522ECEACE}"/>
              </a:ext>
            </a:extLst>
          </p:cNvPr>
          <p:cNvSpPr/>
          <p:nvPr/>
        </p:nvSpPr>
        <p:spPr>
          <a:xfrm>
            <a:off x="4940300" y="3124200"/>
            <a:ext cx="28575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組み込みエンドポイント</a:t>
            </a:r>
          </a:p>
          <a:p>
            <a:pPr algn="ctr"/>
            <a:r>
              <a:rPr lang="en-US" sz="1400">
                <a:solidFill>
                  <a:srgbClr val="0B2430"/>
                </a:solidFill>
                <a:latin typeface="Yu Gothic UI" panose="020B0500000000000000" pitchFamily="34" charset="-128"/>
                <a:ea typeface="Yu Gothic UI" panose="020B0500000000000000" pitchFamily="34" charset="-128"/>
              </a:rPr>
              <a:t>messages/events</a:t>
            </a:r>
          </a:p>
        </p:txBody>
      </p:sp>
      <p:sp>
        <p:nvSpPr>
          <p:cNvPr id="12" name="diagram:receiver">
            <a:extLst>
              <a:ext uri="{FF2B5EF4-FFF2-40B4-BE49-F238E27FC236}">
                <a16:creationId xmlns:a16="http://schemas.microsoft.com/office/drawing/2014/main" id="{86321771-D002-1326-6475-2285BD7DEA4D}"/>
              </a:ext>
            </a:extLst>
          </p:cNvPr>
          <p:cNvSpPr/>
          <p:nvPr/>
        </p:nvSpPr>
        <p:spPr>
          <a:xfrm>
            <a:off x="9309100" y="3225800"/>
            <a:ext cx="2298700" cy="546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500">
                <a:solidFill>
                  <a:srgbClr val="0B2430"/>
                </a:solidFill>
                <a:latin typeface="Yu Gothic UI" panose="020B0500000000000000" pitchFamily="34" charset="-128"/>
                <a:ea typeface="Yu Gothic UI" panose="020B0500000000000000" pitchFamily="34" charset="-128"/>
              </a:rPr>
              <a:t>受信アプリ・ツール</a:t>
            </a:r>
            <a:endParaRPr lang="en-US" sz="1500">
              <a:solidFill>
                <a:srgbClr val="0B2430"/>
              </a:solidFill>
              <a:latin typeface="Yu Gothic UI" panose="020B0500000000000000" pitchFamily="34" charset="-128"/>
              <a:ea typeface="Yu Gothic UI" panose="020B0500000000000000" pitchFamily="34" charset="-128"/>
            </a:endParaRPr>
          </a:p>
        </p:txBody>
      </p:sp>
      <p:cxnSp>
        <p:nvCxnSpPr>
          <p:cNvPr id="13" name="diagram:line">
            <a:extLst>
              <a:ext uri="{FF2B5EF4-FFF2-40B4-BE49-F238E27FC236}">
                <a16:creationId xmlns:a16="http://schemas.microsoft.com/office/drawing/2014/main" id="{DE337D25-232F-9526-52B8-5481C4CA9CF9}"/>
              </a:ext>
            </a:extLst>
          </p:cNvPr>
          <p:cNvCxnSpPr/>
          <p:nvPr/>
        </p:nvCxnSpPr>
        <p:spPr>
          <a:xfrm>
            <a:off x="2908300" y="3492500"/>
            <a:ext cx="9779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4" name="diagram:line">
            <a:extLst>
              <a:ext uri="{FF2B5EF4-FFF2-40B4-BE49-F238E27FC236}">
                <a16:creationId xmlns:a16="http://schemas.microsoft.com/office/drawing/2014/main" id="{DF39B2E0-EE0F-6658-54BE-37B0D11B7057}"/>
              </a:ext>
            </a:extLst>
          </p:cNvPr>
          <p:cNvCxnSpPr/>
          <p:nvPr/>
        </p:nvCxnSpPr>
        <p:spPr>
          <a:xfrm>
            <a:off x="4076700" y="3492500"/>
            <a:ext cx="8636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5" name="diagram:line">
            <a:extLst>
              <a:ext uri="{FF2B5EF4-FFF2-40B4-BE49-F238E27FC236}">
                <a16:creationId xmlns:a16="http://schemas.microsoft.com/office/drawing/2014/main" id="{D0EF64AA-2569-86D9-C0EA-BA787C055354}"/>
              </a:ext>
            </a:extLst>
          </p:cNvPr>
          <p:cNvCxnSpPr/>
          <p:nvPr/>
        </p:nvCxnSpPr>
        <p:spPr>
          <a:xfrm>
            <a:off x="7797800" y="3492500"/>
            <a:ext cx="15113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6" name="diagram:send">
            <a:extLst>
              <a:ext uri="{FF2B5EF4-FFF2-40B4-BE49-F238E27FC236}">
                <a16:creationId xmlns:a16="http://schemas.microsoft.com/office/drawing/2014/main" id="{E0FCF3D7-AE98-B2E9-A1A5-4579DD4D32D1}"/>
              </a:ext>
            </a:extLst>
          </p:cNvPr>
          <p:cNvSpPr txBox="1"/>
          <p:nvPr/>
        </p:nvSpPr>
        <p:spPr>
          <a:xfrm>
            <a:off x="2933700" y="3047999"/>
            <a:ext cx="952500" cy="254000"/>
          </a:xfrm>
          <a:prstGeom prst="rect">
            <a:avLst/>
          </a:prstGeom>
          <a:noFill/>
        </p:spPr>
        <p:txBody>
          <a:bodyPr vert="horz" wrap="square" lIns="0" tIns="0" rIns="0" bIns="0" rtlCol="0" anchor="t">
            <a:noAutofit/>
          </a:bodyPr>
          <a:lstStyle/>
          <a:p>
            <a:r>
              <a:rPr lang="en-US" sz="1100">
                <a:solidFill>
                  <a:srgbClr val="566473"/>
                </a:solidFill>
                <a:latin typeface="Yu Gothic UI" panose="020B0500000000000000" pitchFamily="34" charset="-128"/>
                <a:ea typeface="Yu Gothic UI" panose="020B0500000000000000" pitchFamily="34" charset="-128"/>
              </a:rPr>
              <a:t>D2C</a:t>
            </a:r>
            <a:r>
              <a:rPr lang="ja-JP" altLang="en-US" sz="1100">
                <a:solidFill>
                  <a:srgbClr val="566473"/>
                </a:solidFill>
                <a:latin typeface="Yu Gothic UI" panose="020B0500000000000000" pitchFamily="34" charset="-128"/>
                <a:ea typeface="Yu Gothic UI" panose="020B0500000000000000" pitchFamily="34" charset="-128"/>
              </a:rPr>
              <a:t>の送信</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7" name="diagram:internal-delivery">
            <a:extLst>
              <a:ext uri="{FF2B5EF4-FFF2-40B4-BE49-F238E27FC236}">
                <a16:creationId xmlns:a16="http://schemas.microsoft.com/office/drawing/2014/main" id="{F9829794-63A7-D266-334D-4F6C8B2F7DCC}"/>
              </a:ext>
            </a:extLst>
          </p:cNvPr>
          <p:cNvSpPr txBox="1"/>
          <p:nvPr/>
        </p:nvSpPr>
        <p:spPr>
          <a:xfrm>
            <a:off x="4038600" y="3174999"/>
            <a:ext cx="8763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内部の配送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8" name="diagram:read">
            <a:extLst>
              <a:ext uri="{FF2B5EF4-FFF2-40B4-BE49-F238E27FC236}">
                <a16:creationId xmlns:a16="http://schemas.microsoft.com/office/drawing/2014/main" id="{056CDC92-69EB-21B5-89DA-1A030299998C}"/>
              </a:ext>
            </a:extLst>
          </p:cNvPr>
          <p:cNvSpPr txBox="1"/>
          <p:nvPr/>
        </p:nvSpPr>
        <p:spPr>
          <a:xfrm>
            <a:off x="8026400" y="2666999"/>
            <a:ext cx="1333500" cy="533400"/>
          </a:xfrm>
          <a:prstGeom prst="rect">
            <a:avLst/>
          </a:prstGeom>
          <a:noFill/>
        </p:spPr>
        <p:txBody>
          <a:bodyPr vert="horz" wrap="square" lIns="0" tIns="0" rIns="0" bIns="0" rtlCol="0" anchor="t">
            <a:noAutofit/>
          </a:bodyPr>
          <a:lstStyle/>
          <a:p>
            <a:r>
              <a:rPr lang="en-US" sz="1150">
                <a:solidFill>
                  <a:srgbClr val="566473"/>
                </a:solidFill>
                <a:latin typeface="Yu Gothic UI" panose="020B0500000000000000" pitchFamily="34" charset="-128"/>
                <a:ea typeface="Yu Gothic UI" panose="020B0500000000000000" pitchFamily="34" charset="-128"/>
              </a:rPr>
              <a:t>Event Hubs</a:t>
            </a:r>
            <a:r>
              <a:rPr lang="ja-JP" altLang="en-US" sz="1150">
                <a:solidFill>
                  <a:srgbClr val="566473"/>
                </a:solidFill>
                <a:latin typeface="Yu Gothic UI" panose="020B0500000000000000" pitchFamily="34" charset="-128"/>
                <a:ea typeface="Yu Gothic UI" panose="020B0500000000000000" pitchFamily="34" charset="-128"/>
              </a:rPr>
              <a:t>互換</a:t>
            </a:r>
          </a:p>
          <a:p>
            <a:r>
              <a:rPr lang="ja-JP" altLang="en-US" sz="1150">
                <a:solidFill>
                  <a:srgbClr val="566473"/>
                </a:solidFill>
                <a:latin typeface="Yu Gothic UI" panose="020B0500000000000000" pitchFamily="34" charset="-128"/>
                <a:ea typeface="Yu Gothic UI" panose="020B0500000000000000" pitchFamily="34" charset="-128"/>
              </a:rPr>
              <a:t>の経路で読み取り</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9" name="source:endpoint">
            <a:extLst>
              <a:ext uri="{FF2B5EF4-FFF2-40B4-BE49-F238E27FC236}">
                <a16:creationId xmlns:a16="http://schemas.microsoft.com/office/drawing/2014/main" id="{EEB52758-EB1A-9694-4A1E-5F3F526FFC57}"/>
              </a:ext>
            </a:extLst>
          </p:cNvPr>
          <p:cNvSpPr txBox="1"/>
          <p:nvPr/>
        </p:nvSpPr>
        <p:spPr>
          <a:xfrm>
            <a:off x="584200" y="4305300"/>
            <a:ext cx="11023600" cy="3810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組み込みエンドポイント </a:t>
            </a:r>
            <a:r>
              <a:rPr lang="en-US" altLang="ja-JP" sz="1500">
                <a:solidFill>
                  <a:srgbClr val="0B2430"/>
                </a:solidFill>
                <a:latin typeface="Yu Gothic UI" panose="020B0500000000000000" pitchFamily="34" charset="-128"/>
                <a:ea typeface="Yu Gothic UI" panose="020B0500000000000000" pitchFamily="34" charset="-128"/>
              </a:rPr>
              <a:t>messages/events </a:t>
            </a:r>
            <a:r>
              <a:rPr lang="ja-JP" altLang="en-US" sz="1500">
                <a:solidFill>
                  <a:srgbClr val="0B2430"/>
                </a:solidFill>
                <a:latin typeface="Yu Gothic UI" panose="020B0500000000000000" pitchFamily="34" charset="-128"/>
                <a:ea typeface="Yu Gothic UI" panose="020B0500000000000000" pitchFamily="34" charset="-128"/>
              </a:rPr>
              <a:t>は </a:t>
            </a:r>
            <a:r>
              <a:rPr lang="en-US" altLang="ja-JP" sz="1500" b="1">
                <a:solidFill>
                  <a:srgbClr val="0B2430"/>
                </a:solidFill>
                <a:latin typeface="Yu Gothic UI" panose="020B0500000000000000" pitchFamily="34" charset="-128"/>
                <a:ea typeface="Yu Gothic UI" panose="020B0500000000000000" pitchFamily="34" charset="-128"/>
              </a:rPr>
              <a:t>Event Hubs</a:t>
            </a:r>
            <a:r>
              <a:rPr lang="ja-JP" altLang="en-US" sz="1500" b="1">
                <a:solidFill>
                  <a:srgbClr val="0B2430"/>
                </a:solidFill>
                <a:latin typeface="Yu Gothic UI" panose="020B0500000000000000" pitchFamily="34" charset="-128"/>
                <a:ea typeface="Yu Gothic UI" panose="020B0500000000000000" pitchFamily="34" charset="-128"/>
              </a:rPr>
              <a:t>互換</a:t>
            </a:r>
            <a:r>
              <a:rPr lang="ja-JP" altLang="en-US" sz="1500">
                <a:solidFill>
                  <a:srgbClr val="0B2430"/>
                </a:solidFill>
                <a:latin typeface="Yu Gothic UI" panose="020B0500000000000000" pitchFamily="34" charset="-128"/>
                <a:ea typeface="Yu Gothic UI" panose="020B0500000000000000" pitchFamily="34" charset="-128"/>
              </a:rPr>
              <a:t>。対応する</a:t>
            </a:r>
            <a:r>
              <a:rPr lang="en-US" altLang="ja-JP" sz="1500">
                <a:solidFill>
                  <a:srgbClr val="0B2430"/>
                </a:solidFill>
                <a:latin typeface="Yu Gothic UI" panose="020B0500000000000000" pitchFamily="34" charset="-128"/>
                <a:ea typeface="Yu Gothic UI" panose="020B0500000000000000" pitchFamily="34" charset="-128"/>
              </a:rPr>
              <a:t>SDK</a:t>
            </a:r>
            <a:r>
              <a:rPr lang="ja-JP" altLang="en-US" sz="1500">
                <a:solidFill>
                  <a:srgbClr val="0B2430"/>
                </a:solidFill>
                <a:latin typeface="Yu Gothic UI" panose="020B0500000000000000" pitchFamily="34" charset="-128"/>
                <a:ea typeface="Yu Gothic UI" panose="020B0500000000000000" pitchFamily="34" charset="-128"/>
              </a:rPr>
              <a:t>で読み取れる。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20" name="source:no-extra-resource">
            <a:extLst>
              <a:ext uri="{FF2B5EF4-FFF2-40B4-BE49-F238E27FC236}">
                <a16:creationId xmlns:a16="http://schemas.microsoft.com/office/drawing/2014/main" id="{4BEF16C3-8BD9-DFFE-F1C7-D7D08885D6FE}"/>
              </a:ext>
            </a:extLst>
          </p:cNvPr>
          <p:cNvSpPr txBox="1"/>
          <p:nvPr/>
        </p:nvSpPr>
        <p:spPr>
          <a:xfrm>
            <a:off x="584200" y="4775200"/>
            <a:ext cx="11023600" cy="3302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この経路の利用に、別の</a:t>
            </a:r>
            <a:r>
              <a:rPr lang="en-US" altLang="ja-JP" sz="1500">
                <a:solidFill>
                  <a:srgbClr val="0B2430"/>
                </a:solidFill>
                <a:latin typeface="Yu Gothic UI" panose="020B0500000000000000" pitchFamily="34" charset="-128"/>
                <a:ea typeface="Yu Gothic UI" panose="020B0500000000000000" pitchFamily="34" charset="-128"/>
              </a:rPr>
              <a:t>Event Hubs</a:t>
            </a:r>
            <a:r>
              <a:rPr lang="ja-JP" altLang="en-US" sz="1500">
                <a:solidFill>
                  <a:srgbClr val="0B2430"/>
                </a:solidFill>
                <a:latin typeface="Yu Gothic UI" panose="020B0500000000000000" pitchFamily="34" charset="-128"/>
                <a:ea typeface="Yu Gothic UI" panose="020B0500000000000000" pitchFamily="34" charset="-128"/>
              </a:rPr>
              <a:t>リソースの作成は不要。</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21" name="source:block:2">
            <a:extLst>
              <a:ext uri="{FF2B5EF4-FFF2-40B4-BE49-F238E27FC236}">
                <a16:creationId xmlns:a16="http://schemas.microsoft.com/office/drawing/2014/main" id="{B78B8CF0-E037-42B2-C77E-F648D9472235}"/>
              </a:ext>
            </a:extLst>
          </p:cNvPr>
          <p:cNvSpPr txBox="1"/>
          <p:nvPr/>
        </p:nvSpPr>
        <p:spPr>
          <a:xfrm>
            <a:off x="584200" y="5194300"/>
            <a:ext cx="11023600" cy="4699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組み込みエンドポイントは期限付きでメッセージを保持する読み取り口であり、長期保存用の</a:t>
            </a:r>
            <a:r>
              <a:rPr lang="en-US" altLang="ja-JP" sz="1400">
                <a:solidFill>
                  <a:srgbClr val="0B2430"/>
                </a:solidFill>
                <a:latin typeface="Yu Gothic UI" panose="020B0500000000000000" pitchFamily="34" charset="-128"/>
                <a:ea typeface="Yu Gothic UI" panose="020B0500000000000000" pitchFamily="34" charset="-128"/>
              </a:rPr>
              <a:t>DB</a:t>
            </a:r>
            <a:r>
              <a:rPr lang="ja-JP" altLang="en-US" sz="1400">
                <a:solidFill>
                  <a:srgbClr val="0B2430"/>
                </a:solidFill>
                <a:latin typeface="Yu Gothic UI" panose="020B0500000000000000" pitchFamily="34" charset="-128"/>
                <a:ea typeface="Yu Gothic UI" panose="020B0500000000000000" pitchFamily="34" charset="-128"/>
              </a:rPr>
              <a:t>ではない（</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2" name="source:block:3">
            <a:extLst>
              <a:ext uri="{FF2B5EF4-FFF2-40B4-BE49-F238E27FC236}">
                <a16:creationId xmlns:a16="http://schemas.microsoft.com/office/drawing/2014/main" id="{B6A561B4-117F-082E-1D41-526ABB8E6E98}"/>
              </a:ext>
            </a:extLst>
          </p:cNvPr>
          <p:cNvSpPr txBox="1"/>
          <p:nvPr/>
        </p:nvSpPr>
        <p:spPr>
          <a:xfrm>
            <a:off x="584200" y="5765800"/>
            <a:ext cx="11023600" cy="5461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この読み取り口は共有アクセスキー方式で接続する。サービス</a:t>
            </a:r>
            <a:r>
              <a:rPr lang="en-US" altLang="ja-JP" sz="1500" b="1">
                <a:solidFill>
                  <a:srgbClr val="0078D4"/>
                </a:solidFill>
                <a:latin typeface="Yu Gothic UI" panose="020B0500000000000000" pitchFamily="34" charset="-128"/>
                <a:ea typeface="Yu Gothic UI" panose="020B0500000000000000" pitchFamily="34" charset="-128"/>
              </a:rPr>
              <a:t>API</a:t>
            </a:r>
            <a:r>
              <a:rPr lang="ja-JP" altLang="en-US" sz="1500" b="1">
                <a:solidFill>
                  <a:srgbClr val="0078D4"/>
                </a:solidFill>
                <a:latin typeface="Yu Gothic UI" panose="020B0500000000000000" pitchFamily="34" charset="-128"/>
                <a:ea typeface="Yu Gothic UI" panose="020B0500000000000000" pitchFamily="34" charset="-128"/>
              </a:rPr>
              <a:t>の</a:t>
            </a:r>
            <a:r>
              <a:rPr lang="en-US" altLang="ja-JP" sz="1500" b="1">
                <a:solidFill>
                  <a:srgbClr val="0078D4"/>
                </a:solidFill>
                <a:latin typeface="Yu Gothic UI" panose="020B0500000000000000" pitchFamily="34" charset="-128"/>
                <a:ea typeface="Yu Gothic UI" panose="020B0500000000000000" pitchFamily="34" charset="-128"/>
              </a:rPr>
              <a:t>Entra ID</a:t>
            </a:r>
            <a:r>
              <a:rPr lang="ja-JP" altLang="en-US" sz="1500" b="1">
                <a:solidFill>
                  <a:srgbClr val="0078D4"/>
                </a:solidFill>
                <a:latin typeface="Yu Gothic UI" panose="020B0500000000000000" pitchFamily="34" charset="-128"/>
                <a:ea typeface="Yu Gothic UI" panose="020B0500000000000000" pitchFamily="34" charset="-128"/>
              </a:rPr>
              <a:t>認証とは別。デバイス用の接続文字列は使わない。</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[2]</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[3]</a:t>
            </a:r>
            <a:r>
              <a:rPr lang="ja-JP" altLang="en-US" sz="1500">
                <a:solidFill>
                  <a:srgbClr val="0078D4"/>
                </a:solidFill>
                <a:latin typeface="Yu Gothic UI" panose="020B0500000000000000" pitchFamily="34" charset="-128"/>
                <a:ea typeface="Yu Gothic UI" panose="020B0500000000000000" pitchFamily="34" charset="-128"/>
              </a:rPr>
              <a:t>）</a:t>
            </a:r>
            <a:endParaRPr lang="en-US" sz="1500">
              <a:solidFill>
                <a:srgbClr val="0078D4"/>
              </a:solidFill>
              <a:latin typeface="Yu Gothic UI" panose="020B0500000000000000" pitchFamily="34" charset="-128"/>
              <a:ea typeface="Yu Gothic UI" panose="020B0500000000000000" pitchFamily="34" charset="-128"/>
            </a:endParaRPr>
          </a:p>
        </p:txBody>
      </p:sp>
      <p:sp>
        <p:nvSpPr>
          <p:cNvPr id="23" name="citation:1">
            <a:extLst>
              <a:ext uri="{FF2B5EF4-FFF2-40B4-BE49-F238E27FC236}">
                <a16:creationId xmlns:a16="http://schemas.microsoft.com/office/drawing/2014/main" id="{47AF4F5F-C676-0455-096B-321B9DD38A1F}"/>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a:t>
            </a:r>
            <a:r>
              <a:rPr lang="ja-JP" altLang="en-US" sz="950">
                <a:solidFill>
                  <a:srgbClr val="566473"/>
                </a:solidFill>
                <a:latin typeface="Yu Gothic UI" panose="020B0500000000000000" pitchFamily="34" charset="-128"/>
                <a:ea typeface="Yu Gothic UI" panose="020B0500000000000000" pitchFamily="34" charset="-128"/>
                <a:hlinkClick r:id="rId3"/>
              </a:rPr>
              <a:t>組み込みエンドポイントの読み取り・配送・保持</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4" name="citation:2">
            <a:extLst>
              <a:ext uri="{FF2B5EF4-FFF2-40B4-BE49-F238E27FC236}">
                <a16:creationId xmlns:a16="http://schemas.microsoft.com/office/drawing/2014/main" id="{1638C6C3-75CD-87C8-B0A0-F81DE89704FF}"/>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rPr>
              <a:t>[2] </a:t>
            </a:r>
            <a:r>
              <a:rPr lang="ja-JP" altLang="en-US" sz="950">
                <a:solidFill>
                  <a:srgbClr val="566473"/>
                </a:solidFill>
                <a:latin typeface="Yu Gothic UI" panose="020B0500000000000000" pitchFamily="34" charset="-128"/>
                <a:ea typeface="Yu Gothic UI" panose="020B0500000000000000" pitchFamily="34" charset="-128"/>
                <a:hlinkClick r:id="rId4"/>
              </a:rPr>
              <a:t>組み込みエンドポイントの認証制約</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5" name="citation:3">
            <a:extLst>
              <a:ext uri="{FF2B5EF4-FFF2-40B4-BE49-F238E27FC236}">
                <a16:creationId xmlns:a16="http://schemas.microsoft.com/office/drawing/2014/main" id="{3BE98454-98D0-E6D3-5B0F-78BF2B3C5A58}"/>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5"/>
              </a:rPr>
              <a:t>[3] </a:t>
            </a:r>
            <a:r>
              <a:rPr lang="ja-JP" altLang="en-US" sz="950">
                <a:solidFill>
                  <a:srgbClr val="566473"/>
                </a:solidFill>
                <a:latin typeface="Yu Gothic UI" panose="020B0500000000000000" pitchFamily="34" charset="-128"/>
                <a:ea typeface="Yu Gothic UI" panose="020B0500000000000000" pitchFamily="34" charset="-128"/>
                <a:hlinkClick r:id="rId5"/>
              </a:rPr>
              <a:t>接続に必要な情報と権限</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080987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送信ログと受信データの照合</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9</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246D4803-91C2-37E9-42A3-6D1AFB6A0C6F}"/>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送信側の成功ログと、受信側に現れた送信元・本文を対応させて確認する。</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source:block:1">
            <a:extLst>
              <a:ext uri="{FF2B5EF4-FFF2-40B4-BE49-F238E27FC236}">
                <a16:creationId xmlns:a16="http://schemas.microsoft.com/office/drawing/2014/main" id="{BD3266D4-183B-984D-3CE9-8BBA766AD84D}"/>
              </a:ext>
            </a:extLst>
          </p:cNvPr>
          <p:cNvSpPr txBox="1"/>
          <p:nvPr/>
        </p:nvSpPr>
        <p:spPr>
          <a:xfrm>
            <a:off x="584200" y="1676400"/>
            <a:ext cx="5410200" cy="330200"/>
          </a:xfrm>
          <a:prstGeom prst="rect">
            <a:avLst/>
          </a:prstGeom>
          <a:noFill/>
        </p:spPr>
        <p:txBody>
          <a:bodyPr vert="horz" wrap="square" lIns="0" tIns="0" rIns="0" bIns="0" rtlCol="0" anchor="t">
            <a:noAutofit/>
          </a:bodyPr>
          <a:lstStyle/>
          <a:p>
            <a:r>
              <a:rPr lang="ja-JP" altLang="en-US" sz="1400">
                <a:solidFill>
                  <a:srgbClr val="566473"/>
                </a:solidFill>
                <a:latin typeface="Yu Gothic UI" panose="020B0500000000000000" pitchFamily="34" charset="-128"/>
                <a:ea typeface="Yu Gothic UI" panose="020B0500000000000000" pitchFamily="34" charset="-128"/>
              </a:rPr>
              <a:t>送信側の表示例（説明用）</a:t>
            </a:r>
            <a:r>
              <a:rPr lang="en-US" altLang="ja-JP" sz="1400">
                <a:solidFill>
                  <a:srgbClr val="566473"/>
                </a:solidFill>
                <a:latin typeface="Yu Gothic UI" panose="020B0500000000000000" pitchFamily="34" charset="-128"/>
                <a:ea typeface="Yu Gothic UI" panose="020B0500000000000000" pitchFamily="34" charset="-128"/>
              </a:rPr>
              <a:t>:</a:t>
            </a:r>
            <a:endParaRPr lang="en-US" sz="1400">
              <a:solidFill>
                <a:srgbClr val="566473"/>
              </a:solidFill>
              <a:latin typeface="Yu Gothic UI" panose="020B0500000000000000" pitchFamily="34" charset="-128"/>
              <a:ea typeface="Yu Gothic UI" panose="020B0500000000000000" pitchFamily="34" charset="-128"/>
            </a:endParaRPr>
          </a:p>
        </p:txBody>
      </p:sp>
      <p:sp>
        <p:nvSpPr>
          <p:cNvPr id="8" name="source:block:3">
            <a:extLst>
              <a:ext uri="{FF2B5EF4-FFF2-40B4-BE49-F238E27FC236}">
                <a16:creationId xmlns:a16="http://schemas.microsoft.com/office/drawing/2014/main" id="{C8E4AAD5-DA2F-E4A1-BCB4-78C5F313599A}"/>
              </a:ext>
            </a:extLst>
          </p:cNvPr>
          <p:cNvSpPr txBox="1"/>
          <p:nvPr/>
        </p:nvSpPr>
        <p:spPr>
          <a:xfrm>
            <a:off x="6578600" y="1676399"/>
            <a:ext cx="5029200" cy="546100"/>
          </a:xfrm>
          <a:prstGeom prst="rect">
            <a:avLst/>
          </a:prstGeom>
          <a:noFill/>
        </p:spPr>
        <p:txBody>
          <a:bodyPr vert="horz" wrap="square" lIns="0" tIns="0" rIns="0" bIns="0" rtlCol="0" anchor="t">
            <a:noAutofit/>
          </a:bodyPr>
          <a:lstStyle/>
          <a:p>
            <a:r>
              <a:rPr lang="ja-JP" altLang="en-US" sz="1300">
                <a:solidFill>
                  <a:srgbClr val="566473"/>
                </a:solidFill>
                <a:latin typeface="Yu Gothic UI" panose="020B0500000000000000" pitchFamily="34" charset="-128"/>
                <a:ea typeface="Yu Gothic UI" panose="020B0500000000000000" pitchFamily="34" charset="-128"/>
              </a:rPr>
              <a:t>受信側で見る項目（ツール固有の出力形式ではなく、説明用に整形）</a:t>
            </a:r>
            <a:r>
              <a:rPr lang="en-US" altLang="ja-JP" sz="1300">
                <a:solidFill>
                  <a:srgbClr val="566473"/>
                </a:solidFill>
                <a:latin typeface="Yu Gothic UI" panose="020B0500000000000000" pitchFamily="34" charset="-128"/>
                <a:ea typeface="Yu Gothic UI" panose="020B0500000000000000" pitchFamily="34" charset="-128"/>
              </a:rPr>
              <a:t>:</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9" name="diagram:log-background">
            <a:extLst>
              <a:ext uri="{FF2B5EF4-FFF2-40B4-BE49-F238E27FC236}">
                <a16:creationId xmlns:a16="http://schemas.microsoft.com/office/drawing/2014/main" id="{CE6A505A-C267-B54B-FAC9-B4023DBFF08E}"/>
              </a:ext>
            </a:extLst>
          </p:cNvPr>
          <p:cNvSpPr/>
          <p:nvPr/>
        </p:nvSpPr>
        <p:spPr>
          <a:xfrm>
            <a:off x="584200" y="2336800"/>
            <a:ext cx="5461000" cy="15494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source:block:2">
            <a:extLst>
              <a:ext uri="{FF2B5EF4-FFF2-40B4-BE49-F238E27FC236}">
                <a16:creationId xmlns:a16="http://schemas.microsoft.com/office/drawing/2014/main" id="{D4E7C5DB-CDF9-58E1-DAE1-C0DD8A9201D6}"/>
              </a:ext>
            </a:extLst>
          </p:cNvPr>
          <p:cNvSpPr txBox="1"/>
          <p:nvPr/>
        </p:nvSpPr>
        <p:spPr>
          <a:xfrm>
            <a:off x="723900" y="2578099"/>
            <a:ext cx="5194300" cy="1168400"/>
          </a:xfrm>
          <a:prstGeom prst="rect">
            <a:avLst/>
          </a:prstGeom>
          <a:noFill/>
        </p:spPr>
        <p:txBody>
          <a:bodyPr vert="horz" wrap="square" lIns="0" tIns="0" rIns="0" bIns="0" rtlCol="0" anchor="t">
            <a:noAutofit/>
          </a:bodyPr>
          <a:lstStyle/>
          <a:p>
            <a:r>
              <a:rPr lang="en-US" sz="1400">
                <a:solidFill>
                  <a:srgbClr val="0B2430"/>
                </a:solidFill>
                <a:latin typeface="Consolas" panose="020B0609020204030204" pitchFamily="49" charset="0"/>
                <a:ea typeface="Yu Gothic UI" panose="020B0500000000000000" pitchFamily="34" charset="-128"/>
              </a:rPr>
              <a:t>Device connected to IoT Hub.</a:t>
            </a:r>
          </a:p>
          <a:p>
            <a:r>
              <a:rPr lang="en-US" sz="1400">
                <a:solidFill>
                  <a:srgbClr val="0B2430"/>
                </a:solidFill>
                <a:latin typeface="Consolas" panose="020B0609020204030204" pitchFamily="49" charset="0"/>
                <a:ea typeface="Yu Gothic UI" panose="020B0500000000000000" pitchFamily="34" charset="-128"/>
              </a:rPr>
              <a:t>Sent telemetry: {'temperature': 25, 'humidity': 45}</a:t>
            </a:r>
          </a:p>
        </p:txBody>
      </p:sp>
      <p:graphicFrame>
        <p:nvGraphicFramePr>
          <p:cNvPr id="11" name="source:table">
            <a:extLst>
              <a:ext uri="{FF2B5EF4-FFF2-40B4-BE49-F238E27FC236}">
                <a16:creationId xmlns:a16="http://schemas.microsoft.com/office/drawing/2014/main" id="{78326521-49F7-03AF-441C-CEFA89D05C83}"/>
              </a:ext>
            </a:extLst>
          </p:cNvPr>
          <p:cNvGraphicFramePr>
            <a:graphicFrameLocks noGrp="1"/>
          </p:cNvGraphicFramePr>
          <p:nvPr>
            <p:extLst>
              <p:ext uri="{D42A27DB-BD31-4B8C-83A1-F6EECF244321}">
                <p14:modId xmlns:p14="http://schemas.microsoft.com/office/powerpoint/2010/main" val="1463094786"/>
              </p:ext>
            </p:extLst>
          </p:nvPr>
        </p:nvGraphicFramePr>
        <p:xfrm>
          <a:off x="6578600" y="2336800"/>
          <a:ext cx="5029200" cy="1549400"/>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1803982724"/>
                    </a:ext>
                  </a:extLst>
                </a:gridCol>
                <a:gridCol w="3098800">
                  <a:extLst>
                    <a:ext uri="{9D8B030D-6E8A-4147-A177-3AD203B41FA5}">
                      <a16:colId xmlns:a16="http://schemas.microsoft.com/office/drawing/2014/main" val="1156843579"/>
                    </a:ext>
                  </a:extLst>
                </a:gridCol>
              </a:tblGrid>
              <a:tr h="381000">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確認項目</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表示例</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4291321877"/>
                  </a:ext>
                </a:extLst>
              </a:tr>
              <a:tr h="5842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送信元デバイスの</a:t>
                      </a:r>
                    </a:p>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メタデータ</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00" b="0">
                          <a:solidFill>
                            <a:srgbClr val="0B2430"/>
                          </a:solidFill>
                          <a:latin typeface="Yu Gothic UI" panose="020B0500000000000000" pitchFamily="34" charset="-128"/>
                          <a:ea typeface="Yu Gothic UI" panose="020B0500000000000000" pitchFamily="34" charset="-128"/>
                        </a:rPr>
                        <a:t>temp-sensor-01</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246976127"/>
                  </a:ext>
                </a:extLst>
              </a:tr>
              <a:tr h="5842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メッセージ本文</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00" b="0">
                          <a:solidFill>
                            <a:srgbClr val="0B2430"/>
                          </a:solidFill>
                          <a:latin typeface="Yu Gothic UI" panose="020B0500000000000000" pitchFamily="34" charset="-128"/>
                          <a:ea typeface="Yu Gothic UI" panose="020B0500000000000000" pitchFamily="34" charset="-128"/>
                        </a:rPr>
                        <a:t>{"temperature":25,"humidity":45}</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119723300"/>
                  </a:ext>
                </a:extLst>
              </a:tr>
            </a:tbl>
          </a:graphicData>
        </a:graphic>
      </p:graphicFrame>
      <p:cxnSp>
        <p:nvCxnSpPr>
          <p:cNvPr id="12" name="diagram:line">
            <a:extLst>
              <a:ext uri="{FF2B5EF4-FFF2-40B4-BE49-F238E27FC236}">
                <a16:creationId xmlns:a16="http://schemas.microsoft.com/office/drawing/2014/main" id="{A0DADC3C-4297-B957-9E53-EC6287683BE4}"/>
              </a:ext>
            </a:extLst>
          </p:cNvPr>
          <p:cNvCxnSpPr/>
          <p:nvPr/>
        </p:nvCxnSpPr>
        <p:spPr>
          <a:xfrm>
            <a:off x="6070600" y="3390900"/>
            <a:ext cx="482600" cy="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sp>
        <p:nvSpPr>
          <p:cNvPr id="13" name="source:block:5">
            <a:extLst>
              <a:ext uri="{FF2B5EF4-FFF2-40B4-BE49-F238E27FC236}">
                <a16:creationId xmlns:a16="http://schemas.microsoft.com/office/drawing/2014/main" id="{0777A08A-66EC-682A-7C0A-A4752DBC956F}"/>
              </a:ext>
            </a:extLst>
          </p:cNvPr>
          <p:cNvSpPr txBox="1"/>
          <p:nvPr/>
        </p:nvSpPr>
        <p:spPr>
          <a:xfrm>
            <a:off x="584200" y="4076700"/>
            <a:ext cx="11023600" cy="5588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送信元デバイスの情報と、アプリが作った</a:t>
            </a:r>
            <a:r>
              <a:rPr lang="en-US" altLang="ja-JP" sz="1400" b="1">
                <a:solidFill>
                  <a:srgbClr val="0B2430"/>
                </a:solidFill>
                <a:latin typeface="Yu Gothic UI" panose="020B0500000000000000" pitchFamily="34" charset="-128"/>
                <a:ea typeface="Yu Gothic UI" panose="020B0500000000000000" pitchFamily="34" charset="-128"/>
              </a:rPr>
              <a:t>JSON</a:t>
            </a:r>
            <a:r>
              <a:rPr lang="ja-JP" altLang="en-US" sz="1400" b="1">
                <a:solidFill>
                  <a:srgbClr val="0B2430"/>
                </a:solidFill>
                <a:latin typeface="Yu Gothic UI" panose="020B0500000000000000" pitchFamily="34" charset="-128"/>
                <a:ea typeface="Yu Gothic UI" panose="020B0500000000000000" pitchFamily="34" charset="-128"/>
              </a:rPr>
              <a:t>本文は別の情報。</a:t>
            </a:r>
            <a:r>
              <a:rPr lang="ja-JP" altLang="en-US" sz="1400">
                <a:solidFill>
                  <a:srgbClr val="0B2430"/>
                </a:solidFill>
                <a:latin typeface="Yu Gothic UI" panose="020B0500000000000000" pitchFamily="34" charset="-128"/>
                <a:ea typeface="Yu Gothic UI" panose="020B0500000000000000" pitchFamily="34" charset="-128"/>
              </a:rPr>
              <a:t> </a:t>
            </a:r>
            <a:r>
              <a:rPr lang="en-US" altLang="ja-JP" sz="1400">
                <a:solidFill>
                  <a:srgbClr val="0B2430"/>
                </a:solidFill>
                <a:latin typeface="Yu Gothic UI" panose="020B0500000000000000" pitchFamily="34" charset="-128"/>
                <a:ea typeface="Yu Gothic UI" panose="020B0500000000000000" pitchFamily="34" charset="-128"/>
              </a:rPr>
              <a:t>IoT Hub</a:t>
            </a:r>
            <a:r>
              <a:rPr lang="ja-JP" altLang="en-US" sz="1400">
                <a:solidFill>
                  <a:srgbClr val="0B2430"/>
                </a:solidFill>
                <a:latin typeface="Yu Gothic UI" panose="020B0500000000000000" pitchFamily="34" charset="-128"/>
                <a:ea typeface="Yu Gothic UI" panose="020B0500000000000000" pitchFamily="34" charset="-128"/>
              </a:rPr>
              <a:t>が付ける送信元</a:t>
            </a:r>
            <a:r>
              <a:rPr lang="en-US" altLang="ja-JP" sz="1400">
                <a:solidFill>
                  <a:srgbClr val="0B2430"/>
                </a:solidFill>
                <a:latin typeface="Yu Gothic UI" panose="020B0500000000000000" pitchFamily="34" charset="-128"/>
                <a:ea typeface="Yu Gothic UI" panose="020B0500000000000000" pitchFamily="34" charset="-128"/>
              </a:rPr>
              <a:t>ID</a:t>
            </a:r>
            <a:r>
              <a:rPr lang="ja-JP" altLang="en-US" sz="1400">
                <a:solidFill>
                  <a:srgbClr val="0B2430"/>
                </a:solidFill>
                <a:latin typeface="Yu Gothic UI" panose="020B0500000000000000" pitchFamily="34" charset="-128"/>
                <a:ea typeface="Yu Gothic UI" panose="020B0500000000000000" pitchFamily="34" charset="-128"/>
              </a:rPr>
              <a:t>を含むシステムプロパティと本文を区別する（</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4" name="diagram:observation:0">
            <a:extLst>
              <a:ext uri="{FF2B5EF4-FFF2-40B4-BE49-F238E27FC236}">
                <a16:creationId xmlns:a16="http://schemas.microsoft.com/office/drawing/2014/main" id="{2A4C556C-1542-56AE-826C-F7980DAA2106}"/>
              </a:ext>
            </a:extLst>
          </p:cNvPr>
          <p:cNvSpPr/>
          <p:nvPr/>
        </p:nvSpPr>
        <p:spPr>
          <a:xfrm>
            <a:off x="584200" y="4737100"/>
            <a:ext cx="3302000" cy="419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送信処理の成功</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5" name="diagram:observation:1">
            <a:extLst>
              <a:ext uri="{FF2B5EF4-FFF2-40B4-BE49-F238E27FC236}">
                <a16:creationId xmlns:a16="http://schemas.microsoft.com/office/drawing/2014/main" id="{A29E46A0-23C5-FF0B-F666-4F7135C227A3}"/>
              </a:ext>
            </a:extLst>
          </p:cNvPr>
          <p:cNvSpPr/>
          <p:nvPr/>
        </p:nvSpPr>
        <p:spPr>
          <a:xfrm>
            <a:off x="4445000" y="4737100"/>
            <a:ext cx="3302000" cy="419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受信側で確認</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6" name="diagram:observation:2">
            <a:extLst>
              <a:ext uri="{FF2B5EF4-FFF2-40B4-BE49-F238E27FC236}">
                <a16:creationId xmlns:a16="http://schemas.microsoft.com/office/drawing/2014/main" id="{87B10981-21C2-1877-CAB7-C865B32F466C}"/>
              </a:ext>
            </a:extLst>
          </p:cNvPr>
          <p:cNvSpPr/>
          <p:nvPr/>
        </p:nvSpPr>
        <p:spPr>
          <a:xfrm>
            <a:off x="8305800" y="4737100"/>
            <a:ext cx="3302000" cy="419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保存・業務処理</a:t>
            </a:r>
            <a:r>
              <a:rPr lang="en-US" altLang="ja-JP" sz="1300">
                <a:solidFill>
                  <a:srgbClr val="0B2430"/>
                </a:solidFill>
                <a:latin typeface="Yu Gothic UI" panose="020B0500000000000000" pitchFamily="34" charset="-128"/>
                <a:ea typeface="Yu Gothic UI" panose="020B0500000000000000" pitchFamily="34" charset="-128"/>
              </a:rPr>
              <a:t>: </a:t>
            </a:r>
            <a:r>
              <a:rPr lang="ja-JP" altLang="en-US" sz="1300">
                <a:solidFill>
                  <a:srgbClr val="0B2430"/>
                </a:solidFill>
                <a:latin typeface="Yu Gothic UI" panose="020B0500000000000000" pitchFamily="34" charset="-128"/>
                <a:ea typeface="Yu Gothic UI" panose="020B0500000000000000" pitchFamily="34" charset="-128"/>
              </a:rPr>
              <a:t>未確認</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7" name="source:block:6">
            <a:extLst>
              <a:ext uri="{FF2B5EF4-FFF2-40B4-BE49-F238E27FC236}">
                <a16:creationId xmlns:a16="http://schemas.microsoft.com/office/drawing/2014/main" id="{5BFF29FB-12E8-F404-8FFD-953F80AABCCB}"/>
              </a:ext>
            </a:extLst>
          </p:cNvPr>
          <p:cNvSpPr txBox="1"/>
          <p:nvPr/>
        </p:nvSpPr>
        <p:spPr>
          <a:xfrm>
            <a:off x="584200" y="5283199"/>
            <a:ext cx="11023600" cy="5588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送信ログだけでは受信ツールでの確認や</a:t>
            </a:r>
            <a:r>
              <a:rPr lang="en-US" altLang="ja-JP" sz="1500" b="1">
                <a:solidFill>
                  <a:srgbClr val="0078D4"/>
                </a:solidFill>
                <a:latin typeface="Yu Gothic UI" panose="020B0500000000000000" pitchFamily="34" charset="-128"/>
                <a:ea typeface="Yu Gothic UI" panose="020B0500000000000000" pitchFamily="34" charset="-128"/>
              </a:rPr>
              <a:t>DB</a:t>
            </a:r>
            <a:r>
              <a:rPr lang="ja-JP" altLang="en-US" sz="1500" b="1">
                <a:solidFill>
                  <a:srgbClr val="0078D4"/>
                </a:solidFill>
                <a:latin typeface="Yu Gothic UI" panose="020B0500000000000000" pitchFamily="34" charset="-128"/>
                <a:ea typeface="Yu Gothic UI" panose="020B0500000000000000" pitchFamily="34" charset="-128"/>
              </a:rPr>
              <a:t>保存の完了は分からない。</a:t>
            </a:r>
          </a:p>
          <a:p>
            <a:r>
              <a:rPr lang="ja-JP" altLang="en-US" sz="1500" b="1">
                <a:solidFill>
                  <a:srgbClr val="0078D4"/>
                </a:solidFill>
                <a:latin typeface="Yu Gothic UI" panose="020B0500000000000000" pitchFamily="34" charset="-128"/>
                <a:ea typeface="Yu Gothic UI" panose="020B0500000000000000" pitchFamily="34" charset="-128"/>
              </a:rPr>
              <a:t>受信表示を確認しても、後続の業務処理完了は別に確認する。</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[2]</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[3]</a:t>
            </a:r>
            <a:r>
              <a:rPr lang="ja-JP" altLang="en-US" sz="1500">
                <a:solidFill>
                  <a:srgbClr val="0078D4"/>
                </a:solidFill>
                <a:latin typeface="Yu Gothic UI" panose="020B0500000000000000" pitchFamily="34" charset="-128"/>
                <a:ea typeface="Yu Gothic UI" panose="020B0500000000000000" pitchFamily="34" charset="-128"/>
              </a:rPr>
              <a:t>）</a:t>
            </a:r>
            <a:endParaRPr lang="en-US" sz="1500">
              <a:solidFill>
                <a:srgbClr val="0078D4"/>
              </a:solidFill>
              <a:latin typeface="Yu Gothic UI" panose="020B0500000000000000" pitchFamily="34" charset="-128"/>
              <a:ea typeface="Yu Gothic UI" panose="020B0500000000000000" pitchFamily="34" charset="-128"/>
            </a:endParaRPr>
          </a:p>
        </p:txBody>
      </p:sp>
      <p:sp>
        <p:nvSpPr>
          <p:cNvPr id="18" name="source:block:7">
            <a:extLst>
              <a:ext uri="{FF2B5EF4-FFF2-40B4-BE49-F238E27FC236}">
                <a16:creationId xmlns:a16="http://schemas.microsoft.com/office/drawing/2014/main" id="{8AD1750A-B8B9-7D99-73A7-684A880A15E0}"/>
              </a:ext>
            </a:extLst>
          </p:cNvPr>
          <p:cNvSpPr txBox="1"/>
          <p:nvPr/>
        </p:nvSpPr>
        <p:spPr>
          <a:xfrm>
            <a:off x="584200" y="5918199"/>
            <a:ext cx="11023600" cy="393700"/>
          </a:xfrm>
          <a:prstGeom prst="rect">
            <a:avLst/>
          </a:prstGeom>
          <a:noFill/>
        </p:spPr>
        <p:txBody>
          <a:bodyPr vert="horz" wrap="square" lIns="0" tIns="0" rIns="0" bIns="0" rtlCol="0" anchor="t">
            <a:noAutofit/>
          </a:bodyPr>
          <a:lstStyle/>
          <a:p>
            <a:r>
              <a:rPr lang="ja-JP" altLang="en-US" sz="1350">
                <a:solidFill>
                  <a:srgbClr val="0B2430"/>
                </a:solidFill>
                <a:latin typeface="Yu Gothic UI" panose="020B0500000000000000" pitchFamily="34" charset="-128"/>
                <a:ea typeface="Yu Gothic UI" panose="020B0500000000000000" pitchFamily="34" charset="-128"/>
              </a:rPr>
              <a:t>この値の照合は説明用。</a:t>
            </a:r>
            <a:r>
              <a:rPr lang="ja-JP" altLang="en-US" sz="1350" b="1">
                <a:solidFill>
                  <a:srgbClr val="0B2430"/>
                </a:solidFill>
                <a:latin typeface="Yu Gothic UI" panose="020B0500000000000000" pitchFamily="34" charset="-128"/>
                <a:ea typeface="Yu Gothic UI" panose="020B0500000000000000" pitchFamily="34" charset="-128"/>
              </a:rPr>
              <a:t>同じ値の繰り返しがあり得るため、</a:t>
            </a:r>
            <a:r>
              <a:rPr lang="en-US" altLang="ja-JP" sz="1350" b="1">
                <a:solidFill>
                  <a:srgbClr val="0B2430"/>
                </a:solidFill>
                <a:latin typeface="Yu Gothic UI" panose="020B0500000000000000" pitchFamily="34" charset="-128"/>
                <a:ea typeface="Yu Gothic UI" panose="020B0500000000000000" pitchFamily="34" charset="-128"/>
              </a:rPr>
              <a:t>1</a:t>
            </a:r>
            <a:r>
              <a:rPr lang="ja-JP" altLang="en-US" sz="1350" b="1">
                <a:solidFill>
                  <a:srgbClr val="0B2430"/>
                </a:solidFill>
                <a:latin typeface="Yu Gothic UI" panose="020B0500000000000000" pitchFamily="34" charset="-128"/>
                <a:ea typeface="Yu Gothic UI" panose="020B0500000000000000" pitchFamily="34" charset="-128"/>
              </a:rPr>
              <a:t>件を一意に識別した証明ではない。</a:t>
            </a:r>
            <a:endParaRPr lang="en-US" sz="1350" b="1">
              <a:solidFill>
                <a:srgbClr val="0B2430"/>
              </a:solidFill>
              <a:latin typeface="Yu Gothic UI" panose="020B0500000000000000" pitchFamily="34" charset="-128"/>
              <a:ea typeface="Yu Gothic UI" panose="020B0500000000000000" pitchFamily="34" charset="-128"/>
            </a:endParaRPr>
          </a:p>
        </p:txBody>
      </p:sp>
      <p:sp>
        <p:nvSpPr>
          <p:cNvPr id="19" name="citation:1">
            <a:extLst>
              <a:ext uri="{FF2B5EF4-FFF2-40B4-BE49-F238E27FC236}">
                <a16:creationId xmlns:a16="http://schemas.microsoft.com/office/drawing/2014/main" id="{D32AD672-5C28-EA1B-21D9-9EA037995151}"/>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a:t>
            </a:r>
            <a:r>
              <a:rPr lang="ja-JP" altLang="en-US" sz="950">
                <a:solidFill>
                  <a:srgbClr val="566473"/>
                </a:solidFill>
                <a:latin typeface="Yu Gothic UI" panose="020B0500000000000000" pitchFamily="34" charset="-128"/>
                <a:ea typeface="Yu Gothic UI" panose="020B0500000000000000" pitchFamily="34" charset="-128"/>
                <a:hlinkClick r:id="rId3"/>
              </a:rPr>
              <a:t>メッセージの構造とシステムプロパティ</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0" name="citation:2">
            <a:extLst>
              <a:ext uri="{FF2B5EF4-FFF2-40B4-BE49-F238E27FC236}">
                <a16:creationId xmlns:a16="http://schemas.microsoft.com/office/drawing/2014/main" id="{FB56CB10-9B02-C827-C724-F2113C17560A}"/>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ction="ppaction://hlinkfile"/>
              </a:rPr>
              <a:t>[2] </a:t>
            </a:r>
            <a:r>
              <a:rPr lang="ja-JP" altLang="en-US" sz="950">
                <a:solidFill>
                  <a:srgbClr val="566473"/>
                </a:solidFill>
                <a:latin typeface="Yu Gothic UI" panose="020B0500000000000000" pitchFamily="34" charset="-128"/>
                <a:ea typeface="Yu Gothic UI" panose="020B0500000000000000" pitchFamily="34" charset="-128"/>
                <a:hlinkClick r:id="rId4" action="ppaction://hlinkfile"/>
              </a:rPr>
              <a:t>既存実装のログ出力位置</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1" name="citation:3">
            <a:extLst>
              <a:ext uri="{FF2B5EF4-FFF2-40B4-BE49-F238E27FC236}">
                <a16:creationId xmlns:a16="http://schemas.microsoft.com/office/drawing/2014/main" id="{9BF5D040-920E-F609-3DAB-007298F65136}"/>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5"/>
              </a:rPr>
              <a:t>[3] </a:t>
            </a:r>
            <a:r>
              <a:rPr lang="ja-JP" altLang="en-US" sz="950">
                <a:solidFill>
                  <a:srgbClr val="566473"/>
                </a:solidFill>
                <a:latin typeface="Yu Gothic UI" panose="020B0500000000000000" pitchFamily="34" charset="-128"/>
                <a:ea typeface="Yu Gothic UI" panose="020B0500000000000000" pitchFamily="34" charset="-128"/>
                <a:hlinkClick r:id="rId5"/>
              </a:rPr>
              <a:t>組み込みエンドポイントからの読み取り</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53126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デバイス操作・設定変更・後続配送</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10</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510B0671-22E8-2014-A448-376025300C36}"/>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温度を集める</a:t>
            </a:r>
            <a:r>
              <a:rPr lang="en-US" altLang="ja-JP" sz="1600" b="1">
                <a:solidFill>
                  <a:srgbClr val="0B2430"/>
                </a:solidFill>
                <a:latin typeface="Yu Gothic UI" panose="020B0500000000000000" pitchFamily="34" charset="-128"/>
                <a:ea typeface="Yu Gothic UI" panose="020B0500000000000000" pitchFamily="34" charset="-128"/>
              </a:rPr>
              <a:t>D2C</a:t>
            </a:r>
            <a:r>
              <a:rPr lang="ja-JP" altLang="en-US" sz="1600" b="1">
                <a:solidFill>
                  <a:srgbClr val="0B2430"/>
                </a:solidFill>
                <a:latin typeface="Yu Gothic UI" panose="020B0500000000000000" pitchFamily="34" charset="-128"/>
                <a:ea typeface="Yu Gothic UI" panose="020B0500000000000000" pitchFamily="34" charset="-128"/>
              </a:rPr>
              <a:t>に加えて、操作・状態同期・後続配送の機能がある。</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diagram:device">
            <a:extLst>
              <a:ext uri="{FF2B5EF4-FFF2-40B4-BE49-F238E27FC236}">
                <a16:creationId xmlns:a16="http://schemas.microsoft.com/office/drawing/2014/main" id="{B489B76D-CB8D-CCBC-7DFE-0841A580EA96}"/>
              </a:ext>
            </a:extLst>
          </p:cNvPr>
          <p:cNvSpPr/>
          <p:nvPr/>
        </p:nvSpPr>
        <p:spPr>
          <a:xfrm>
            <a:off x="584200" y="2032000"/>
            <a:ext cx="2413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デバイスアプリ</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8" name="diagram:hub">
            <a:extLst>
              <a:ext uri="{FF2B5EF4-FFF2-40B4-BE49-F238E27FC236}">
                <a16:creationId xmlns:a16="http://schemas.microsoft.com/office/drawing/2014/main" id="{B42DC171-9559-1802-8AF8-DDD181636DE6}"/>
              </a:ext>
            </a:extLst>
          </p:cNvPr>
          <p:cNvSpPr/>
          <p:nvPr/>
        </p:nvSpPr>
        <p:spPr>
          <a:xfrm>
            <a:off x="4902200" y="2032000"/>
            <a:ext cx="2413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600">
                <a:solidFill>
                  <a:srgbClr val="0B2430"/>
                </a:solidFill>
                <a:latin typeface="Yu Gothic UI" panose="020B0500000000000000" pitchFamily="34" charset="-128"/>
                <a:ea typeface="Yu Gothic UI" panose="020B0500000000000000" pitchFamily="34" charset="-128"/>
              </a:rPr>
              <a:t>IoT Hub</a:t>
            </a:r>
          </a:p>
        </p:txBody>
      </p:sp>
      <p:sp>
        <p:nvSpPr>
          <p:cNvPr id="9" name="diagram:backend">
            <a:extLst>
              <a:ext uri="{FF2B5EF4-FFF2-40B4-BE49-F238E27FC236}">
                <a16:creationId xmlns:a16="http://schemas.microsoft.com/office/drawing/2014/main" id="{D9D69C75-DADF-6CCA-AEDF-5DE53D8C0287}"/>
              </a:ext>
            </a:extLst>
          </p:cNvPr>
          <p:cNvSpPr/>
          <p:nvPr/>
        </p:nvSpPr>
        <p:spPr>
          <a:xfrm>
            <a:off x="9169400" y="2032000"/>
            <a:ext cx="2413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バックエンド</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10" name="diagram:line">
            <a:extLst>
              <a:ext uri="{FF2B5EF4-FFF2-40B4-BE49-F238E27FC236}">
                <a16:creationId xmlns:a16="http://schemas.microsoft.com/office/drawing/2014/main" id="{03FBD2C3-E144-F7BD-8827-62324A41FEC4}"/>
              </a:ext>
            </a:extLst>
          </p:cNvPr>
          <p:cNvCxnSpPr/>
          <p:nvPr/>
        </p:nvCxnSpPr>
        <p:spPr>
          <a:xfrm>
            <a:off x="2997200" y="2273300"/>
            <a:ext cx="19050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1" name="diagram:line">
            <a:extLst>
              <a:ext uri="{FF2B5EF4-FFF2-40B4-BE49-F238E27FC236}">
                <a16:creationId xmlns:a16="http://schemas.microsoft.com/office/drawing/2014/main" id="{840212E2-0775-BFD7-9138-10E579E767E7}"/>
              </a:ext>
            </a:extLst>
          </p:cNvPr>
          <p:cNvCxnSpPr/>
          <p:nvPr/>
        </p:nvCxnSpPr>
        <p:spPr>
          <a:xfrm>
            <a:off x="7315200" y="2273300"/>
            <a:ext cx="18542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2" name="diagram:d2c">
            <a:extLst>
              <a:ext uri="{FF2B5EF4-FFF2-40B4-BE49-F238E27FC236}">
                <a16:creationId xmlns:a16="http://schemas.microsoft.com/office/drawing/2014/main" id="{8F904388-6279-8C81-3E07-2D55822AF268}"/>
              </a:ext>
            </a:extLst>
          </p:cNvPr>
          <p:cNvSpPr txBox="1"/>
          <p:nvPr/>
        </p:nvSpPr>
        <p:spPr>
          <a:xfrm>
            <a:off x="3162300" y="1689099"/>
            <a:ext cx="1625600" cy="279400"/>
          </a:xfrm>
          <a:prstGeom prst="rect">
            <a:avLst/>
          </a:prstGeom>
          <a:noFill/>
        </p:spPr>
        <p:txBody>
          <a:bodyPr vert="horz" wrap="square" lIns="0" tIns="0" rIns="0" bIns="0" rtlCol="0" anchor="t">
            <a:noAutofit/>
          </a:bodyPr>
          <a:lstStyle/>
          <a:p>
            <a:pPr algn="ctr"/>
            <a:r>
              <a:rPr lang="en-US" sz="1300">
                <a:solidFill>
                  <a:srgbClr val="566473"/>
                </a:solidFill>
                <a:latin typeface="Yu Gothic UI" panose="020B0500000000000000" pitchFamily="34" charset="-128"/>
                <a:ea typeface="Yu Gothic UI" panose="020B0500000000000000" pitchFamily="34" charset="-128"/>
              </a:rPr>
              <a:t>D2C</a:t>
            </a:r>
          </a:p>
        </p:txBody>
      </p:sp>
      <p:sp>
        <p:nvSpPr>
          <p:cNvPr id="13" name="diagram:read">
            <a:extLst>
              <a:ext uri="{FF2B5EF4-FFF2-40B4-BE49-F238E27FC236}">
                <a16:creationId xmlns:a16="http://schemas.microsoft.com/office/drawing/2014/main" id="{96199993-931C-758E-B4D4-24D0AFB79C36}"/>
              </a:ext>
            </a:extLst>
          </p:cNvPr>
          <p:cNvSpPr txBox="1"/>
          <p:nvPr/>
        </p:nvSpPr>
        <p:spPr>
          <a:xfrm>
            <a:off x="7416800" y="1689099"/>
            <a:ext cx="1651000" cy="279400"/>
          </a:xfrm>
          <a:prstGeom prst="rect">
            <a:avLst/>
          </a:prstGeom>
          <a:noFill/>
        </p:spPr>
        <p:txBody>
          <a:bodyPr vert="horz" wrap="square" lIns="0" tIns="0" rIns="0" bIns="0" rtlCol="0" anchor="t">
            <a:noAutofit/>
          </a:bodyPr>
          <a:lstStyle/>
          <a:p>
            <a:pPr algn="ctr"/>
            <a:r>
              <a:rPr lang="ja-JP" altLang="en-US" sz="1300">
                <a:solidFill>
                  <a:srgbClr val="566473"/>
                </a:solidFill>
                <a:latin typeface="Yu Gothic UI" panose="020B0500000000000000" pitchFamily="34" charset="-128"/>
                <a:ea typeface="Yu Gothic UI" panose="020B0500000000000000" pitchFamily="34" charset="-128"/>
              </a:rPr>
              <a:t>読み取り</a:t>
            </a:r>
            <a:endParaRPr lang="en-US" sz="1300">
              <a:solidFill>
                <a:srgbClr val="566473"/>
              </a:solidFill>
              <a:latin typeface="Yu Gothic UI" panose="020B0500000000000000" pitchFamily="34" charset="-128"/>
              <a:ea typeface="Yu Gothic UI" panose="020B0500000000000000" pitchFamily="34" charset="-128"/>
            </a:endParaRPr>
          </a:p>
        </p:txBody>
      </p:sp>
      <p:cxnSp>
        <p:nvCxnSpPr>
          <p:cNvPr id="14" name="diagram:line">
            <a:extLst>
              <a:ext uri="{FF2B5EF4-FFF2-40B4-BE49-F238E27FC236}">
                <a16:creationId xmlns:a16="http://schemas.microsoft.com/office/drawing/2014/main" id="{53CE39DD-C6BC-C1BA-C612-6A42D9F85354}"/>
              </a:ext>
            </a:extLst>
          </p:cNvPr>
          <p:cNvCxnSpPr/>
          <p:nvPr/>
        </p:nvCxnSpPr>
        <p:spPr>
          <a:xfrm>
            <a:off x="9525000" y="2514600"/>
            <a:ext cx="0" cy="21590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15" name="diagram:line">
            <a:extLst>
              <a:ext uri="{FF2B5EF4-FFF2-40B4-BE49-F238E27FC236}">
                <a16:creationId xmlns:a16="http://schemas.microsoft.com/office/drawing/2014/main" id="{A7B86B15-321A-FACB-922A-351A3ED00FCB}"/>
              </a:ext>
            </a:extLst>
          </p:cNvPr>
          <p:cNvCxnSpPr/>
          <p:nvPr/>
        </p:nvCxnSpPr>
        <p:spPr>
          <a:xfrm flipH="1">
            <a:off x="7620000" y="2730500"/>
            <a:ext cx="1905000" cy="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16" name="diagram:line">
            <a:extLst>
              <a:ext uri="{FF2B5EF4-FFF2-40B4-BE49-F238E27FC236}">
                <a16:creationId xmlns:a16="http://schemas.microsoft.com/office/drawing/2014/main" id="{D582C721-3A2C-EC41-CF29-ACFDE49ACDD6}"/>
              </a:ext>
            </a:extLst>
          </p:cNvPr>
          <p:cNvCxnSpPr/>
          <p:nvPr/>
        </p:nvCxnSpPr>
        <p:spPr>
          <a:xfrm flipV="1">
            <a:off x="7620000" y="2400300"/>
            <a:ext cx="0" cy="33020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17" name="diagram:line">
            <a:extLst>
              <a:ext uri="{FF2B5EF4-FFF2-40B4-BE49-F238E27FC236}">
                <a16:creationId xmlns:a16="http://schemas.microsoft.com/office/drawing/2014/main" id="{0DBB9CB4-E72D-A092-39DE-48EF1BA620AF}"/>
              </a:ext>
            </a:extLst>
          </p:cNvPr>
          <p:cNvCxnSpPr/>
          <p:nvPr/>
        </p:nvCxnSpPr>
        <p:spPr>
          <a:xfrm flipH="1">
            <a:off x="7315200" y="2400300"/>
            <a:ext cx="3048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8" name="diagram:line">
            <a:extLst>
              <a:ext uri="{FF2B5EF4-FFF2-40B4-BE49-F238E27FC236}">
                <a16:creationId xmlns:a16="http://schemas.microsoft.com/office/drawing/2014/main" id="{F06D875C-F775-BC1C-224F-8F8D641772F1}"/>
              </a:ext>
            </a:extLst>
          </p:cNvPr>
          <p:cNvCxnSpPr/>
          <p:nvPr/>
        </p:nvCxnSpPr>
        <p:spPr>
          <a:xfrm flipH="1">
            <a:off x="4635500" y="2400300"/>
            <a:ext cx="266700" cy="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19" name="diagram:line">
            <a:extLst>
              <a:ext uri="{FF2B5EF4-FFF2-40B4-BE49-F238E27FC236}">
                <a16:creationId xmlns:a16="http://schemas.microsoft.com/office/drawing/2014/main" id="{9AB60BB9-AFB1-084B-727E-C055D8BAC767}"/>
              </a:ext>
            </a:extLst>
          </p:cNvPr>
          <p:cNvCxnSpPr/>
          <p:nvPr/>
        </p:nvCxnSpPr>
        <p:spPr>
          <a:xfrm>
            <a:off x="4635500" y="2400300"/>
            <a:ext cx="0" cy="33020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20" name="diagram:line">
            <a:extLst>
              <a:ext uri="{FF2B5EF4-FFF2-40B4-BE49-F238E27FC236}">
                <a16:creationId xmlns:a16="http://schemas.microsoft.com/office/drawing/2014/main" id="{596DAE58-40FD-54E4-C242-058D3F02242D}"/>
              </a:ext>
            </a:extLst>
          </p:cNvPr>
          <p:cNvCxnSpPr/>
          <p:nvPr/>
        </p:nvCxnSpPr>
        <p:spPr>
          <a:xfrm flipH="1">
            <a:off x="2679700" y="2730500"/>
            <a:ext cx="1955800" cy="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21" name="diagram:line">
            <a:extLst>
              <a:ext uri="{FF2B5EF4-FFF2-40B4-BE49-F238E27FC236}">
                <a16:creationId xmlns:a16="http://schemas.microsoft.com/office/drawing/2014/main" id="{F6F4C835-28B3-E0A7-4506-FA783BE06E55}"/>
              </a:ext>
            </a:extLst>
          </p:cNvPr>
          <p:cNvCxnSpPr/>
          <p:nvPr/>
        </p:nvCxnSpPr>
        <p:spPr>
          <a:xfrm flipV="1">
            <a:off x="2679700" y="2514600"/>
            <a:ext cx="0" cy="21590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22" name="diagram:operation-left">
            <a:extLst>
              <a:ext uri="{FF2B5EF4-FFF2-40B4-BE49-F238E27FC236}">
                <a16:creationId xmlns:a16="http://schemas.microsoft.com/office/drawing/2014/main" id="{EC9344E4-4A43-207A-AD4E-871A5A03FC57}"/>
              </a:ext>
            </a:extLst>
          </p:cNvPr>
          <p:cNvSpPr txBox="1"/>
          <p:nvPr/>
        </p:nvSpPr>
        <p:spPr>
          <a:xfrm>
            <a:off x="2832100" y="2908300"/>
            <a:ext cx="1905000" cy="2540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操作要求の方向</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23" name="diagram:operation-right">
            <a:extLst>
              <a:ext uri="{FF2B5EF4-FFF2-40B4-BE49-F238E27FC236}">
                <a16:creationId xmlns:a16="http://schemas.microsoft.com/office/drawing/2014/main" id="{3A9C738B-55E9-F47A-7018-BCF62303BF34}"/>
              </a:ext>
            </a:extLst>
          </p:cNvPr>
          <p:cNvSpPr txBox="1"/>
          <p:nvPr/>
        </p:nvSpPr>
        <p:spPr>
          <a:xfrm>
            <a:off x="7721600" y="2425699"/>
            <a:ext cx="17145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操作要求の方向</a:t>
            </a:r>
            <a:endParaRPr lang="en-US" sz="1100">
              <a:solidFill>
                <a:srgbClr val="566473"/>
              </a:solidFill>
              <a:latin typeface="Yu Gothic UI" panose="020B0500000000000000" pitchFamily="34" charset="-128"/>
              <a:ea typeface="Yu Gothic UI" panose="020B0500000000000000" pitchFamily="34" charset="-128"/>
            </a:endParaRPr>
          </a:p>
        </p:txBody>
      </p:sp>
      <p:cxnSp>
        <p:nvCxnSpPr>
          <p:cNvPr id="24" name="diagram:line">
            <a:extLst>
              <a:ext uri="{FF2B5EF4-FFF2-40B4-BE49-F238E27FC236}">
                <a16:creationId xmlns:a16="http://schemas.microsoft.com/office/drawing/2014/main" id="{C1D5A36A-1C62-42A1-BB8D-A87886E51FFD}"/>
              </a:ext>
            </a:extLst>
          </p:cNvPr>
          <p:cNvCxnSpPr/>
          <p:nvPr/>
        </p:nvCxnSpPr>
        <p:spPr>
          <a:xfrm>
            <a:off x="5905500" y="2514600"/>
            <a:ext cx="0" cy="685800"/>
          </a:xfrm>
          <a:prstGeom prst="line">
            <a:avLst/>
          </a:prstGeom>
          <a:ln w="1524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5" name="diagram:line">
            <a:extLst>
              <a:ext uri="{FF2B5EF4-FFF2-40B4-BE49-F238E27FC236}">
                <a16:creationId xmlns:a16="http://schemas.microsoft.com/office/drawing/2014/main" id="{78A3AFF6-D500-8346-0A26-CCD61FD094A4}"/>
              </a:ext>
            </a:extLst>
          </p:cNvPr>
          <p:cNvCxnSpPr/>
          <p:nvPr/>
        </p:nvCxnSpPr>
        <p:spPr>
          <a:xfrm>
            <a:off x="5905500" y="3200400"/>
            <a:ext cx="3263900" cy="0"/>
          </a:xfrm>
          <a:prstGeom prst="line">
            <a:avLst/>
          </a:prstGeom>
          <a:ln w="15240">
            <a:solidFill>
              <a:srgbClr val="0078D4"/>
            </a:solidFill>
            <a:tailEnd type="arrow"/>
          </a:ln>
        </p:spPr>
        <p:style>
          <a:lnRef idx="2">
            <a:schemeClr val="accent1"/>
          </a:lnRef>
          <a:fillRef idx="0">
            <a:schemeClr val="accent1"/>
          </a:fillRef>
          <a:effectRef idx="1">
            <a:schemeClr val="accent1"/>
          </a:effectRef>
          <a:fontRef idx="minor">
            <a:schemeClr val="tx1"/>
          </a:fontRef>
        </p:style>
      </p:cxnSp>
      <p:sp>
        <p:nvSpPr>
          <p:cNvPr id="26" name="diagram:routed">
            <a:extLst>
              <a:ext uri="{FF2B5EF4-FFF2-40B4-BE49-F238E27FC236}">
                <a16:creationId xmlns:a16="http://schemas.microsoft.com/office/drawing/2014/main" id="{A7D3B519-4BAD-79C8-A8AA-158FDFEE5CA8}"/>
              </a:ext>
            </a:extLst>
          </p:cNvPr>
          <p:cNvSpPr/>
          <p:nvPr/>
        </p:nvSpPr>
        <p:spPr>
          <a:xfrm>
            <a:off x="9169400" y="2984500"/>
            <a:ext cx="2413000" cy="431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後続の宛先</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7" name="diagram:routing">
            <a:extLst>
              <a:ext uri="{FF2B5EF4-FFF2-40B4-BE49-F238E27FC236}">
                <a16:creationId xmlns:a16="http://schemas.microsoft.com/office/drawing/2014/main" id="{933F4D57-7AB7-8476-5F3A-B5051F783EAB}"/>
              </a:ext>
            </a:extLst>
          </p:cNvPr>
          <p:cNvSpPr txBox="1"/>
          <p:nvPr/>
        </p:nvSpPr>
        <p:spPr>
          <a:xfrm>
            <a:off x="6743700" y="2895600"/>
            <a:ext cx="2286000" cy="254000"/>
          </a:xfrm>
          <a:prstGeom prst="rect">
            <a:avLst/>
          </a:prstGeom>
          <a:noFill/>
        </p:spPr>
        <p:txBody>
          <a:bodyPr vert="horz" wrap="square" lIns="0" tIns="0" rIns="0" bIns="0" rtlCol="0" anchor="t">
            <a:noAutofit/>
          </a:bodyPr>
          <a:lstStyle/>
          <a:p>
            <a:r>
              <a:rPr lang="ja-JP" altLang="en-US" sz="1200">
                <a:solidFill>
                  <a:srgbClr val="0078D4"/>
                </a:solidFill>
                <a:latin typeface="Yu Gothic UI" panose="020B0500000000000000" pitchFamily="34" charset="-128"/>
                <a:ea typeface="Yu Gothic UI" panose="020B0500000000000000" pitchFamily="34" charset="-128"/>
              </a:rPr>
              <a:t>ルーティング</a:t>
            </a:r>
            <a:endParaRPr lang="en-US" sz="1200">
              <a:solidFill>
                <a:srgbClr val="0078D4"/>
              </a:solidFill>
              <a:latin typeface="Yu Gothic UI" panose="020B0500000000000000" pitchFamily="34" charset="-128"/>
              <a:ea typeface="Yu Gothic UI" panose="020B0500000000000000" pitchFamily="34" charset="-128"/>
            </a:endParaRPr>
          </a:p>
        </p:txBody>
      </p:sp>
      <p:graphicFrame>
        <p:nvGraphicFramePr>
          <p:cNvPr id="28" name="source:table">
            <a:extLst>
              <a:ext uri="{FF2B5EF4-FFF2-40B4-BE49-F238E27FC236}">
                <a16:creationId xmlns:a16="http://schemas.microsoft.com/office/drawing/2014/main" id="{C3E4563D-CC06-60E0-74C1-D87AD69062AE}"/>
              </a:ext>
            </a:extLst>
          </p:cNvPr>
          <p:cNvGraphicFramePr>
            <a:graphicFrameLocks noGrp="1"/>
          </p:cNvGraphicFramePr>
          <p:nvPr>
            <p:extLst>
              <p:ext uri="{D42A27DB-BD31-4B8C-83A1-F6EECF244321}">
                <p14:modId xmlns:p14="http://schemas.microsoft.com/office/powerpoint/2010/main" val="1222967920"/>
              </p:ext>
            </p:extLst>
          </p:nvPr>
        </p:nvGraphicFramePr>
        <p:xfrm>
          <a:off x="584200" y="3670300"/>
          <a:ext cx="11023600" cy="2044700"/>
        </p:xfrm>
        <a:graphic>
          <a:graphicData uri="http://schemas.openxmlformats.org/drawingml/2006/table">
            <a:tbl>
              <a:tblPr firstRow="1" bandRow="1">
                <a:tableStyleId>{5C22544A-7EE6-4342-B048-85BDC9FD1C3A}</a:tableStyleId>
              </a:tblPr>
              <a:tblGrid>
                <a:gridCol w="3187700">
                  <a:extLst>
                    <a:ext uri="{9D8B030D-6E8A-4147-A177-3AD203B41FA5}">
                      <a16:colId xmlns:a16="http://schemas.microsoft.com/office/drawing/2014/main" val="2665720580"/>
                    </a:ext>
                  </a:extLst>
                </a:gridCol>
                <a:gridCol w="6337300">
                  <a:extLst>
                    <a:ext uri="{9D8B030D-6E8A-4147-A177-3AD203B41FA5}">
                      <a16:colId xmlns:a16="http://schemas.microsoft.com/office/drawing/2014/main" val="1090741764"/>
                    </a:ext>
                  </a:extLst>
                </a:gridCol>
                <a:gridCol w="1498600">
                  <a:extLst>
                    <a:ext uri="{9D8B030D-6E8A-4147-A177-3AD203B41FA5}">
                      <a16:colId xmlns:a16="http://schemas.microsoft.com/office/drawing/2014/main" val="620652276"/>
                    </a:ext>
                  </a:extLst>
                </a:gridCol>
              </a:tblGrid>
              <a:tr h="368300">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追加したい要求</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使う機能</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詳細を扱う章</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1575770432"/>
                  </a:ext>
                </a:extLst>
              </a:tr>
              <a:tr h="4191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送信を開始・停止したい</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00" b="0">
                          <a:solidFill>
                            <a:srgbClr val="0B2430"/>
                          </a:solidFill>
                          <a:latin typeface="Yu Gothic UI" panose="020B0500000000000000" pitchFamily="34" charset="-128"/>
                          <a:ea typeface="Yu Gothic UI" panose="020B0500000000000000" pitchFamily="34" charset="-128"/>
                        </a:rPr>
                        <a:t>Direct Method: </a:t>
                      </a:r>
                      <a:r>
                        <a:rPr lang="ja-JP" altLang="en-US" sz="1300" b="0">
                          <a:solidFill>
                            <a:srgbClr val="0B2430"/>
                          </a:solidFill>
                          <a:latin typeface="Yu Gothic UI" panose="020B0500000000000000" pitchFamily="34" charset="-128"/>
                          <a:ea typeface="Yu Gothic UI" panose="020B0500000000000000" pitchFamily="34" charset="-128"/>
                        </a:rPr>
                        <a:t>デバイス上の処理を呼び出す</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第</a:t>
                      </a:r>
                      <a:r>
                        <a:rPr lang="en-US" altLang="ja-JP" sz="1300" b="0">
                          <a:solidFill>
                            <a:srgbClr val="0B2430"/>
                          </a:solidFill>
                          <a:latin typeface="Yu Gothic UI" panose="020B0500000000000000" pitchFamily="34" charset="-128"/>
                          <a:ea typeface="Yu Gothic UI" panose="020B0500000000000000" pitchFamily="34" charset="-128"/>
                        </a:rPr>
                        <a:t>4</a:t>
                      </a:r>
                      <a:r>
                        <a:rPr lang="ja-JP" altLang="en-US" sz="1300" b="0">
                          <a:solidFill>
                            <a:srgbClr val="0B2430"/>
                          </a:solidFill>
                          <a:latin typeface="Yu Gothic UI" panose="020B0500000000000000" pitchFamily="34" charset="-128"/>
                          <a:ea typeface="Yu Gothic UI" panose="020B0500000000000000" pitchFamily="34" charset="-128"/>
                        </a:rPr>
                        <a:t>章</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421890072"/>
                  </a:ext>
                </a:extLst>
              </a:tr>
              <a:tr h="4191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送信間隔を変え、適用状態を知りたい</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300" b="0">
                          <a:solidFill>
                            <a:srgbClr val="0B2430"/>
                          </a:solidFill>
                          <a:latin typeface="Yu Gothic UI" panose="020B0500000000000000" pitchFamily="34" charset="-128"/>
                          <a:ea typeface="Yu Gothic UI" panose="020B0500000000000000" pitchFamily="34" charset="-128"/>
                        </a:rPr>
                        <a:t>Device Twin: </a:t>
                      </a:r>
                      <a:r>
                        <a:rPr lang="ja-JP" altLang="en-US" sz="1300" b="0">
                          <a:solidFill>
                            <a:srgbClr val="0B2430"/>
                          </a:solidFill>
                          <a:latin typeface="Yu Gothic UI" panose="020B0500000000000000" pitchFamily="34" charset="-128"/>
                          <a:ea typeface="Yu Gothic UI" panose="020B0500000000000000" pitchFamily="34" charset="-128"/>
                        </a:rPr>
                        <a:t>期待する設定と報告された状態を扱う</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第</a:t>
                      </a:r>
                      <a:r>
                        <a:rPr lang="en-US" altLang="ja-JP" sz="1300" b="0">
                          <a:solidFill>
                            <a:srgbClr val="0B2430"/>
                          </a:solidFill>
                          <a:latin typeface="Yu Gothic UI" panose="020B0500000000000000" pitchFamily="34" charset="-128"/>
                          <a:ea typeface="Yu Gothic UI" panose="020B0500000000000000" pitchFamily="34" charset="-128"/>
                        </a:rPr>
                        <a:t>4</a:t>
                      </a:r>
                      <a:r>
                        <a:rPr lang="ja-JP" altLang="en-US" sz="1300" b="0">
                          <a:solidFill>
                            <a:srgbClr val="0B2430"/>
                          </a:solidFill>
                          <a:latin typeface="Yu Gothic UI" panose="020B0500000000000000" pitchFamily="34" charset="-128"/>
                          <a:ea typeface="Yu Gothic UI" panose="020B0500000000000000" pitchFamily="34" charset="-128"/>
                        </a:rPr>
                        <a:t>章</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780605039"/>
                  </a:ext>
                </a:extLst>
              </a:tr>
              <a:tr h="4191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デバイスへ通知・依頼を届けたい</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300" b="0">
                          <a:solidFill>
                            <a:srgbClr val="0B2430"/>
                          </a:solidFill>
                          <a:latin typeface="Yu Gothic UI" panose="020B0500000000000000" pitchFamily="34" charset="-128"/>
                          <a:ea typeface="Yu Gothic UI" panose="020B0500000000000000" pitchFamily="34" charset="-128"/>
                        </a:rPr>
                        <a:t>C2D</a:t>
                      </a:r>
                      <a:r>
                        <a:rPr lang="ja-JP" altLang="en-US" sz="1300" b="0">
                          <a:solidFill>
                            <a:srgbClr val="0B2430"/>
                          </a:solidFill>
                          <a:latin typeface="Yu Gothic UI" panose="020B0500000000000000" pitchFamily="34" charset="-128"/>
                          <a:ea typeface="Yu Gothic UI" panose="020B0500000000000000" pitchFamily="34" charset="-128"/>
                        </a:rPr>
                        <a:t>（</a:t>
                      </a:r>
                      <a:r>
                        <a:rPr lang="en-US" altLang="ja-JP" sz="1300" b="0">
                          <a:solidFill>
                            <a:srgbClr val="0B2430"/>
                          </a:solidFill>
                          <a:latin typeface="Yu Gothic UI" panose="020B0500000000000000" pitchFamily="34" charset="-128"/>
                          <a:ea typeface="Yu Gothic UI" panose="020B0500000000000000" pitchFamily="34" charset="-128"/>
                        </a:rPr>
                        <a:t>Cloud-to-Device</a:t>
                      </a:r>
                      <a:r>
                        <a:rPr lang="ja-JP" altLang="en-US" sz="1300" b="0">
                          <a:solidFill>
                            <a:srgbClr val="0B2430"/>
                          </a:solidFill>
                          <a:latin typeface="Yu Gothic UI" panose="020B0500000000000000" pitchFamily="34" charset="-128"/>
                          <a:ea typeface="Yu Gothic UI" panose="020B0500000000000000" pitchFamily="34" charset="-128"/>
                        </a:rPr>
                        <a:t>）メッセージ</a:t>
                      </a:r>
                      <a:r>
                        <a:rPr lang="en-US" altLang="ja-JP" sz="1300" b="0">
                          <a:solidFill>
                            <a:srgbClr val="0B2430"/>
                          </a:solidFill>
                          <a:latin typeface="Yu Gothic UI" panose="020B0500000000000000" pitchFamily="34" charset="-128"/>
                          <a:ea typeface="Yu Gothic UI" panose="020B0500000000000000" pitchFamily="34" charset="-128"/>
                        </a:rPr>
                        <a:t>: </a:t>
                      </a:r>
                      <a:r>
                        <a:rPr lang="ja-JP" altLang="en-US" sz="1300" b="0">
                          <a:solidFill>
                            <a:srgbClr val="0B2430"/>
                          </a:solidFill>
                          <a:latin typeface="Yu Gothic UI" panose="020B0500000000000000" pitchFamily="34" charset="-128"/>
                          <a:ea typeface="Yu Gothic UI" panose="020B0500000000000000" pitchFamily="34" charset="-128"/>
                        </a:rPr>
                        <a:t>クラウドからデバイスへ送る</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第</a:t>
                      </a:r>
                      <a:r>
                        <a:rPr lang="en-US" altLang="ja-JP" sz="1300" b="0">
                          <a:solidFill>
                            <a:srgbClr val="0B2430"/>
                          </a:solidFill>
                          <a:latin typeface="Yu Gothic UI" panose="020B0500000000000000" pitchFamily="34" charset="-128"/>
                          <a:ea typeface="Yu Gothic UI" panose="020B0500000000000000" pitchFamily="34" charset="-128"/>
                        </a:rPr>
                        <a:t>4</a:t>
                      </a:r>
                      <a:r>
                        <a:rPr lang="ja-JP" altLang="en-US" sz="1300" b="0">
                          <a:solidFill>
                            <a:srgbClr val="0B2430"/>
                          </a:solidFill>
                          <a:latin typeface="Yu Gothic UI" panose="020B0500000000000000" pitchFamily="34" charset="-128"/>
                          <a:ea typeface="Yu Gothic UI" panose="020B0500000000000000" pitchFamily="34" charset="-128"/>
                        </a:rPr>
                        <a:t>章</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376941582"/>
                  </a:ext>
                </a:extLst>
              </a:tr>
              <a:tr h="4191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条件に応じて保存先へ渡したい</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メッセージルーティング</a:t>
                      </a:r>
                      <a:r>
                        <a:rPr lang="en-US" altLang="ja-JP" sz="1300" b="0">
                          <a:solidFill>
                            <a:srgbClr val="0B2430"/>
                          </a:solidFill>
                          <a:latin typeface="Yu Gothic UI" panose="020B0500000000000000" pitchFamily="34" charset="-128"/>
                          <a:ea typeface="Yu Gothic UI" panose="020B0500000000000000" pitchFamily="34" charset="-128"/>
                        </a:rPr>
                        <a:t>: </a:t>
                      </a:r>
                      <a:r>
                        <a:rPr lang="ja-JP" altLang="en-US" sz="1300" b="0">
                          <a:solidFill>
                            <a:srgbClr val="0B2430"/>
                          </a:solidFill>
                          <a:latin typeface="Yu Gothic UI" panose="020B0500000000000000" pitchFamily="34" charset="-128"/>
                          <a:ea typeface="Yu Gothic UI" panose="020B0500000000000000" pitchFamily="34" charset="-128"/>
                        </a:rPr>
                        <a:t>後続の宛先へ配送する</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第</a:t>
                      </a:r>
                      <a:r>
                        <a:rPr lang="en-US" altLang="ja-JP" sz="1300" b="0">
                          <a:solidFill>
                            <a:srgbClr val="0B2430"/>
                          </a:solidFill>
                          <a:latin typeface="Yu Gothic UI" panose="020B0500000000000000" pitchFamily="34" charset="-128"/>
                          <a:ea typeface="Yu Gothic UI" panose="020B0500000000000000" pitchFamily="34" charset="-128"/>
                        </a:rPr>
                        <a:t>5</a:t>
                      </a:r>
                      <a:r>
                        <a:rPr lang="ja-JP" altLang="en-US" sz="1300" b="0">
                          <a:solidFill>
                            <a:srgbClr val="0B2430"/>
                          </a:solidFill>
                          <a:latin typeface="Yu Gothic UI" panose="020B0500000000000000" pitchFamily="34" charset="-128"/>
                          <a:ea typeface="Yu Gothic UI" panose="020B0500000000000000" pitchFamily="34" charset="-128"/>
                        </a:rPr>
                        <a:t>章</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634678838"/>
                  </a:ext>
                </a:extLst>
              </a:tr>
            </a:tbl>
          </a:graphicData>
        </a:graphic>
      </p:graphicFrame>
      <p:sp>
        <p:nvSpPr>
          <p:cNvPr id="29" name="source:block:2">
            <a:extLst>
              <a:ext uri="{FF2B5EF4-FFF2-40B4-BE49-F238E27FC236}">
                <a16:creationId xmlns:a16="http://schemas.microsoft.com/office/drawing/2014/main" id="{92618CAE-CDED-C094-688B-2F6E8DCEA9E1}"/>
              </a:ext>
            </a:extLst>
          </p:cNvPr>
          <p:cNvSpPr txBox="1"/>
          <p:nvPr/>
        </p:nvSpPr>
        <p:spPr>
          <a:xfrm>
            <a:off x="584200" y="5918200"/>
            <a:ext cx="11023600" cy="3937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これらは</a:t>
            </a:r>
            <a:r>
              <a:rPr lang="en-US" altLang="ja-JP" sz="1400">
                <a:solidFill>
                  <a:srgbClr val="0B2430"/>
                </a:solidFill>
                <a:latin typeface="Yu Gothic UI" panose="020B0500000000000000" pitchFamily="34" charset="-128"/>
                <a:ea typeface="Yu Gothic UI" panose="020B0500000000000000" pitchFamily="34" charset="-128"/>
              </a:rPr>
              <a:t>IoT Hub</a:t>
            </a:r>
            <a:r>
              <a:rPr lang="ja-JP" altLang="en-US" sz="1400">
                <a:solidFill>
                  <a:srgbClr val="0B2430"/>
                </a:solidFill>
                <a:latin typeface="Yu Gothic UI" panose="020B0500000000000000" pitchFamily="34" charset="-128"/>
                <a:ea typeface="Yu Gothic UI" panose="020B0500000000000000" pitchFamily="34" charset="-128"/>
              </a:rPr>
              <a:t>の異なる機能。操作や設定の実際の適用処理はデバイスアプリ側に必要（</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[2]</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30" name="citation:1">
            <a:extLst>
              <a:ext uri="{FF2B5EF4-FFF2-40B4-BE49-F238E27FC236}">
                <a16:creationId xmlns:a16="http://schemas.microsoft.com/office/drawing/2014/main" id="{FD69345F-D26E-972D-EFC4-350FB4CD547C}"/>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3"/>
              </a:rPr>
              <a:t>[1] IoT Hub </a:t>
            </a:r>
            <a:r>
              <a:rPr lang="ja-JP" altLang="en-US" sz="950">
                <a:solidFill>
                  <a:srgbClr val="566473"/>
                </a:solidFill>
                <a:latin typeface="Yu Gothic UI" panose="020B0500000000000000" pitchFamily="34" charset="-128"/>
                <a:ea typeface="Yu Gothic UI" panose="020B0500000000000000" pitchFamily="34" charset="-128"/>
                <a:hlinkClick r:id="rId3"/>
              </a:rPr>
              <a:t>の機能</a:t>
            </a:r>
            <a:endParaRPr lang="en-US" sz="950">
              <a:solidFill>
                <a:srgbClr val="566473"/>
              </a:solidFill>
              <a:latin typeface="Yu Gothic UI" panose="020B0500000000000000" pitchFamily="34" charset="-128"/>
              <a:ea typeface="Yu Gothic UI" panose="020B0500000000000000" pitchFamily="34" charset="-128"/>
            </a:endParaRPr>
          </a:p>
        </p:txBody>
      </p:sp>
      <p:sp>
        <p:nvSpPr>
          <p:cNvPr id="31" name="citation:2">
            <a:extLst>
              <a:ext uri="{FF2B5EF4-FFF2-40B4-BE49-F238E27FC236}">
                <a16:creationId xmlns:a16="http://schemas.microsoft.com/office/drawing/2014/main" id="{113F4F8C-B8F1-0DD2-3AC8-2639C3EE617B}"/>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rPr>
              <a:t>[2] SDK </a:t>
            </a:r>
            <a:r>
              <a:rPr lang="ja-JP" altLang="en-US" sz="950">
                <a:solidFill>
                  <a:srgbClr val="566473"/>
                </a:solidFill>
                <a:latin typeface="Yu Gothic UI" panose="020B0500000000000000" pitchFamily="34" charset="-128"/>
                <a:ea typeface="Yu Gothic UI" panose="020B0500000000000000" pitchFamily="34" charset="-128"/>
                <a:hlinkClick r:id="rId4"/>
              </a:rPr>
              <a:t>の操作・状態同期</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713108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Basic・Standard・Free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の機能差</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11</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17E7BE87-CE36-F7E7-6A58-D03520B95C0D}"/>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使う機能を選ぶことと、必要な容量を見積もることは別。</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diagram:available">
            <a:extLst>
              <a:ext uri="{FF2B5EF4-FFF2-40B4-BE49-F238E27FC236}">
                <a16:creationId xmlns:a16="http://schemas.microsoft.com/office/drawing/2014/main" id="{8D0585E2-FAC6-4348-6678-D427093FAFE8}"/>
              </a:ext>
            </a:extLst>
          </p:cNvPr>
          <p:cNvSpPr txBox="1"/>
          <p:nvPr/>
        </p:nvSpPr>
        <p:spPr>
          <a:xfrm>
            <a:off x="5803900" y="1574800"/>
            <a:ext cx="5803900" cy="292100"/>
          </a:xfrm>
          <a:prstGeom prst="rect">
            <a:avLst/>
          </a:prstGeom>
          <a:noFill/>
        </p:spPr>
        <p:txBody>
          <a:bodyPr vert="horz" wrap="square" lIns="0" tIns="0" rIns="0" bIns="0" rtlCol="0" anchor="t">
            <a:noAutofit/>
          </a:bodyPr>
          <a:lstStyle/>
          <a:p>
            <a:r>
              <a:rPr lang="ja-JP" altLang="en-US" sz="1400">
                <a:solidFill>
                  <a:srgbClr val="0078D4"/>
                </a:solidFill>
                <a:latin typeface="Yu Gothic UI" panose="020B0500000000000000" pitchFamily="34" charset="-128"/>
                <a:ea typeface="Yu Gothic UI" panose="020B0500000000000000" pitchFamily="34" charset="-128"/>
              </a:rPr>
              <a:t>今回の機能を利用可能</a:t>
            </a:r>
            <a:r>
              <a:rPr lang="en-US" altLang="ja-JP" sz="1400">
                <a:solidFill>
                  <a:srgbClr val="0078D4"/>
                </a:solidFill>
                <a:latin typeface="Yu Gothic UI" panose="020B0500000000000000" pitchFamily="34" charset="-128"/>
                <a:ea typeface="Yu Gothic UI" panose="020B0500000000000000" pitchFamily="34" charset="-128"/>
              </a:rPr>
              <a:t>: </a:t>
            </a:r>
            <a:r>
              <a:rPr lang="en-US" sz="1400">
                <a:solidFill>
                  <a:srgbClr val="0078D4"/>
                </a:solidFill>
                <a:latin typeface="Yu Gothic UI" panose="020B0500000000000000" pitchFamily="34" charset="-128"/>
                <a:ea typeface="Yu Gothic UI" panose="020B0500000000000000" pitchFamily="34" charset="-128"/>
              </a:rPr>
              <a:t>Standard / Free</a:t>
            </a:r>
          </a:p>
        </p:txBody>
      </p:sp>
      <p:graphicFrame>
        <p:nvGraphicFramePr>
          <p:cNvPr id="8" name="source:table">
            <a:extLst>
              <a:ext uri="{FF2B5EF4-FFF2-40B4-BE49-F238E27FC236}">
                <a16:creationId xmlns:a16="http://schemas.microsoft.com/office/drawing/2014/main" id="{7B676E71-CE36-0A38-3091-1E60920E2888}"/>
              </a:ext>
            </a:extLst>
          </p:cNvPr>
          <p:cNvGraphicFramePr>
            <a:graphicFrameLocks noGrp="1"/>
          </p:cNvGraphicFramePr>
          <p:nvPr>
            <p:extLst>
              <p:ext uri="{D42A27DB-BD31-4B8C-83A1-F6EECF244321}">
                <p14:modId xmlns:p14="http://schemas.microsoft.com/office/powerpoint/2010/main" val="2063397090"/>
              </p:ext>
            </p:extLst>
          </p:nvPr>
        </p:nvGraphicFramePr>
        <p:xfrm>
          <a:off x="584200" y="2006600"/>
          <a:ext cx="11023600" cy="2286000"/>
        </p:xfrm>
        <a:graphic>
          <a:graphicData uri="http://schemas.openxmlformats.org/drawingml/2006/table">
            <a:tbl>
              <a:tblPr firstRow="1" bandRow="1">
                <a:tableStyleId>{5C22544A-7EE6-4342-B048-85BDC9FD1C3A}</a:tableStyleId>
              </a:tblPr>
              <a:tblGrid>
                <a:gridCol w="3530600">
                  <a:extLst>
                    <a:ext uri="{9D8B030D-6E8A-4147-A177-3AD203B41FA5}">
                      <a16:colId xmlns:a16="http://schemas.microsoft.com/office/drawing/2014/main" val="1275106640"/>
                    </a:ext>
                  </a:extLst>
                </a:gridCol>
                <a:gridCol w="2032000">
                  <a:extLst>
                    <a:ext uri="{9D8B030D-6E8A-4147-A177-3AD203B41FA5}">
                      <a16:colId xmlns:a16="http://schemas.microsoft.com/office/drawing/2014/main" val="783738583"/>
                    </a:ext>
                  </a:extLst>
                </a:gridCol>
                <a:gridCol w="2603500">
                  <a:extLst>
                    <a:ext uri="{9D8B030D-6E8A-4147-A177-3AD203B41FA5}">
                      <a16:colId xmlns:a16="http://schemas.microsoft.com/office/drawing/2014/main" val="3130297659"/>
                    </a:ext>
                  </a:extLst>
                </a:gridCol>
                <a:gridCol w="2857500">
                  <a:extLst>
                    <a:ext uri="{9D8B030D-6E8A-4147-A177-3AD203B41FA5}">
                      <a16:colId xmlns:a16="http://schemas.microsoft.com/office/drawing/2014/main" val="318430683"/>
                    </a:ext>
                  </a:extLst>
                </a:gridCol>
              </a:tblGrid>
              <a:tr h="406400">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今回確認する機能</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en-US" sz="1400" b="1">
                          <a:solidFill>
                            <a:srgbClr val="0B2430"/>
                          </a:solidFill>
                          <a:latin typeface="Yu Gothic UI" panose="020B0500000000000000" pitchFamily="34" charset="-128"/>
                          <a:ea typeface="Yu Gothic UI" panose="020B0500000000000000" pitchFamily="34" charset="-128"/>
                        </a:rPr>
                        <a:t>Basic</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en-US" sz="1400" b="1">
                          <a:solidFill>
                            <a:srgbClr val="0B2430"/>
                          </a:solidFill>
                          <a:latin typeface="Yu Gothic UI" panose="020B0500000000000000" pitchFamily="34" charset="-128"/>
                          <a:ea typeface="Yu Gothic UI" panose="020B0500000000000000" pitchFamily="34" charset="-128"/>
                        </a:rPr>
                        <a:t>Standard</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en-US" sz="1400" b="1">
                          <a:solidFill>
                            <a:srgbClr val="0B2430"/>
                          </a:solidFill>
                          <a:latin typeface="Yu Gothic UI" panose="020B0500000000000000" pitchFamily="34" charset="-128"/>
                          <a:ea typeface="Yu Gothic UI" panose="020B0500000000000000" pitchFamily="34" charset="-128"/>
                        </a:rPr>
                        <a:t>Free（</a:t>
                      </a:r>
                      <a:r>
                        <a:rPr lang="ja-JP" altLang="en-US" sz="1400" b="1">
                          <a:solidFill>
                            <a:srgbClr val="0B2430"/>
                          </a:solidFill>
                          <a:latin typeface="Yu Gothic UI" panose="020B0500000000000000" pitchFamily="34" charset="-128"/>
                          <a:ea typeface="Yu Gothic UI" panose="020B0500000000000000" pitchFamily="34" charset="-128"/>
                        </a:rPr>
                        <a:t>評価用）</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2685097830"/>
                  </a:ext>
                </a:extLst>
              </a:tr>
              <a:tr h="508000">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D2C</a:t>
                      </a:r>
                      <a:r>
                        <a:rPr lang="ja-JP" altLang="en-US" sz="1400" b="0">
                          <a:solidFill>
                            <a:srgbClr val="0B2430"/>
                          </a:solidFill>
                          <a:latin typeface="Yu Gothic UI" panose="020B0500000000000000" pitchFamily="34" charset="-128"/>
                          <a:ea typeface="Yu Gothic UI" panose="020B0500000000000000" pitchFamily="34" charset="-128"/>
                        </a:rPr>
                        <a:t>・メッセージルーティング</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561971918"/>
                  </a:ext>
                </a:extLst>
              </a:tr>
              <a:tr h="622300">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Direct Method・Device Twin・C2D</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非対応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985972114"/>
                  </a:ext>
                </a:extLst>
              </a:tr>
              <a:tr h="7493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位置づけ</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データ収集中心</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双方向通信・デバイス管理</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Standard</a:t>
                      </a:r>
                      <a:r>
                        <a:rPr lang="ja-JP" altLang="en-US" sz="1400" b="0">
                          <a:solidFill>
                            <a:srgbClr val="0B2430"/>
                          </a:solidFill>
                          <a:latin typeface="Yu Gothic UI" panose="020B0500000000000000" pitchFamily="34" charset="-128"/>
                          <a:ea typeface="Yu Gothic UI" panose="020B0500000000000000" pitchFamily="34" charset="-128"/>
                        </a:rPr>
                        <a:t>相当の機能を</a:t>
                      </a:r>
                    </a:p>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小容量で評価</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882320930"/>
                  </a:ext>
                </a:extLst>
              </a:tr>
            </a:tbl>
          </a:graphicData>
        </a:graphic>
      </p:graphicFrame>
      <p:sp>
        <p:nvSpPr>
          <p:cNvPr id="9" name="source:block:2">
            <a:extLst>
              <a:ext uri="{FF2B5EF4-FFF2-40B4-BE49-F238E27FC236}">
                <a16:creationId xmlns:a16="http://schemas.microsoft.com/office/drawing/2014/main" id="{CCFDAC74-3739-74B4-C852-13AF67922355}"/>
              </a:ext>
            </a:extLst>
          </p:cNvPr>
          <p:cNvSpPr txBox="1"/>
          <p:nvPr/>
        </p:nvSpPr>
        <p:spPr>
          <a:xfrm>
            <a:off x="584200" y="4533899"/>
            <a:ext cx="11023600" cy="825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この表は講義で使う機能に絞った比較。</a:t>
            </a:r>
            <a:r>
              <a:rPr lang="en-US" altLang="ja-JP" sz="1500">
                <a:solidFill>
                  <a:srgbClr val="0B2430"/>
                </a:solidFill>
                <a:latin typeface="Yu Gothic UI" panose="020B0500000000000000" pitchFamily="34" charset="-128"/>
                <a:ea typeface="Yu Gothic UI" panose="020B0500000000000000" pitchFamily="34" charset="-128"/>
              </a:rPr>
              <a:t>Basic</a:t>
            </a:r>
            <a:r>
              <a:rPr lang="ja-JP" altLang="en-US" sz="1500">
                <a:solidFill>
                  <a:srgbClr val="0B2430"/>
                </a:solidFill>
                <a:latin typeface="Yu Gothic UI" panose="020B0500000000000000" pitchFamily="34" charset="-128"/>
                <a:ea typeface="Yu Gothic UI" panose="020B0500000000000000" pitchFamily="34" charset="-128"/>
              </a:rPr>
              <a:t>と</a:t>
            </a:r>
            <a:r>
              <a:rPr lang="en-US" altLang="ja-JP" sz="1500">
                <a:solidFill>
                  <a:srgbClr val="0B2430"/>
                </a:solidFill>
                <a:latin typeface="Yu Gothic UI" panose="020B0500000000000000" pitchFamily="34" charset="-128"/>
                <a:ea typeface="Yu Gothic UI" panose="020B0500000000000000" pitchFamily="34" charset="-128"/>
              </a:rPr>
              <a:t>Standard</a:t>
            </a:r>
            <a:r>
              <a:rPr lang="ja-JP" altLang="en-US" sz="1500">
                <a:solidFill>
                  <a:srgbClr val="0B2430"/>
                </a:solidFill>
                <a:latin typeface="Yu Gothic UI" panose="020B0500000000000000" pitchFamily="34" charset="-128"/>
                <a:ea typeface="Yu Gothic UI" panose="020B0500000000000000" pitchFamily="34" charset="-128"/>
              </a:rPr>
              <a:t>の認証・セキュリティ機能は同じ。</a:t>
            </a:r>
          </a:p>
          <a:p>
            <a:r>
              <a:rPr lang="en-US" altLang="ja-JP" sz="1500" b="1">
                <a:solidFill>
                  <a:srgbClr val="0B2430"/>
                </a:solidFill>
                <a:latin typeface="Yu Gothic UI" panose="020B0500000000000000" pitchFamily="34" charset="-128"/>
                <a:ea typeface="Yu Gothic UI" panose="020B0500000000000000" pitchFamily="34" charset="-128"/>
              </a:rPr>
              <a:t>Free</a:t>
            </a:r>
            <a:r>
              <a:rPr lang="ja-JP" altLang="en-US" sz="1500" b="1">
                <a:solidFill>
                  <a:srgbClr val="0B2430"/>
                </a:solidFill>
                <a:latin typeface="Yu Gothic UI" panose="020B0500000000000000" pitchFamily="34" charset="-128"/>
                <a:ea typeface="Yu Gothic UI" panose="020B0500000000000000" pitchFamily="34" charset="-128"/>
              </a:rPr>
              <a:t>は評価用で容量が限られ、</a:t>
            </a:r>
            <a:r>
              <a:rPr lang="en-US" altLang="ja-JP" sz="1500" b="1">
                <a:solidFill>
                  <a:srgbClr val="0B2430"/>
                </a:solidFill>
                <a:latin typeface="Yu Gothic UI" panose="020B0500000000000000" pitchFamily="34" charset="-128"/>
                <a:ea typeface="Yu Gothic UI" panose="020B0500000000000000" pitchFamily="34" charset="-128"/>
              </a:rPr>
              <a:t>Basic / Standard</a:t>
            </a:r>
            <a:r>
              <a:rPr lang="ja-JP" altLang="en-US" sz="1500" b="1">
                <a:solidFill>
                  <a:srgbClr val="0B2430"/>
                </a:solidFill>
                <a:latin typeface="Yu Gothic UI" panose="020B0500000000000000" pitchFamily="34" charset="-128"/>
                <a:ea typeface="Yu Gothic UI" panose="020B0500000000000000" pitchFamily="34" charset="-128"/>
              </a:rPr>
              <a:t>へ直接アップグレードできない。</a:t>
            </a:r>
            <a:r>
              <a:rPr lang="ja-JP" altLang="en-US" sz="1500">
                <a:solidFill>
                  <a:srgbClr val="0B2430"/>
                </a:solidFill>
                <a:latin typeface="Yu Gothic UI" panose="020B0500000000000000" pitchFamily="34" charset="-128"/>
                <a:ea typeface="Yu Gothic UI" panose="020B0500000000000000" pitchFamily="34" charset="-128"/>
              </a:rPr>
              <a:t>（</a:t>
            </a:r>
            <a:r>
              <a:rPr lang="en-US" altLang="ja-JP" sz="1500">
                <a:solidFill>
                  <a:srgbClr val="0B2430"/>
                </a:solidFill>
                <a:latin typeface="Yu Gothic UI" panose="020B0500000000000000" pitchFamily="34" charset="-128"/>
                <a:ea typeface="Yu Gothic UI" panose="020B0500000000000000" pitchFamily="34" charset="-128"/>
              </a:rPr>
              <a:t>[1]</a:t>
            </a:r>
            <a:r>
              <a:rPr lang="ja-JP" altLang="en-US" sz="1500">
                <a:solidFill>
                  <a:srgbClr val="0B2430"/>
                </a:solidFill>
                <a:latin typeface="Yu Gothic UI" panose="020B0500000000000000" pitchFamily="34" charset="-128"/>
                <a:ea typeface="Yu Gothic UI" panose="020B0500000000000000" pitchFamily="34" charset="-128"/>
              </a:rPr>
              <a:t>）</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0" name="source:block:3">
            <a:extLst>
              <a:ext uri="{FF2B5EF4-FFF2-40B4-BE49-F238E27FC236}">
                <a16:creationId xmlns:a16="http://schemas.microsoft.com/office/drawing/2014/main" id="{4B4AF767-6F70-E035-C822-BC382C401B97}"/>
              </a:ext>
            </a:extLst>
          </p:cNvPr>
          <p:cNvSpPr txBox="1"/>
          <p:nvPr/>
        </p:nvSpPr>
        <p:spPr>
          <a:xfrm>
            <a:off x="584200" y="5499099"/>
            <a:ext cx="11023600" cy="571500"/>
          </a:xfrm>
          <a:prstGeom prst="rect">
            <a:avLst/>
          </a:prstGeom>
          <a:noFill/>
        </p:spPr>
        <p:txBody>
          <a:bodyPr vert="horz" wrap="square" lIns="0" tIns="0" rIns="0" bIns="0" rtlCol="0" anchor="t">
            <a:noAutofit/>
          </a:bodyPr>
          <a:lstStyle/>
          <a:p>
            <a:r>
              <a:rPr lang="ja-JP" altLang="en-US" sz="1600" b="1">
                <a:solidFill>
                  <a:srgbClr val="0078D4"/>
                </a:solidFill>
                <a:latin typeface="Yu Gothic UI" panose="020B0500000000000000" pitchFamily="34" charset="-128"/>
                <a:ea typeface="Yu Gothic UI" panose="020B0500000000000000" pitchFamily="34" charset="-128"/>
              </a:rPr>
              <a:t>今回の開始・停止と設定変更には、</a:t>
            </a:r>
            <a:r>
              <a:rPr lang="en-US" altLang="ja-JP" sz="1600" b="1">
                <a:solidFill>
                  <a:srgbClr val="0078D4"/>
                </a:solidFill>
                <a:latin typeface="Yu Gothic UI" panose="020B0500000000000000" pitchFamily="34" charset="-128"/>
                <a:ea typeface="Yu Gothic UI" panose="020B0500000000000000" pitchFamily="34" charset="-128"/>
              </a:rPr>
              <a:t>Standard</a:t>
            </a:r>
            <a:r>
              <a:rPr lang="ja-JP" altLang="en-US" sz="1600" b="1">
                <a:solidFill>
                  <a:srgbClr val="0078D4"/>
                </a:solidFill>
                <a:latin typeface="Yu Gothic UI" panose="020B0500000000000000" pitchFamily="34" charset="-128"/>
                <a:ea typeface="Yu Gothic UI" panose="020B0500000000000000" pitchFamily="34" charset="-128"/>
              </a:rPr>
              <a:t>相当の機能が必要。</a:t>
            </a:r>
            <a:r>
              <a:rPr lang="en-US" altLang="ja-JP" sz="1600" b="1">
                <a:solidFill>
                  <a:srgbClr val="0078D4"/>
                </a:solidFill>
                <a:latin typeface="Yu Gothic UI" panose="020B0500000000000000" pitchFamily="34" charset="-128"/>
                <a:ea typeface="Yu Gothic UI" panose="020B0500000000000000" pitchFamily="34" charset="-128"/>
              </a:rPr>
              <a:t>Basic</a:t>
            </a:r>
            <a:r>
              <a:rPr lang="ja-JP" altLang="en-US" sz="1600" b="1">
                <a:solidFill>
                  <a:srgbClr val="0078D4"/>
                </a:solidFill>
                <a:latin typeface="Yu Gothic UI" panose="020B0500000000000000" pitchFamily="34" charset="-128"/>
                <a:ea typeface="Yu Gothic UI" panose="020B0500000000000000" pitchFamily="34" charset="-128"/>
              </a:rPr>
              <a:t>では本講義の双方向デモを実施できない。</a:t>
            </a:r>
            <a:r>
              <a:rPr lang="ja-JP" altLang="en-US" sz="1600">
                <a:solidFill>
                  <a:srgbClr val="0078D4"/>
                </a:solidFill>
                <a:latin typeface="Yu Gothic UI" panose="020B0500000000000000" pitchFamily="34" charset="-128"/>
                <a:ea typeface="Yu Gothic UI" panose="020B0500000000000000" pitchFamily="34" charset="-128"/>
              </a:rPr>
              <a:t>（</a:t>
            </a:r>
            <a:r>
              <a:rPr lang="en-US" altLang="ja-JP" sz="1600">
                <a:solidFill>
                  <a:srgbClr val="0078D4"/>
                </a:solidFill>
                <a:latin typeface="Yu Gothic UI" panose="020B0500000000000000" pitchFamily="34" charset="-128"/>
                <a:ea typeface="Yu Gothic UI" panose="020B0500000000000000" pitchFamily="34" charset="-128"/>
              </a:rPr>
              <a:t>[1]</a:t>
            </a:r>
            <a:r>
              <a:rPr lang="ja-JP" altLang="en-US" sz="1600">
                <a:solidFill>
                  <a:srgbClr val="0078D4"/>
                </a:solidFill>
                <a:latin typeface="Yu Gothic UI" panose="020B0500000000000000" pitchFamily="34" charset="-128"/>
                <a:ea typeface="Yu Gothic UI" panose="020B0500000000000000" pitchFamily="34" charset="-128"/>
              </a:rPr>
              <a:t>）</a:t>
            </a:r>
            <a:endParaRPr lang="en-US" sz="1600">
              <a:solidFill>
                <a:srgbClr val="0078D4"/>
              </a:solidFill>
              <a:latin typeface="Yu Gothic UI" panose="020B0500000000000000" pitchFamily="34" charset="-128"/>
              <a:ea typeface="Yu Gothic UI" panose="020B0500000000000000" pitchFamily="34" charset="-128"/>
            </a:endParaRPr>
          </a:p>
        </p:txBody>
      </p:sp>
      <p:sp>
        <p:nvSpPr>
          <p:cNvPr id="11" name="diagram:capacity">
            <a:extLst>
              <a:ext uri="{FF2B5EF4-FFF2-40B4-BE49-F238E27FC236}">
                <a16:creationId xmlns:a16="http://schemas.microsoft.com/office/drawing/2014/main" id="{137D987A-C172-F6B1-D57B-E1E3C55658DE}"/>
              </a:ext>
            </a:extLst>
          </p:cNvPr>
          <p:cNvSpPr txBox="1"/>
          <p:nvPr/>
        </p:nvSpPr>
        <p:spPr>
          <a:xfrm>
            <a:off x="584200" y="6121399"/>
            <a:ext cx="11023600" cy="2286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台数 </a:t>
            </a:r>
            <a:r>
              <a:rPr lang="en-US" altLang="ja-JP" sz="1100">
                <a:solidFill>
                  <a:srgbClr val="566473"/>
                </a:solidFill>
                <a:latin typeface="Yu Gothic UI" panose="020B0500000000000000" pitchFamily="34" charset="-128"/>
                <a:ea typeface="Yu Gothic UI" panose="020B0500000000000000" pitchFamily="34" charset="-128"/>
              </a:rPr>
              <a:t>× </a:t>
            </a:r>
            <a:r>
              <a:rPr lang="ja-JP" altLang="en-US" sz="1100">
                <a:solidFill>
                  <a:srgbClr val="566473"/>
                </a:solidFill>
                <a:latin typeface="Yu Gothic UI" panose="020B0500000000000000" pitchFamily="34" charset="-128"/>
                <a:ea typeface="Yu Gothic UI" panose="020B0500000000000000" pitchFamily="34" charset="-128"/>
              </a:rPr>
              <a:t>送信頻度 </a:t>
            </a:r>
            <a:r>
              <a:rPr lang="en-US" altLang="ja-JP" sz="1100">
                <a:solidFill>
                  <a:srgbClr val="566473"/>
                </a:solidFill>
                <a:latin typeface="Yu Gothic UI" panose="020B0500000000000000" pitchFamily="34" charset="-128"/>
                <a:ea typeface="Yu Gothic UI" panose="020B0500000000000000" pitchFamily="34" charset="-128"/>
              </a:rPr>
              <a:t>× </a:t>
            </a:r>
            <a:r>
              <a:rPr lang="ja-JP" altLang="en-US" sz="1100">
                <a:solidFill>
                  <a:srgbClr val="566473"/>
                </a:solidFill>
                <a:latin typeface="Yu Gothic UI" panose="020B0500000000000000" pitchFamily="34" charset="-128"/>
                <a:ea typeface="Yu Gothic UI" panose="020B0500000000000000" pitchFamily="34" charset="-128"/>
              </a:rPr>
              <a:t>メッセージサイズ → 容量設計は第</a:t>
            </a:r>
            <a:r>
              <a:rPr lang="en-US" altLang="ja-JP" sz="1100">
                <a:solidFill>
                  <a:srgbClr val="566473"/>
                </a:solidFill>
                <a:latin typeface="Yu Gothic UI" panose="020B0500000000000000" pitchFamily="34" charset="-128"/>
                <a:ea typeface="Yu Gothic UI" panose="020B0500000000000000" pitchFamily="34" charset="-128"/>
              </a:rPr>
              <a:t>7</a:t>
            </a:r>
            <a:r>
              <a:rPr lang="ja-JP" altLang="en-US" sz="1100">
                <a:solidFill>
                  <a:srgbClr val="566473"/>
                </a:solidFill>
                <a:latin typeface="Yu Gothic UI" panose="020B0500000000000000" pitchFamily="34" charset="-128"/>
                <a:ea typeface="Yu Gothic UI" panose="020B0500000000000000" pitchFamily="34" charset="-128"/>
              </a:rPr>
              <a:t>章</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2" name="citation:1">
            <a:extLst>
              <a:ext uri="{FF2B5EF4-FFF2-40B4-BE49-F238E27FC236}">
                <a16:creationId xmlns:a16="http://schemas.microsoft.com/office/drawing/2014/main" id="{41234EDE-C900-2ED9-4BF9-CC7C54C78AAE}"/>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a:t>
            </a:r>
            <a:r>
              <a:rPr lang="ja-JP" altLang="en-US" sz="950">
                <a:solidFill>
                  <a:srgbClr val="566473"/>
                </a:solidFill>
                <a:latin typeface="Yu Gothic UI" panose="020B0500000000000000" pitchFamily="34" charset="-128"/>
                <a:ea typeface="Yu Gothic UI" panose="020B0500000000000000" pitchFamily="34" charset="-128"/>
                <a:hlinkClick r:id="rId3"/>
              </a:rPr>
              <a:t>レベル別の機能と </a:t>
            </a:r>
            <a:r>
              <a:rPr lang="en-US" altLang="ja-JP" sz="950">
                <a:solidFill>
                  <a:srgbClr val="566473"/>
                </a:solidFill>
                <a:latin typeface="Yu Gothic UI" panose="020B0500000000000000" pitchFamily="34" charset="-128"/>
                <a:ea typeface="Yu Gothic UI" panose="020B0500000000000000" pitchFamily="34" charset="-128"/>
                <a:hlinkClick r:id="rId3"/>
              </a:rPr>
              <a:t>Free </a:t>
            </a:r>
            <a:r>
              <a:rPr lang="ja-JP" altLang="en-US" sz="950">
                <a:solidFill>
                  <a:srgbClr val="566473"/>
                </a:solidFill>
                <a:latin typeface="Yu Gothic UI" panose="020B0500000000000000" pitchFamily="34" charset="-128"/>
                <a:ea typeface="Yu Gothic UI" panose="020B0500000000000000" pitchFamily="34" charset="-128"/>
                <a:hlinkClick r:id="rId3"/>
              </a:rPr>
              <a:t>の制約</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638273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登録・接続・送受信の確認問題</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12</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2A02FF84-0702-CF6D-145E-9278C5608E90}"/>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次の</a:t>
            </a:r>
            <a:r>
              <a:rPr lang="en-US" altLang="ja-JP" sz="1600" b="1">
                <a:solidFill>
                  <a:srgbClr val="0B2430"/>
                </a:solidFill>
                <a:latin typeface="Yu Gothic UI" panose="020B0500000000000000" pitchFamily="34" charset="-128"/>
                <a:ea typeface="Yu Gothic UI" panose="020B0500000000000000" pitchFamily="34" charset="-128"/>
              </a:rPr>
              <a:t>3</a:t>
            </a:r>
            <a:r>
              <a:rPr lang="ja-JP" altLang="en-US" sz="1600" b="1">
                <a:solidFill>
                  <a:srgbClr val="0B2430"/>
                </a:solidFill>
                <a:latin typeface="Yu Gothic UI" panose="020B0500000000000000" pitchFamily="34" charset="-128"/>
                <a:ea typeface="Yu Gothic UI" panose="020B0500000000000000" pitchFamily="34" charset="-128"/>
              </a:rPr>
              <a:t>つの場面で、何が不足しているか説明してください。</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source:question:0">
            <a:extLst>
              <a:ext uri="{FF2B5EF4-FFF2-40B4-BE49-F238E27FC236}">
                <a16:creationId xmlns:a16="http://schemas.microsoft.com/office/drawing/2014/main" id="{64CD861B-D984-C8A2-EC51-DF44991F2B12}"/>
              </a:ext>
            </a:extLst>
          </p:cNvPr>
          <p:cNvSpPr txBox="1"/>
          <p:nvPr/>
        </p:nvSpPr>
        <p:spPr>
          <a:xfrm>
            <a:off x="584200" y="1866900"/>
            <a:ext cx="11023600" cy="812800"/>
          </a:xfrm>
          <a:prstGeom prst="rect">
            <a:avLst/>
          </a:prstGeom>
          <a:noFill/>
        </p:spPr>
        <p:txBody>
          <a:bodyPr vert="horz" wrap="square" lIns="0" tIns="0" rIns="0" bIns="0" rtlCol="0" anchor="t">
            <a:noAutofit/>
          </a:bodyPr>
          <a:lstStyle/>
          <a:p>
            <a:r>
              <a:rPr lang="en-US" altLang="ja-JP" sz="1900">
                <a:solidFill>
                  <a:srgbClr val="0B2430"/>
                </a:solidFill>
                <a:latin typeface="Yu Gothic UI" panose="020B0500000000000000" pitchFamily="34" charset="-128"/>
                <a:ea typeface="Yu Gothic UI" panose="020B0500000000000000" pitchFamily="34" charset="-128"/>
              </a:rPr>
              <a:t>1. Hub</a:t>
            </a:r>
            <a:r>
              <a:rPr lang="ja-JP" altLang="en-US" sz="1900">
                <a:solidFill>
                  <a:srgbClr val="0B2430"/>
                </a:solidFill>
                <a:latin typeface="Yu Gothic UI" panose="020B0500000000000000" pitchFamily="34" charset="-128"/>
                <a:ea typeface="Yu Gothic UI" panose="020B0500000000000000" pitchFamily="34" charset="-128"/>
              </a:rPr>
              <a:t>に </a:t>
            </a:r>
            <a:r>
              <a:rPr lang="en-US" altLang="ja-JP" sz="1900">
                <a:solidFill>
                  <a:srgbClr val="0B2430"/>
                </a:solidFill>
                <a:latin typeface="Yu Gothic UI" panose="020B0500000000000000" pitchFamily="34" charset="-128"/>
                <a:ea typeface="Yu Gothic UI" panose="020B0500000000000000" pitchFamily="34" charset="-128"/>
              </a:rPr>
              <a:t>temp-sensor-01 </a:t>
            </a:r>
            <a:r>
              <a:rPr lang="ja-JP" altLang="en-US" sz="1900">
                <a:solidFill>
                  <a:srgbClr val="0B2430"/>
                </a:solidFill>
                <a:latin typeface="Yu Gothic UI" panose="020B0500000000000000" pitchFamily="34" charset="-128"/>
                <a:ea typeface="Yu Gothic UI" panose="020B0500000000000000" pitchFamily="34" charset="-128"/>
              </a:rPr>
              <a:t>を登録しました。アプリには</a:t>
            </a:r>
            <a:r>
              <a:rPr lang="en-US" altLang="ja-JP" sz="1900">
                <a:solidFill>
                  <a:srgbClr val="0B2430"/>
                </a:solidFill>
                <a:latin typeface="Yu Gothic UI" panose="020B0500000000000000" pitchFamily="34" charset="-128"/>
                <a:ea typeface="Yu Gothic UI" panose="020B0500000000000000" pitchFamily="34" charset="-128"/>
              </a:rPr>
              <a:t>Device ID</a:t>
            </a:r>
            <a:r>
              <a:rPr lang="ja-JP" altLang="en-US" sz="1900">
                <a:solidFill>
                  <a:srgbClr val="0B2430"/>
                </a:solidFill>
                <a:latin typeface="Yu Gothic UI" panose="020B0500000000000000" pitchFamily="34" charset="-128"/>
                <a:ea typeface="Yu Gothic UI" panose="020B0500000000000000" pitchFamily="34" charset="-128"/>
              </a:rPr>
              <a:t>だけ渡せば接続できますか。</a:t>
            </a:r>
            <a:endParaRPr lang="en-US" sz="1900">
              <a:solidFill>
                <a:srgbClr val="0B2430"/>
              </a:solidFill>
              <a:latin typeface="Yu Gothic UI" panose="020B0500000000000000" pitchFamily="34" charset="-128"/>
              <a:ea typeface="Yu Gothic UI" panose="020B0500000000000000" pitchFamily="34" charset="-128"/>
            </a:endParaRPr>
          </a:p>
        </p:txBody>
      </p:sp>
      <p:sp>
        <p:nvSpPr>
          <p:cNvPr id="8" name="source:question:1">
            <a:extLst>
              <a:ext uri="{FF2B5EF4-FFF2-40B4-BE49-F238E27FC236}">
                <a16:creationId xmlns:a16="http://schemas.microsoft.com/office/drawing/2014/main" id="{B837E447-8DD1-372D-B0B7-5F037C177E57}"/>
              </a:ext>
            </a:extLst>
          </p:cNvPr>
          <p:cNvSpPr txBox="1"/>
          <p:nvPr/>
        </p:nvSpPr>
        <p:spPr>
          <a:xfrm>
            <a:off x="584200" y="2832100"/>
            <a:ext cx="11023600" cy="812800"/>
          </a:xfrm>
          <a:prstGeom prst="rect">
            <a:avLst/>
          </a:prstGeom>
          <a:noFill/>
        </p:spPr>
        <p:txBody>
          <a:bodyPr vert="horz" wrap="square" lIns="0" tIns="0" rIns="0" bIns="0" rtlCol="0" anchor="t">
            <a:noAutofit/>
          </a:bodyPr>
          <a:lstStyle/>
          <a:p>
            <a:r>
              <a:rPr lang="en-US" altLang="ja-JP" sz="1900">
                <a:solidFill>
                  <a:srgbClr val="0B2430"/>
                </a:solidFill>
                <a:latin typeface="Yu Gothic UI" panose="020B0500000000000000" pitchFamily="34" charset="-128"/>
                <a:ea typeface="Yu Gothic UI" panose="020B0500000000000000" pitchFamily="34" charset="-128"/>
              </a:rPr>
              <a:t>2. </a:t>
            </a:r>
            <a:r>
              <a:rPr lang="ja-JP" altLang="en-US" sz="1900">
                <a:solidFill>
                  <a:srgbClr val="0B2430"/>
                </a:solidFill>
                <a:latin typeface="Yu Gothic UI" panose="020B0500000000000000" pitchFamily="34" charset="-128"/>
                <a:ea typeface="Yu Gothic UI" panose="020B0500000000000000" pitchFamily="34" charset="-128"/>
              </a:rPr>
              <a:t>デバイス側に送信ログが出ました。受信担当はどこを読み、何を照合しますか。</a:t>
            </a:r>
            <a:endParaRPr lang="en-US" sz="1900">
              <a:solidFill>
                <a:srgbClr val="0B2430"/>
              </a:solidFill>
              <a:latin typeface="Yu Gothic UI" panose="020B0500000000000000" pitchFamily="34" charset="-128"/>
              <a:ea typeface="Yu Gothic UI" panose="020B0500000000000000" pitchFamily="34" charset="-128"/>
            </a:endParaRPr>
          </a:p>
        </p:txBody>
      </p:sp>
      <p:sp>
        <p:nvSpPr>
          <p:cNvPr id="9" name="source:question:2">
            <a:extLst>
              <a:ext uri="{FF2B5EF4-FFF2-40B4-BE49-F238E27FC236}">
                <a16:creationId xmlns:a16="http://schemas.microsoft.com/office/drawing/2014/main" id="{D5A6486D-FB3C-D6CC-A9CF-5AA51374699F}"/>
              </a:ext>
            </a:extLst>
          </p:cNvPr>
          <p:cNvSpPr txBox="1"/>
          <p:nvPr/>
        </p:nvSpPr>
        <p:spPr>
          <a:xfrm>
            <a:off x="584200" y="3797299"/>
            <a:ext cx="11023600" cy="1079500"/>
          </a:xfrm>
          <a:prstGeom prst="rect">
            <a:avLst/>
          </a:prstGeom>
          <a:noFill/>
        </p:spPr>
        <p:txBody>
          <a:bodyPr vert="horz" wrap="square" lIns="0" tIns="0" rIns="0" bIns="0" rtlCol="0" anchor="t">
            <a:noAutofit/>
          </a:bodyPr>
          <a:lstStyle/>
          <a:p>
            <a:r>
              <a:rPr lang="en-US" altLang="ja-JP" sz="1900">
                <a:solidFill>
                  <a:srgbClr val="0B2430"/>
                </a:solidFill>
                <a:latin typeface="Yu Gothic UI" panose="020B0500000000000000" pitchFamily="34" charset="-128"/>
                <a:ea typeface="Yu Gothic UI" panose="020B0500000000000000" pitchFamily="34" charset="-128"/>
              </a:rPr>
              <a:t>3. </a:t>
            </a:r>
            <a:r>
              <a:rPr lang="ja-JP" altLang="en-US" sz="1900">
                <a:solidFill>
                  <a:srgbClr val="0B2430"/>
                </a:solidFill>
                <a:latin typeface="Yu Gothic UI" panose="020B0500000000000000" pitchFamily="34" charset="-128"/>
                <a:ea typeface="Yu Gothic UI" panose="020B0500000000000000" pitchFamily="34" charset="-128"/>
              </a:rPr>
              <a:t>受信ツールで温度を確認できました。</a:t>
            </a:r>
            <a:r>
              <a:rPr lang="en-US" altLang="ja-JP" sz="1900">
                <a:solidFill>
                  <a:srgbClr val="0B2430"/>
                </a:solidFill>
                <a:latin typeface="Yu Gothic UI" panose="020B0500000000000000" pitchFamily="34" charset="-128"/>
                <a:ea typeface="Yu Gothic UI" panose="020B0500000000000000" pitchFamily="34" charset="-128"/>
              </a:rPr>
              <a:t>DB</a:t>
            </a:r>
            <a:r>
              <a:rPr lang="ja-JP" altLang="en-US" sz="1900">
                <a:solidFill>
                  <a:srgbClr val="0B2430"/>
                </a:solidFill>
                <a:latin typeface="Yu Gothic UI" panose="020B0500000000000000" pitchFamily="34" charset="-128"/>
                <a:ea typeface="Yu Gothic UI" panose="020B0500000000000000" pitchFamily="34" charset="-128"/>
              </a:rPr>
              <a:t>保存は完了していますか。</a:t>
            </a:r>
          </a:p>
          <a:p>
            <a:r>
              <a:rPr lang="ja-JP" altLang="en-US" sz="1900">
                <a:solidFill>
                  <a:srgbClr val="0B2430"/>
                </a:solidFill>
                <a:latin typeface="Yu Gothic UI" panose="020B0500000000000000" pitchFamily="34" charset="-128"/>
                <a:ea typeface="Yu Gothic UI" panose="020B0500000000000000" pitchFamily="34" charset="-128"/>
              </a:rPr>
              <a:t>次に送信を停止したい場合、誰が要求し、誰が実行しますか。</a:t>
            </a:r>
            <a:endParaRPr lang="en-US" sz="1900">
              <a:solidFill>
                <a:srgbClr val="0B2430"/>
              </a:solidFill>
              <a:latin typeface="Yu Gothic UI" panose="020B0500000000000000" pitchFamily="34" charset="-128"/>
              <a:ea typeface="Yu Gothic UI" panose="020B0500000000000000" pitchFamily="34" charset="-128"/>
            </a:endParaRPr>
          </a:p>
        </p:txBody>
      </p:sp>
      <p:sp>
        <p:nvSpPr>
          <p:cNvPr id="10" name="diagram:device">
            <a:extLst>
              <a:ext uri="{FF2B5EF4-FFF2-40B4-BE49-F238E27FC236}">
                <a16:creationId xmlns:a16="http://schemas.microsoft.com/office/drawing/2014/main" id="{7FE1D00F-3A55-AEAF-C9CD-ABA7A9A760AA}"/>
              </a:ext>
            </a:extLst>
          </p:cNvPr>
          <p:cNvSpPr/>
          <p:nvPr/>
        </p:nvSpPr>
        <p:spPr>
          <a:xfrm>
            <a:off x="1714500" y="5118100"/>
            <a:ext cx="2413000" cy="495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デバイス</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11" name="diagram:hub">
            <a:extLst>
              <a:ext uri="{FF2B5EF4-FFF2-40B4-BE49-F238E27FC236}">
                <a16:creationId xmlns:a16="http://schemas.microsoft.com/office/drawing/2014/main" id="{C576717F-98D8-095A-E7A1-7078E69718E6}"/>
              </a:ext>
            </a:extLst>
          </p:cNvPr>
          <p:cNvSpPr/>
          <p:nvPr/>
        </p:nvSpPr>
        <p:spPr>
          <a:xfrm>
            <a:off x="4902200" y="5118100"/>
            <a:ext cx="2413000" cy="495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600">
                <a:solidFill>
                  <a:srgbClr val="0B2430"/>
                </a:solidFill>
                <a:latin typeface="Yu Gothic UI" panose="020B0500000000000000" pitchFamily="34" charset="-128"/>
                <a:ea typeface="Yu Gothic UI" panose="020B0500000000000000" pitchFamily="34" charset="-128"/>
              </a:rPr>
              <a:t>IoT Hub</a:t>
            </a:r>
          </a:p>
        </p:txBody>
      </p:sp>
      <p:sp>
        <p:nvSpPr>
          <p:cNvPr id="12" name="diagram:backend">
            <a:extLst>
              <a:ext uri="{FF2B5EF4-FFF2-40B4-BE49-F238E27FC236}">
                <a16:creationId xmlns:a16="http://schemas.microsoft.com/office/drawing/2014/main" id="{FB16207F-8E31-97B8-EE29-D60D0A4A79D8}"/>
              </a:ext>
            </a:extLst>
          </p:cNvPr>
          <p:cNvSpPr/>
          <p:nvPr/>
        </p:nvSpPr>
        <p:spPr>
          <a:xfrm>
            <a:off x="8089900" y="5118100"/>
            <a:ext cx="2413000" cy="495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バックエンド</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13" name="diagram:line">
            <a:extLst>
              <a:ext uri="{FF2B5EF4-FFF2-40B4-BE49-F238E27FC236}">
                <a16:creationId xmlns:a16="http://schemas.microsoft.com/office/drawing/2014/main" id="{B17130E5-9EC8-6751-D39B-0DD4AE7EE506}"/>
              </a:ext>
            </a:extLst>
          </p:cNvPr>
          <p:cNvCxnSpPr/>
          <p:nvPr/>
        </p:nvCxnSpPr>
        <p:spPr>
          <a:xfrm>
            <a:off x="4127500" y="5359400"/>
            <a:ext cx="7747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4" name="diagram:line">
            <a:extLst>
              <a:ext uri="{FF2B5EF4-FFF2-40B4-BE49-F238E27FC236}">
                <a16:creationId xmlns:a16="http://schemas.microsoft.com/office/drawing/2014/main" id="{1B849C78-52F2-D6E2-DD2A-866C3A57FC6E}"/>
              </a:ext>
            </a:extLst>
          </p:cNvPr>
          <p:cNvCxnSpPr/>
          <p:nvPr/>
        </p:nvCxnSpPr>
        <p:spPr>
          <a:xfrm>
            <a:off x="7315200" y="5359400"/>
            <a:ext cx="7747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5" name="source:block:2">
            <a:extLst>
              <a:ext uri="{FF2B5EF4-FFF2-40B4-BE49-F238E27FC236}">
                <a16:creationId xmlns:a16="http://schemas.microsoft.com/office/drawing/2014/main" id="{E8525F59-53AD-C5CD-B5C0-3C7D11068B29}"/>
              </a:ext>
            </a:extLst>
          </p:cNvPr>
          <p:cNvSpPr txBox="1"/>
          <p:nvPr/>
        </p:nvSpPr>
        <p:spPr>
          <a:xfrm>
            <a:off x="584200" y="6007099"/>
            <a:ext cx="11023600" cy="342900"/>
          </a:xfrm>
          <a:prstGeom prst="rect">
            <a:avLst/>
          </a:prstGeom>
          <a:noFill/>
        </p:spPr>
        <p:txBody>
          <a:bodyPr vert="horz" wrap="square" lIns="0" tIns="0" rIns="0" bIns="0" rtlCol="0" anchor="t">
            <a:noAutofit/>
          </a:bodyPr>
          <a:lstStyle/>
          <a:p>
            <a:r>
              <a:rPr lang="ja-JP" altLang="en-US" sz="1600" b="1">
                <a:solidFill>
                  <a:srgbClr val="0078D4"/>
                </a:solidFill>
                <a:latin typeface="Yu Gothic UI" panose="020B0500000000000000" pitchFamily="34" charset="-128"/>
                <a:ea typeface="Yu Gothic UI" panose="020B0500000000000000" pitchFamily="34" charset="-128"/>
              </a:rPr>
              <a:t>次章</a:t>
            </a:r>
            <a:r>
              <a:rPr lang="en-US" altLang="ja-JP" sz="1600" b="1">
                <a:solidFill>
                  <a:srgbClr val="0078D4"/>
                </a:solidFill>
                <a:latin typeface="Yu Gothic UI" panose="020B0500000000000000" pitchFamily="34" charset="-128"/>
                <a:ea typeface="Yu Gothic UI" panose="020B0500000000000000" pitchFamily="34" charset="-128"/>
              </a:rPr>
              <a:t>: </a:t>
            </a:r>
            <a:r>
              <a:rPr lang="en-US" sz="1600" b="1">
                <a:solidFill>
                  <a:srgbClr val="0078D4"/>
                </a:solidFill>
                <a:latin typeface="Yu Gothic UI" panose="020B0500000000000000" pitchFamily="34" charset="-128"/>
                <a:ea typeface="Yu Gothic UI" panose="020B0500000000000000" pitchFamily="34" charset="-128"/>
              </a:rPr>
              <a:t>Direct Method・Device Twin・C2D</a:t>
            </a:r>
            <a:r>
              <a:rPr lang="ja-JP" altLang="en-US" sz="1600" b="1">
                <a:solidFill>
                  <a:srgbClr val="0078D4"/>
                </a:solidFill>
                <a:latin typeface="Yu Gothic UI" panose="020B0500000000000000" pitchFamily="34" charset="-128"/>
                <a:ea typeface="Yu Gothic UI" panose="020B0500000000000000" pitchFamily="34" charset="-128"/>
              </a:rPr>
              <a:t>を、操作と状態同期の用途で使い分ける。</a:t>
            </a:r>
            <a:endParaRPr lang="en-US" sz="16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24168069"/>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15501</Words>
  <Application>Microsoft Office PowerPoint</Application>
  <PresentationFormat>Widescreen</PresentationFormat>
  <Paragraphs>755</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Yu Gothic UI</vt:lpstr>
      <vt:lpstr>Aptos</vt:lpstr>
      <vt:lpstr>Arial</vt:lpstr>
      <vt:lpstr>Calibri</vt:lpstr>
      <vt:lpstr>Consolas</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Koki Ishizuka</dc:creator>
  <cp:lastModifiedBy>Koki Ishizuka</cp:lastModifiedBy>
  <cp:revision>2</cp:revision>
  <dcterms:created xsi:type="dcterms:W3CDTF">2026-09-08T05:55:08Z</dcterms:created>
  <dcterms:modified xsi:type="dcterms:W3CDTF">2026-09-08T14:34:43Z</dcterms:modified>
</cp:coreProperties>
</file>