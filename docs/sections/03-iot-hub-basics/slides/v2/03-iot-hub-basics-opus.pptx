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concepts-and-iot-hub" TargetMode="External"/><Relationship Id="rId2" Type="http://schemas.openxmlformats.org/officeDocument/2006/relationships/hyperlink" Target="https://learn.microsoft.com/ja-jp/azure/iot-hub/iot-hub-devguide-sdk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identity-regist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authenticate-authorize-sas" TargetMode="External"/><Relationship Id="rId2" Type="http://schemas.openxmlformats.org/officeDocument/2006/relationships/hyperlink" Target="https://learn.microsoft.com/ja-jp/azure/iot-hub/authenticate-authorize-x509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authenticate-authorize-azure-ad" TargetMode="External"/><Relationship Id="rId2" Type="http://schemas.openxmlformats.org/officeDocument/2006/relationships/hyperlink" Target="https://learn.microsoft.com/ja-jp/azure/iot-hub/iot-hub-tls-suppor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protocol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sdk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messages-construct" TargetMode="External"/><Relationship Id="rId2" Type="http://schemas.openxmlformats.org/officeDocument/2006/relationships/hyperlink" Target="https://github.com/zukakosan/demo-azure-iot/blob/main/demo/01_iothub-send-tel.p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messages-read-built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messages-construc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concepts-and-iot-hu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scal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3 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の基本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6E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デバイスの登録・接続・テレメトリの送受信を、役割と経路から理解する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3611880"/>
            <a:ext cx="2926080" cy="0"/>
          </a:xfrm>
          <a:prstGeom prst="line">
            <a:avLst/>
          </a:prstGeom>
          <a:noFill/>
          <a:ln w="31750">
            <a:solidFill>
              <a:srgbClr val="4FA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977640"/>
            <a:ext cx="896112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47672" y="3977640"/>
            <a:ext cx="896112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7672" y="397764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72384" y="39776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認証・保護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55464" y="397764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397764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送受信の確認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D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ワークショップ ／ 本編 25 分・12 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デバイス・IoT Hub・バックエンドの役割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デバイスアプリがデータを送り、IoT Hub が通信を仲介し、バックエンドがデータを利用する。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48840"/>
            <a:ext cx="3429000" cy="457200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322576"/>
            <a:ext cx="118872" cy="118872"/>
          </a:xfrm>
          <a:prstGeom prst="ellipse">
            <a:avLst/>
          </a:prstGeom>
          <a:solidFill>
            <a:srgbClr val="4FA3E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デバイスアプリ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2715768"/>
            <a:ext cx="309981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測定値を作って送る</a:t>
            </a:r>
            <a:endParaRPr lang="en-US" sz="11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受け取った操作・設定を実行する</a:t>
            </a:r>
            <a:endParaRPr lang="en-US" sz="11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今回: ローカルPCの温度センサー役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79976" y="21488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9976" y="2148840"/>
            <a:ext cx="3429000" cy="457200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26280" y="2322576"/>
            <a:ext cx="118872" cy="118872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16" name="Text 14"/>
          <p:cNvSpPr/>
          <p:nvPr/>
        </p:nvSpPr>
        <p:spPr>
          <a:xfrm>
            <a:off x="4727448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Hub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62856" y="2715768"/>
            <a:ext cx="309981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デバイスを認証する</a:t>
            </a:r>
            <a:endParaRPr lang="en-US" sz="11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双方向の通信を仲介する</a:t>
            </a:r>
            <a:endParaRPr lang="en-US" sz="11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後続サービスへ配送する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93024" y="21488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3024" y="2148840"/>
            <a:ext cx="3429000" cy="457200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20" name="Shape 18"/>
          <p:cNvSpPr/>
          <p:nvPr/>
        </p:nvSpPr>
        <p:spPr>
          <a:xfrm>
            <a:off x="8339328" y="2322576"/>
            <a:ext cx="118872" cy="118872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40496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バックエンド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75904" y="2715768"/>
            <a:ext cx="309981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テレメトリを読む</a:t>
            </a:r>
            <a:endParaRPr lang="en-US" sz="11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保存・業務処理を行う</a:t>
            </a:r>
            <a:endParaRPr lang="en-US" sz="11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デバイスへの操作を要求する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050792" y="3223260"/>
            <a:ext cx="2743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959352" y="28940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63840" y="3223260"/>
            <a:ext cx="2743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772400" y="28940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46634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46634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" y="46634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は接続・通信の基盤。長期保存・分析・デバイス上の処理はアプリや後続サービスが担う。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https://learn.microsoft.com/ja-jp/azure/iot-hub/iot-concepts-and-iot-hub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https://learn.microsoft.com/ja-jp/azure/iot-hub/iot-hub-devguide-sdks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接続までの段階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Hub 作成からデバイス接続までの手順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Hub と Device ID を作っても、デバイスアプリが自動で接続するわけではない。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4245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クラウド側の準備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560320"/>
            <a:ext cx="4245102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6924" y="226771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アプリ準備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06924" y="2560320"/>
            <a:ext cx="1975104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6922" y="2267712"/>
            <a:ext cx="4245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実行と確認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76922" y="2560320"/>
            <a:ext cx="4245102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65176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07592" y="2816352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16" name="Text 14"/>
          <p:cNvSpPr/>
          <p:nvPr/>
        </p:nvSpPr>
        <p:spPr>
          <a:xfrm>
            <a:off x="1307592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6928" y="33649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Hub 作成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36393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接続先の Hub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78608" y="3063240"/>
            <a:ext cx="221742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36926" y="265176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77590" y="2816352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22" name="Text 20"/>
          <p:cNvSpPr/>
          <p:nvPr/>
        </p:nvSpPr>
        <p:spPr>
          <a:xfrm>
            <a:off x="3577590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836926" y="33649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デバイス登録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8366" y="36393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ID と認証方式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8606" y="3063240"/>
            <a:ext cx="221742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06924" y="265176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47588" y="2816352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28" name="Text 26"/>
          <p:cNvSpPr/>
          <p:nvPr/>
        </p:nvSpPr>
        <p:spPr>
          <a:xfrm>
            <a:off x="5847588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06924" y="33649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接続設定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98364" y="36393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接続先と資格情報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118604" y="3063240"/>
            <a:ext cx="221742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376922" y="265176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17586" y="2816352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34" name="Text 32"/>
          <p:cNvSpPr/>
          <p:nvPr/>
        </p:nvSpPr>
        <p:spPr>
          <a:xfrm>
            <a:off x="8117586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376922" y="33649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68362" y="36393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認証を伴う接続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388602" y="3063240"/>
            <a:ext cx="221742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46920" y="265176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87584" y="2816352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40" name="Text 38"/>
          <p:cNvSpPr/>
          <p:nvPr/>
        </p:nvSpPr>
        <p:spPr>
          <a:xfrm>
            <a:off x="10387584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646920" y="33649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送受信確認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738360" y="36393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対象のメッセージ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" y="457200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44" name="Shape 42"/>
          <p:cNvSpPr/>
          <p:nvPr/>
        </p:nvSpPr>
        <p:spPr>
          <a:xfrm>
            <a:off x="566928" y="457200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45" name="Text 43"/>
          <p:cNvSpPr/>
          <p:nvPr/>
        </p:nvSpPr>
        <p:spPr>
          <a:xfrm>
            <a:off x="786384" y="457200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登録済み ≠ 接続中。ポータルの状態欄だけを現在の接続の証明として扱わない。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https://learn.microsoft.com/ja-jp/azure/iot-hub/iot-hub-devguide-identity-registry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識別子と資格情報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Device ID とデバイスの資格情報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Device ID は名前。資格情報は、そのデバイスとして認証するために使う。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5096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754880"/>
                <a:gridCol w="419709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要素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今回の説明例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意味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接続先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iot-training-hub.azure-devices.net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どの Hub に接続するか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Device ID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temp-sensor-01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Hub 内のどのデバイスか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資格情報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対称キー / 証明書と秘密鍵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そのデバイスとして認証する材料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39776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説明用・接続不可（実際は1行）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4224528"/>
            <a:ext cx="11055096" cy="566928"/>
          </a:xfrm>
          <a:prstGeom prst="rect">
            <a:avLst/>
          </a:prstGeom>
          <a:solidFill>
            <a:srgbClr val="0A2A44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4297680"/>
            <a:ext cx="10780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HostName=iot-training-hub.azure-devices.net;DeviceId=temp-sensor-01;SharedAccessKey=&lt;非表示&gt;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4956048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4956048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4956048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接続文字列は URL ではなくキーを含む秘密情報。画面・コード・ログに公開しない。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https://learn.microsoft.com/ja-jp/azure/iot-hub/authenticate-authorize-sas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https://learn.microsoft.com/ja-jp/azure/iot-hub/authenticate-authorize-x509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接続の基礎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認証・権限・通信保護の違い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誰として接続するか、何を許可するか、通信内容をどう守るかは別の問い。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350008"/>
            <a:ext cx="146304" cy="146304"/>
          </a:xfrm>
          <a:prstGeom prst="ellipse">
            <a:avLst/>
          </a:prstGeom>
          <a:solidFill>
            <a:srgbClr val="4FA3E3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2585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2697480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誰として接続するか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" y="304495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temp-sensor-01 として資格情報を検証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9976" y="21488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2856" y="2350008"/>
            <a:ext cx="146304" cy="146304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2585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認可・権限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9432" y="2697480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その主体に何を許すか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9432" y="304495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自分の送信とサービス側の操作を分ける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93024" y="21488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2350008"/>
            <a:ext cx="146304" cy="146304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13648" y="22585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通信保護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2697480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経路上で内容を守れるか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304495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TLS で通信を暗号化する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416052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デバイス側は SAS / X.509。サービス API は Entra ID + Azure RBAC、または共有アクセスポリシーの SAS。Entra ID 認証はデバイス API には使えない。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80060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480060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80060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デバイス用とサービス側の資格情報を分ける。TLS を使っていても、キーの公開が安全になるわけではない。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https://learn.microsoft.com/ja-jp/azure/iot-hub/authenticate-authorize-azure-ad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https://learn.microsoft.com/ja-jp/azure/iot-hub/iot-hub-tls-support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通信プロトコル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の通信プロトコルと選び分け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通信プロトコルはデータをやり取りする方式。デバイスの制約と受信方法で選ぶ。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5096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70632"/>
                <a:gridCol w="2770632"/>
                <a:gridCol w="27706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観点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MQTT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AMQP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HTTPS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主な選択場面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一般的な直接接続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複数デバイスの集約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他方式が使えない場合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C2D の受信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サーバーからプッシュ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サーバーからプッシュ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デバイスからポーリング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1接続のデバイスID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1つ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複数を多重化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1つ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送信先ポート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8883 / 443(WS)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5671 / 443(WS)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443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48056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448056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448056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443番ポート＝HTTPS方式ではない。MQTT / AMQP も WebSocket 経由で 443 を使える。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5138928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5138928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5138928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 MQTT 対応は機能が限定され、汎用 MQTT ブローカーとは異なる。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https://learn.microsoft.com/ja-jp/azure/iot-hub/iot-hub-devguide-protocols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SDK の位置づけ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SDK の役割と用途別の使い分け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プロトコルは通信の方式。SDK は、その通信機能をアプリから使うためのライブラリ。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488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デバイスアプリ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167128" y="2770632"/>
            <a:ext cx="0" cy="164592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" y="2935224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EAF2FB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93522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 SDK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167128" y="3557016"/>
            <a:ext cx="0" cy="164592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" y="3721608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EAF2FB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72160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通信プロトコル(MQTT など)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167128" y="4343400"/>
            <a:ext cx="0" cy="164592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" y="4507992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0B4C8C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50799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24528" y="2286000"/>
          <a:ext cx="7397496" cy="914400"/>
        </p:xfrm>
        <a:graphic>
          <a:graphicData uri="http://schemas.openxmlformats.org/drawingml/2006/table">
            <a:tbl>
              <a:tblPr/>
              <a:tblGrid>
                <a:gridCol w="4142598"/>
                <a:gridCol w="325489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やりたいこと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使うライブラリ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デバイスから送信・指示受信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IoT Hub デバイス SDK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デバイス管理・操作要求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IoT Hub サービス SDK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Hub リソースの作成・管理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IoT Hub 管理 SDK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組み込みEPから D2C を読む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Event Hubs SDK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66928" y="507492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1" name="Shape 18"/>
          <p:cNvSpPr/>
          <p:nvPr/>
        </p:nvSpPr>
        <p:spPr>
          <a:xfrm>
            <a:off x="566928" y="507492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" y="507492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SDK は実行する役割に合わせて選ぶ。D2C はデバイスからクラウドへの通信を指す。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https://learn.microsoft.com/ja-jp/azure/iot-hub/iot-hub-devguide-sdks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D2C の送信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温度テレメトリの本文と送信処理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テレメトリはデバイスから送るデータ。本文はデバイスアプリが作る。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94560"/>
            <a:ext cx="4937760" cy="822960"/>
          </a:xfrm>
          <a:prstGeom prst="rect">
            <a:avLst/>
          </a:prstGeom>
          <a:solidFill>
            <a:srgbClr val="0A2A44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267712"/>
            <a:ext cx="4663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"temperature": 25, "humidity": 45 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0540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温度は摂氏、湿度は相対湿度%（説明例）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53328" y="2194560"/>
            <a:ext cx="457200" cy="457200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12" name="Text 10"/>
          <p:cNvSpPr/>
          <p:nvPr/>
        </p:nvSpPr>
        <p:spPr>
          <a:xfrm>
            <a:off x="605332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93408" y="2194560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値を用意する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81928" y="2651760"/>
            <a:ext cx="0" cy="201168"/>
          </a:xfrm>
          <a:prstGeom prst="line">
            <a:avLst/>
          </a:prstGeom>
          <a:noFill/>
          <a:ln w="19050">
            <a:solidFill>
              <a:srgbClr val="D6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53328" y="2852928"/>
            <a:ext cx="457200" cy="457200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16" name="Text 14"/>
          <p:cNvSpPr/>
          <p:nvPr/>
        </p:nvSpPr>
        <p:spPr>
          <a:xfrm>
            <a:off x="6053328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93408" y="2852928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JSON をメッセージ化する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81928" y="3310128"/>
            <a:ext cx="0" cy="201168"/>
          </a:xfrm>
          <a:prstGeom prst="line">
            <a:avLst/>
          </a:prstGeom>
          <a:noFill/>
          <a:ln w="19050">
            <a:solidFill>
              <a:srgbClr val="D6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53328" y="3511296"/>
            <a:ext cx="457200" cy="457200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20" name="Text 18"/>
          <p:cNvSpPr/>
          <p:nvPr/>
        </p:nvSpPr>
        <p:spPr>
          <a:xfrm>
            <a:off x="605332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93408" y="3511296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 SDK で送信する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52628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452628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52628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既存デモは 接続 → start の操作後に送信する。本文の項目・単位はアプリ側で決める。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5184648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5184648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184648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への送信だけで分析が完了するわけではない。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https://learn.microsoft.com/ja-jp/azure/iot-hub/iot-hub-devguide-messages-construct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https://github.com/zukakosan/demo-azure-iot/blob/main/demo/01_iothub-send-tel.py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受信の入口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D2C を読む組み込みエンドポイント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受信アプリは、IoT Hub に用意された D2C の読み取り口を使える。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2860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286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91356" y="210312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147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74236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Hub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1396" y="2670048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1396" y="2670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組み込みエンドポイント </a:t>
            </a:r>
            <a:pPr algn="ctr"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messages/events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Event Hubs 互換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44584" y="22860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44584" y="2286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受信アプリ・ツール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90088" y="2971800"/>
            <a:ext cx="95554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43316" y="2971800"/>
            <a:ext cx="95554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66928" y="406908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前提: ルート未追加・既定の配送が有効／別の Event Hubs リソースは不要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48056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448056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48056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この読み取り口は共有アクセスキー方式で接続する。サービス API の Entra ID 認証やデバイス用接続文字列とは別。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https://learn.microsoft.com/ja-jp/azure/iot-hub/iot-hub-devguide-messages-read-builtin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送信と受信の照合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送信ログと受信データの照合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送信側の成功ログと、受信側に現れた送信元・本文を対応させて確認する。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103120"/>
            <a:ext cx="534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送信側の表示（説明用）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395728"/>
            <a:ext cx="5344668" cy="868680"/>
          </a:xfrm>
          <a:prstGeom prst="rect">
            <a:avLst/>
          </a:prstGeom>
          <a:solidFill>
            <a:srgbClr val="0A2A44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468880"/>
            <a:ext cx="50703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connected to IoT Hub.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 telemetry: {'temperature': 25, 'humidity': 45}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77356" y="2103120"/>
            <a:ext cx="534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受信側で見る項目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2395728"/>
          <a:ext cx="5344668" cy="914400"/>
        </p:xfrm>
        <a:graphic>
          <a:graphicData uri="http://schemas.openxmlformats.org/drawingml/2006/table">
            <a:tbl>
              <a:tblPr/>
              <a:tblGrid>
                <a:gridCol w="2244761"/>
                <a:gridCol w="3099907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確認項目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表示例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送信元メタデータ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temp-sensor-01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メッセージ本文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{"temperature":25,"humidity":45}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6928" y="3977640"/>
            <a:ext cx="3380232" cy="566928"/>
          </a:xfrm>
          <a:prstGeom prst="roundRect">
            <a:avLst>
              <a:gd name="adj" fmla="val 1290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3977640"/>
            <a:ext cx="338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送信処理の成功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020312" y="4261104"/>
            <a:ext cx="310896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404360" y="3977640"/>
            <a:ext cx="3380232" cy="566928"/>
          </a:xfrm>
          <a:prstGeom prst="roundRect">
            <a:avLst>
              <a:gd name="adj" fmla="val 1290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04360" y="3977640"/>
            <a:ext cx="338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受信側で確認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857744" y="4261104"/>
            <a:ext cx="310896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241792" y="3977640"/>
            <a:ext cx="3380232" cy="566928"/>
          </a:xfrm>
          <a:prstGeom prst="roundRect">
            <a:avLst>
              <a:gd name="adj" fmla="val 12903"/>
            </a:avLst>
          </a:prstGeom>
          <a:solidFill>
            <a:srgbClr val="EAF2FB"/>
          </a:solidFill>
          <a:ln w="19050">
            <a:solidFill>
              <a:srgbClr val="E087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41792" y="3977640"/>
            <a:ext cx="338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保存・業務処理完了（この画面では未確認）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48920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2" name="Shape 19"/>
          <p:cNvSpPr/>
          <p:nvPr/>
        </p:nvSpPr>
        <p:spPr>
          <a:xfrm>
            <a:off x="566928" y="48920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3" name="Text 20"/>
          <p:cNvSpPr/>
          <p:nvPr/>
        </p:nvSpPr>
        <p:spPr>
          <a:xfrm>
            <a:off x="786384" y="48920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送信元の情報とアプリが作った JSON 本文は別。同じ値の繰り返しがあり得るため、1件を一意に識別した証明ではない。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https://learn.microsoft.com/ja-jp/azure/iot-hub/iot-hub-devguide-messages-construct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双方向と後続配送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デバイス操作・設定変更・後続配送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温度を集める D2C に加えて、操作・状態同期・後続配送の機能がある。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4688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41648" y="24688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B4C8C"/>
          </a:solidFill>
          <a:ln/>
        </p:spPr>
      </p:sp>
      <p:sp>
        <p:nvSpPr>
          <p:cNvPr id="11" name="Text 9"/>
          <p:cNvSpPr/>
          <p:nvPr/>
        </p:nvSpPr>
        <p:spPr>
          <a:xfrm>
            <a:off x="4041648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90088" y="2651760"/>
            <a:ext cx="100584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944368" y="22951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D2C 送信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90088" y="3017520"/>
            <a:ext cx="1005840" cy="0"/>
          </a:xfrm>
          <a:prstGeom prst="line">
            <a:avLst/>
          </a:prstGeom>
          <a:noFill/>
          <a:ln w="25400">
            <a:solidFill>
              <a:srgbClr val="E0873A"/>
            </a:solidFill>
            <a:prstDash val="solid"/>
            <a:headEnd type="triangl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2944368" y="3118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87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操作要求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67728" y="2148840"/>
          <a:ext cx="4654296" cy="914400"/>
        </p:xfrm>
        <a:graphic>
          <a:graphicData uri="http://schemas.openxmlformats.org/drawingml/2006/table">
            <a:tbl>
              <a:tblPr/>
              <a:tblGrid>
                <a:gridCol w="1861718"/>
                <a:gridCol w="1861718"/>
                <a:gridCol w="93085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追加したい要求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機能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章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開始・停止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Direct Method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第4章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間隔変更・状態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Device Twin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第4章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通知・依頼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C2D メッセージ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第4章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保存先へ配送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メッセージルーティング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第5章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66928" y="48920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48920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" y="48920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これらは IoT Hub の異なる機能。操作や設定の実際の適用処理はデバイスアプリ側に必要。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https://learn.microsoft.com/ja-jp/azure/iot-hub/iot-concepts-and-iot-hub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SKU の入口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Basic・Standard・Free の機能差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使う機能を選ぶことと、必要な容量を見積もることは別。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5096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404872"/>
                <a:gridCol w="2404872"/>
                <a:gridCol w="240487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今回確認する機能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Basic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Standard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Free（評価用）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D2C・メッセージルーティング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対応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対応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対応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Direct Method・Twin・C2D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非対応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対応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対応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位置づけ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データ収集中心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双方向・デバイス管理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小容量で評価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2062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42062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42062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Basic と Standard の認証・セキュリティ機能は同じ。Free は評価用で容量が限られ、Basic / Standard へ直接アップグレードできない。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4864608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4864608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4864608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今回の開始・停止と設定変更には Standard 相当の機能が必要。Basic では双方向デモを実施できない。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https://learn.microsoft.com/ja-jp/azure/iot-hub/iot-hub-scaling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理解度の確認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登録・接続・送受信の確認問題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次の3つの場面で、何が不足しているか説明してください。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94560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94560"/>
            <a:ext cx="82296" cy="960120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418588"/>
            <a:ext cx="512064" cy="51206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185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72768" y="2194560"/>
            <a:ext cx="9774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Hub に temp-sensor-01 を登録した。アプリには Device ID だけ渡せば接続できるか。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410712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410712"/>
            <a:ext cx="82296" cy="960120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634740"/>
            <a:ext cx="512064" cy="51206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347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2768" y="3410712"/>
            <a:ext cx="9774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デバイス側に送信ログが出た。受信担当はどこを読み、何を照合するか。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4626864"/>
            <a:ext cx="82296" cy="960120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850892"/>
            <a:ext cx="512064" cy="51206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508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72768" y="4626864"/>
            <a:ext cx="9774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受信ツールで温度を確認できた。DB 保存は完了しているか。停止は誰が要求し、誰が実行するか。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562356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562356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次章: Direct Method・Device Twin・C2D を、操作と状態同期の用途で使い分ける。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IoT Hub の基本</dc:title>
  <dc:subject>PptxGenJS Presentation</dc:subject>
  <dc:creator>Azure IoT Workshop</dc:creator>
  <cp:lastModifiedBy>Azure IoT Workshop</cp:lastModifiedBy>
  <cp:revision>1</cp:revision>
  <dcterms:created xsi:type="dcterms:W3CDTF">2026-09-09T13:47:05Z</dcterms:created>
  <dcterms:modified xsi:type="dcterms:W3CDTF">2026-09-09T13:47:05Z</dcterms:modified>
</cp:coreProperties>
</file>