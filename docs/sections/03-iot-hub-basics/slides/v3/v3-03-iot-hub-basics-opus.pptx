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concepts-and-iot-hub" TargetMode="External"/><Relationship Id="rId2" Type="http://schemas.openxmlformats.org/officeDocument/2006/relationships/hyperlink" Target="https://learn.microsoft.com/ja-jp/azure/iot-hub/iot-hub-devguide-sdk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identity-regist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authenticate-authorize-sas" TargetMode="External"/><Relationship Id="rId2" Type="http://schemas.openxmlformats.org/officeDocument/2006/relationships/hyperlink" Target="https://learn.microsoft.com/ja-jp/azure/iot-hub/authenticate-authorize-x50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authenticate-authorize-azure-ad" TargetMode="External"/><Relationship Id="rId2" Type="http://schemas.openxmlformats.org/officeDocument/2006/relationships/hyperlink" Target="https://learn.microsoft.com/ja-jp/azure/iot-hub/iot-hub-tls-suppor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protoco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sdk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construct" TargetMode="External"/><Relationship Id="rId2" Type="http://schemas.openxmlformats.org/officeDocument/2006/relationships/hyperlink" Target="https://github.com/zukakosan/demo-azure-iot/blob/main/demo/01_iothub-send-tel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read-built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construct" TargetMode="External"/><Relationship Id="rId2" Type="http://schemas.openxmlformats.org/officeDocument/2006/relationships/hyperlink" Target="https://learn.microsoft.com/ja-jp/azure/iot-hub/iot-hub-devguide-messages-read-builti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concepts-and-iot-hu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scal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3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の基本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デバイスの登録・接続・テレメトリの送受信を、役割と経路から理解する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47672" y="397764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397764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72384" y="3977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認証・保護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55464" y="397764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9776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送受信の確認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25 分・12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デバイス・IoT Hub・バックエンドの役割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デバイスアプリがデータを送り、IoT Hub が通信を仲介し、バックエンドがデータを利用する。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4884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322576"/>
            <a:ext cx="118872" cy="118872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715768"/>
            <a:ext cx="30998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測定値を作って送る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受け取った操作・設定を実行する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今回: ローカルPCの温度センサー役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9976" y="21488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9976" y="214884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6280" y="2322576"/>
            <a:ext cx="118872" cy="118872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6" name="Text 14"/>
          <p:cNvSpPr/>
          <p:nvPr/>
        </p:nvSpPr>
        <p:spPr>
          <a:xfrm>
            <a:off x="4727448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2715768"/>
            <a:ext cx="30998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デバイスを認証する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双方向の通信を仲介する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後続サービスへ配送する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93024" y="21488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3024" y="2148840"/>
            <a:ext cx="3429000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2322576"/>
            <a:ext cx="118872" cy="118872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1" name="Text 19"/>
          <p:cNvSpPr/>
          <p:nvPr/>
        </p:nvSpPr>
        <p:spPr>
          <a:xfrm>
            <a:off x="8540496" y="2148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75904" y="2715768"/>
            <a:ext cx="30998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テレメトリを読む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保存・業務処理を行う</a:t>
            </a:r>
            <a:endParaRPr lang="en-US" sz="115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デバイスへの操作を要求する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50792" y="3223260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59352" y="28940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3223260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7772400" y="28940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6634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46634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" y="46634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は接続・通信の基盤。長期保存・分析・デバイス上の処理はアプリや後続サービスが担う。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https://learn.microsoft.com/ja-jp/azure/iot-hub/iot-concepts-and-iot-hub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https://learn.microsoft.com/ja-jp/azure/iot-hub/iot-hub-devguide-sdks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接続までの段階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作成からデバイス接続までの手順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と Device ID を作っても、デバイスアプリが自動で接続するわけではない。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67712"/>
            <a:ext cx="424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クラウド側の準備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560320"/>
            <a:ext cx="4245102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6924" y="226771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アプリ準備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06924" y="2560320"/>
            <a:ext cx="1975104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6922" y="2267712"/>
            <a:ext cx="424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実行と確認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6922" y="2560320"/>
            <a:ext cx="4245102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7592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1307592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作成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接続先の Hub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78608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36926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77590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3577590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36926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デバイス登録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8366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ID と認証方式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8606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06924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47588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5847588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06924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接続設定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8364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接続先と資格情報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18604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76922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17586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34" name="Text 32"/>
          <p:cNvSpPr/>
          <p:nvPr/>
        </p:nvSpPr>
        <p:spPr>
          <a:xfrm>
            <a:off x="8117586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76922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68362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認証を伴う接続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88602" y="3063240"/>
            <a:ext cx="22174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46920" y="265176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87584" y="2816352"/>
            <a:ext cx="493776" cy="493776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40" name="Text 38"/>
          <p:cNvSpPr/>
          <p:nvPr/>
        </p:nvSpPr>
        <p:spPr>
          <a:xfrm>
            <a:off x="10387584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46920" y="33649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送受信確認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738360" y="36393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対象のメッセージ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457200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457200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" y="457200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登録済み ≠ 接続中。ポータルの状態欄だけを現在の接続の証明として扱わない。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https://learn.microsoft.com/ja-jp/azure/iot-hub/iot-hub-devguide-identity-registry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識別子と資格情報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ID とデバイスの資格情報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Device ID は名前。資格情報は、そのデバイスとして認証するために使う。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1970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要素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今回の説明例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意味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iot-training-hub.azure-devices.net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どの Hub に接続するか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Device ID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temp-sensor-01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内のどのデバイスか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資格情報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対称キー / 証明書と秘密鍵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そのデバイスとして認証する材料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3977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説明用・接続不可（実際は1行）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4224528"/>
            <a:ext cx="11055096" cy="566928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4297680"/>
            <a:ext cx="10780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HostName=iot-training-hub.azure-devices.net;DeviceId=temp-sensor-01;SharedAccessKey=&lt;非表示&gt;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495604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95604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495604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接続文字列は URL ではなくキーを含む秘密情報。画面・コード・ログに公開しない。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https://learn.microsoft.com/ja-jp/azure/iot-hub/authenticate-authorize-sas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https://learn.microsoft.com/ja-jp/azure/iot-hub/authenticate-authorize-x509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接続の基礎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認証・権限・通信保護の違い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誰として接続するか、何を許可するか、通信内容をどう守るかは別の問い。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350008"/>
            <a:ext cx="146304" cy="146304"/>
          </a:xfrm>
          <a:prstGeom prst="ellipse">
            <a:avLst/>
          </a:prstGeom>
          <a:solidFill>
            <a:srgbClr val="4FA3E3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2585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269748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誰として接続するか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3044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temp-sensor-01 として資格情報を検証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9976" y="21488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350008"/>
            <a:ext cx="146304" cy="146304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2585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認可・権限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69748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その主体に何を許すか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3044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自分の送信とサービス側の操作を分ける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3024" y="21488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350008"/>
            <a:ext cx="146304" cy="146304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13648" y="22585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通信保護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697480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経路上で内容を守れるか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044952"/>
            <a:ext cx="3008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TLS で通信を暗号化する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16052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デバイス側は SAS / X.509。サービス API は Entra ID + Azure RBAC、または共有アクセスポリシーの SAS。Entra ID 認証はデバイス API には使えない。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80060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480060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80060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デバイス用とサービス側の資格情報を分ける。TLS を使っていても、キーの公開が安全になるわけではない。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https://learn.microsoft.com/ja-jp/azure/iot-hub/authenticate-authorize-azure-ad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https://learn.microsoft.com/ja-jp/azure/iot-hub/iot-hub-tls-support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通信プロトコル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の通信プロトコルと選び分け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通信プロトコルはデータをやり取りする方式。デバイスの制約と受信方法で選ぶ。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70632"/>
                <a:gridCol w="2770632"/>
                <a:gridCol w="27706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観点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MQTT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AMQP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HTTPS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主な選択場面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一般的な直接接続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複数デバイスの集約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他方式が使えない場合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の受信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サーバーからプッシュ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サーバーからプッシュ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デバイスからポーリング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1接続のデバイスID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1つ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複数を多重化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1つ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送信先ポート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8883 / 443(WS)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5671 / 443(WS)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443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480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44805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480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443番ポート＝HTTPS方式ではない。MQTT / AMQP も WebSocket 経由で 443 を使える。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513892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513892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13892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 MQTT 対応は機能が限定され、汎用 MQTT ブローカーとは異なる。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https://learn.microsoft.com/ja-jp/azure/iot-hub/iot-hub-devguide-protocols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SDK の位置づけ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SDK の役割と用途別の使い分け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プロトコルは通信の方式。SDK は、その通信機能をアプリから使うためのライブラリ。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4884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デバイスアプリ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67128" y="2770632"/>
            <a:ext cx="0" cy="16459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" y="2935224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9352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 SDK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67128" y="3557016"/>
            <a:ext cx="0" cy="16459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3721608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7216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通信プロトコル(MQTT など)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67128" y="4343400"/>
            <a:ext cx="0" cy="16459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6928" y="4507992"/>
            <a:ext cx="3200400" cy="621792"/>
          </a:xfrm>
          <a:prstGeom prst="roundRect">
            <a:avLst>
              <a:gd name="adj" fmla="val 8824"/>
            </a:avLst>
          </a:prstGeom>
          <a:solidFill>
            <a:srgbClr val="0B4C8C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50799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24528" y="2286000"/>
          <a:ext cx="7397496" cy="914400"/>
        </p:xfrm>
        <a:graphic>
          <a:graphicData uri="http://schemas.openxmlformats.org/drawingml/2006/table">
            <a:tbl>
              <a:tblPr/>
              <a:tblGrid>
                <a:gridCol w="4142598"/>
                <a:gridCol w="325489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やりたいこと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使うライブラリ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デバイスから送信・指示受信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デバイス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デバイス管理・操作要求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サービス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リソースの作成・管理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管理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組み込みEPから D2C を読む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Event Hubs SDK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66928" y="50749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1" name="Shape 18"/>
          <p:cNvSpPr/>
          <p:nvPr/>
        </p:nvSpPr>
        <p:spPr>
          <a:xfrm>
            <a:off x="566928" y="507492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0749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SDK は実行する役割に合わせて選ぶ。D2C はデバイスからクラウドへの通信を指す。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https://learn.microsoft.com/ja-jp/azure/iot-hub/iot-hub-devguide-sdks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の送信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テレメトリの本文と送信処理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テレメトリはデバイスから送るデータ。本文はデバイスアプリが作る。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08483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温度・湿度はデモ用サンプル。アプリが作った JSON 本文をメッセージにして送る。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11055096" cy="603504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78608"/>
            <a:ext cx="10780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Message(json.dumps({"temperature": 25, "humidity": 45}))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3493008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アプリが値を用意する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20312" y="3721608"/>
            <a:ext cx="310896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04360" y="3493008"/>
            <a:ext cx="457200" cy="45720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6" name="Text 14"/>
          <p:cNvSpPr/>
          <p:nvPr/>
        </p:nvSpPr>
        <p:spPr>
          <a:xfrm>
            <a:off x="44043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71288" y="3493008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JSON をメッセージ化する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57744" y="3721608"/>
            <a:ext cx="310896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41792" y="3493008"/>
            <a:ext cx="457200" cy="457200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0" name="Text 18"/>
          <p:cNvSpPr/>
          <p:nvPr/>
        </p:nvSpPr>
        <p:spPr>
          <a:xfrm>
            <a:off x="8241792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08720" y="3493008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 SDK で送信する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2976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42976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2976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既存デモは 接続 → start の操作後に送信する。本文の項目・単位はアプリ側で決める。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495604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5604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への送信だけで分析が完了するわけではない。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https://learn.microsoft.com/ja-jp/azure/iot-hub/iot-hub-devguide-messages-construct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https://github.com/zukakosan/demo-azure-iot/blob/main/demo/01_iothub-send-tel.py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受信の入口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を読む組み込みエンドポイント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受信アプリは、IoT Hub に用意された D2C の読み取り口を使える。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91356" y="210312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147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4236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1396" y="2670048"/>
            <a:ext cx="3566160" cy="713232"/>
          </a:xfrm>
          <a:prstGeom prst="roundRect">
            <a:avLst>
              <a:gd name="adj" fmla="val 7692"/>
            </a:avLst>
          </a:prstGeom>
          <a:solidFill>
            <a:srgbClr val="EAF2FB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1396" y="267004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組み込みエンドポイント </a:t>
            </a:r>
            <a:pPr algn="ctr"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messages/events</a:t>
            </a:r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 Hubs 互換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44584" y="228600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2286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受信アプリ・ツール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90088" y="2971800"/>
            <a:ext cx="95554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43316" y="2971800"/>
            <a:ext cx="95554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6928" y="406908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前提: ルート未追加・既定の配送が有効／別の Event Hubs リソースは不要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480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4805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480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この読み取り口は共有アクセスキー方式で接続する。サービス API の Entra ID 認証やデバイス用接続文字列とは別。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https://learn.microsoft.com/ja-jp/azure/iot-hub/iot-hub-devguide-messages-read-builtin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送信と受信の照合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送信ログと受信データの照合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送信ログと受信データを対応させる。値の一致だけでは1件を特定できない。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048256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送信側の表示（説明用）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5344668" cy="786384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395728"/>
            <a:ext cx="5070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connected to IoT Hub.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telemetry: {'temperature': 25, 'humidity': 45}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77356" y="2048256"/>
            <a:ext cx="5344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受信側で見る項目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2322576"/>
          <a:ext cx="5344668" cy="914400"/>
        </p:xfrm>
        <a:graphic>
          <a:graphicData uri="http://schemas.openxmlformats.org/drawingml/2006/table">
            <a:tbl>
              <a:tblPr/>
              <a:tblGrid>
                <a:gridCol w="2244761"/>
                <a:gridCol w="309990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確認項目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表示例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送信元メタデータ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temp-sensor-01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メッセージ本文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{"temperature":25,"humidity":45}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35295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1件を一意に識別・突き合わせるには（値の一致に頼らない）</a:t>
            </a:r>
            <a:endParaRPr lang="en-US" sz="1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22192"/>
          <a:ext cx="11055096" cy="914400"/>
        </p:xfrm>
        <a:graphic>
          <a:graphicData uri="http://schemas.openxmlformats.org/drawingml/2006/table">
            <a:tbl>
              <a:tblPr/>
              <a:tblGrid>
                <a:gridCol w="3685032"/>
                <a:gridCol w="3685032"/>
                <a:gridCol w="36850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送信元の特定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メッセージの識別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時刻の基準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iothub-connection-device-id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message-id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enqueuedTime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が刻む送信元ID。本文のIDは根拠にしない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デバイスが各件に一意付与。重複検知の起点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到着時刻・送信時刻で並べる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566928" y="51206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6" name="Shape 12"/>
          <p:cNvSpPr/>
          <p:nvPr/>
        </p:nvSpPr>
        <p:spPr>
          <a:xfrm>
            <a:off x="566928" y="51206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7" name="Text 13"/>
          <p:cNvSpPr/>
          <p:nvPr/>
        </p:nvSpPr>
        <p:spPr>
          <a:xfrm>
            <a:off x="786384" y="51206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送信元IDは Hub が刻む。一意なID・重複排除はデバイスが message-id を付けて成立。受信確認と DB保存・業務完了は別。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https://learn.microsoft.com/ja-jp/azure/iot-hub/iot-hub-devguide-messages-construct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https://learn.microsoft.com/ja-jp/azure/iot-hub/iot-hub-devguide-messages-read-builtin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双方向と後続配送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デバイス操作・設定変更・後続配送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温度を集める D2C に加えて、操作・状態同期・後続配送の機能がある。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41648" y="24688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90088" y="2651760"/>
            <a:ext cx="10058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44368" y="22951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送信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90088" y="3017520"/>
            <a:ext cx="1005840" cy="0"/>
          </a:xfrm>
          <a:prstGeom prst="line">
            <a:avLst/>
          </a:prstGeom>
          <a:noFill/>
          <a:ln w="25400">
            <a:solidFill>
              <a:srgbClr val="E0873A"/>
            </a:solidFill>
            <a:prstDash val="solid"/>
            <a:headEnd type="triangl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2944368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87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操作要求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67728" y="2148840"/>
          <a:ext cx="4654296" cy="914400"/>
        </p:xfrm>
        <a:graphic>
          <a:graphicData uri="http://schemas.openxmlformats.org/drawingml/2006/table">
            <a:tbl>
              <a:tblPr/>
              <a:tblGrid>
                <a:gridCol w="1861718"/>
                <a:gridCol w="1861718"/>
                <a:gridCol w="9308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追加したい要求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機能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開始・停止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間隔変更・状態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Device Twin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通知・依頼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C2D メッセージ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第4章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保存先へ配送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メッセージルーティング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第5章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48920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8920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8920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これらは IoT Hub の異なる機能。操作や設定の実際の適用処理はデバイスアプリ側に必要。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https://learn.microsoft.com/ja-jp/azure/iot-hub/iot-concepts-and-iot-hub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SKU の入口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Basic・Standard・Free の機能差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使う機能を選ぶことと、必要な容量を見積もることは別。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404872"/>
                <a:gridCol w="2404872"/>
                <a:gridCol w="24048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今回確認する機能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Basic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Standard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Free（評価用）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D2C・メッセージルーティング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Direct Method・Twin・C2D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非対応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位置づけ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データ収集中心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双方向・デバイス管理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小容量で評価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2062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42062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2062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Basic と Standard の認証・セキュリティ機能は同じ。Free は評価用で容量が限られ、Basic / Standard へ直接アップグレードできない。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486460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486460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486460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今回の開始・停止と設定変更には Standard 相当の機能が必要。Basic では双方向デモを実施できない。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https://learn.microsoft.com/ja-jp/azure/iot-hub/iot-hub-scaling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理解度の確認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登録・接続・送受信の確認問題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次の3つの場面で、何が不足しているか説明してください。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94560"/>
            <a:ext cx="82296" cy="960120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418588"/>
            <a:ext cx="512064" cy="51206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185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2194560"/>
            <a:ext cx="9774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Hub に temp-sensor-01 を登録した。アプリには Device ID だけ渡せば接続できるか。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410712"/>
            <a:ext cx="82296" cy="960120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634740"/>
            <a:ext cx="512064" cy="51206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47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2768" y="3410712"/>
            <a:ext cx="9774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デバイス側に送信ログが出た。受信担当はどこを読み、何を照合するか。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4626864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626864"/>
            <a:ext cx="82296" cy="960120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850892"/>
            <a:ext cx="512064" cy="51206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508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2768" y="4626864"/>
            <a:ext cx="9774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受信ツールで温度を確認できた。DB 保存は完了しているか。停止は誰が要求し、誰が実行するか。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6235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562356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56235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次章: Direct Method・Device Twin・C2D を、操作と状態同期の用途で使い分ける。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第3章  IoT Hub の基本 — 登録・接続・送受信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IoT Hub の基本</dc:title>
  <dc:subject>PptxGenJS Presentation</dc:subject>
  <dc:creator>Azure IoT Workshop</dc:creator>
  <cp:lastModifiedBy>Azure IoT Workshop</cp:lastModifiedBy>
  <cp:revision>1</cp:revision>
  <dcterms:created xsi:type="dcterms:W3CDTF">2026-09-10T06:02:13Z</dcterms:created>
  <dcterms:modified xsi:type="dcterms:W3CDTF">2026-09-10T06:02:13Z</dcterms:modified>
</cp:coreProperties>
</file>