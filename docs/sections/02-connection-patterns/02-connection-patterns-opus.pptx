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/iot-introduction" TargetMode="External"/><Relationship Id="rId2" Type="http://schemas.openxmlformats.org/officeDocument/2006/relationships/hyperlink" Target="https://learn.microsoft.com/ja-jp/azure/iot-edge/about-iot-edg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protocols" TargetMode="External"/><Relationship Id="rId2" Type="http://schemas.openxmlformats.org/officeDocument/2006/relationships/hyperlink" Target="https://learn.microsoft.com/ja-jp/azure/iot/iot-introduc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operations/overview-iot-operations" TargetMode="External"/><Relationship Id="rId2" Type="http://schemas.openxmlformats.org/officeDocument/2006/relationships/hyperlink" Target="https://learn.microsoft.com/ja-jp/azure/iot-operations/discover-manage-assets/overview-opc-ua-connector" TargetMode="External"/><Relationship Id="rId3" Type="http://schemas.openxmlformats.org/officeDocument/2006/relationships/hyperlink" Target="https://learn.microsoft.com/ja-jp/azure/iot-edge/about-iot-edg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/iot-services-and-technologies" TargetMode="External"/><Relationship Id="rId2" Type="http://schemas.openxmlformats.org/officeDocument/2006/relationships/hyperlink" Target="https://learn.microsoft.com/ja-jp/azure/iot-operations/overview-iot-operation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 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接続パターンとサービスの選択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クラウド直接接続とエッジ経由接続を要件から選び、今回は IoT Hub への直接接続を扱う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3611880"/>
            <a:ext cx="2926080" cy="0"/>
          </a:xfrm>
          <a:prstGeom prst="line">
            <a:avLst/>
          </a:prstGeom>
          <a:noFill/>
          <a:ln w="31750">
            <a:solidFill>
              <a:srgbClr val="4FA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977640"/>
            <a:ext cx="2176272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クラウド直接接続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27832" y="397764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3977640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エッジ経由接続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17820" y="3977640"/>
            <a:ext cx="1746504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7820" y="39776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ハイブリッド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92924" y="3977640"/>
            <a:ext cx="2820924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2924" y="3977640"/>
            <a:ext cx="2820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今回: IoT 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D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ワークショップ ／ 本編 7 分・4 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接続先を決める前提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接続パターンを決める3つの要件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同じ温度データでも、現場の条件によって接続先が変わる。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6309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確認する要件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具体的な問い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通信方式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デバイスはクラウド向けに通信できるか。設備との通信に OPC UA などを使うか。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ネットワーク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デバイスからクラウドへの接続を許可できるか。現場のネットワーク内に限定する必要があるか。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処理する場所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クラウドで処理できるか。通信遅延や切断に備えて、現場側で処理する必要があるか。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96328" y="2148840"/>
            <a:ext cx="4425696" cy="713232"/>
          </a:xfrm>
          <a:prstGeom prst="roundRect">
            <a:avLst>
              <a:gd name="adj" fmla="val 10256"/>
            </a:avLst>
          </a:prstGeom>
          <a:solidFill>
            <a:srgbClr val="EAF2FB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06056" y="21488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通信・ネットワーク・処理場所の要件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409176" y="2862072"/>
            <a:ext cx="0" cy="630936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196328" y="3493008"/>
            <a:ext cx="4425696" cy="877824"/>
          </a:xfrm>
          <a:prstGeom prst="roundRect">
            <a:avLst>
              <a:gd name="adj" fmla="val 8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06056" y="35844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クラウド直接接続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06056" y="39136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96328" y="4517136"/>
            <a:ext cx="4425696" cy="1024128"/>
          </a:xfrm>
          <a:prstGeom prst="roundRect">
            <a:avLst>
              <a:gd name="adj" fmla="val 714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06056" y="4608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エッジ経由接続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306056" y="5010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Operations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Edge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956048"/>
            <a:ext cx="6309360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9" name="Shape 16"/>
          <p:cNvSpPr/>
          <p:nvPr/>
        </p:nvSpPr>
        <p:spPr>
          <a:xfrm>
            <a:off x="566928" y="495604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" y="495604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接続パターンは、サービス名ではなく通信・ネットワーク・処理場所の要件から考える。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https://learn.microsoft.com/ja-jp/azure/iot/iot-introduction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https://learn.microsoft.com/ja-jp/azure/iot-edge/about-iot-edge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クラウド直接接続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へのクラウド直接接続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デバイスアプリがクラウドへ直接接続し、IoT Hub を通じてデータを送受信する。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751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94276" y="1975104"/>
            <a:ext cx="7127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377440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温度センサー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2816352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94276" y="22860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B4C8C"/>
          </a:solidFill>
          <a:ln/>
        </p:spPr>
      </p:sp>
      <p:sp>
        <p:nvSpPr>
          <p:cNvPr id="14" name="Text 12"/>
          <p:cNvSpPr/>
          <p:nvPr/>
        </p:nvSpPr>
        <p:spPr>
          <a:xfrm>
            <a:off x="4604004" y="2468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04004" y="2871216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デバイス接続 / 認証 / 双方向通信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78824" y="22860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8552" y="2377440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後続サービス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88552" y="2816352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蓄積・分析・可視化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64992" y="2834640"/>
            <a:ext cx="10744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273552" y="2523744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温度データ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MQTT・AMQP・HTTPS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49540" y="2834640"/>
            <a:ext cx="10744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658100" y="2523744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データを配送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79476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995928"/>
            <a:ext cx="146304" cy="146304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90448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接続するもの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" y="432511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温度センサーなどのデバイス上で動くアプリ。IoT Hub は MQTT・AMQP・HTTPS によるデバイス接続をサポートする。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8160" y="379476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1040" y="3995928"/>
            <a:ext cx="146304" cy="146304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9" name="Text 27"/>
          <p:cNvSpPr/>
          <p:nvPr/>
        </p:nvSpPr>
        <p:spPr>
          <a:xfrm>
            <a:off x="4748784" y="390448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適する条件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47616" y="432511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デバイスからクラウドへ通信でき、分散したデバイスのデータをクラウド側へ集めたい場合に向く。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9392" y="379476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2272" y="3995928"/>
            <a:ext cx="146304" cy="146304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10016" y="390448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役割の分担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08848" y="432511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はデバイスとの通信を担い、蓄積・分析・可視化は後続のサービスで行う。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5358384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5358384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" y="5358384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今回の想定: ローカル PC のプログラムを温度センサーに見立て、IoT Hub に直接接続する。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https://learn.microsoft.com/ja-jp/azure/iot-hub/iot-hub-devguide-protocols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https://learn.microsoft.com/ja-jp/azure/iot/iot-introduction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エッジ経由接続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エッジ経由接続: IoT Operations と IoT Edge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Operations の構成例: 設備のデータを現場で収集・加工し、クラウドへ送る。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96896" y="1975104"/>
            <a:ext cx="5989320" cy="1307592"/>
          </a:xfrm>
          <a:prstGeom prst="roundRect">
            <a:avLst>
              <a:gd name="adj" fmla="val 5594"/>
            </a:avLst>
          </a:prstGeom>
          <a:solidFill>
            <a:srgbClr val="EEF6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96896" y="2002536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工場・現場 ／ Azure IoT Operations（Azure Arc 対応 Kubernetes）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377440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" y="2656332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 サーバー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61488" y="22860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1216" y="2286000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コネクタ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45736" y="22860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2286000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MQTT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ブローカー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9984" y="22860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2286000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データフロー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51976" y="22860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61704" y="2377440"/>
            <a:ext cx="215798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61704" y="2656332"/>
            <a:ext cx="215798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Microsoft Fabric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32304" y="2674620"/>
            <a:ext cx="2926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231136" y="236372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2674620"/>
            <a:ext cx="23774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64808" y="2674620"/>
            <a:ext cx="23774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58200" y="2674620"/>
            <a:ext cx="45720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284464" y="23820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加工したデータ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" y="3456432"/>
            <a:ext cx="3532632" cy="896112"/>
          </a:xfrm>
          <a:prstGeom prst="roundRect">
            <a:avLst>
              <a:gd name="adj" fmla="val 816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657600"/>
            <a:ext cx="146304" cy="146304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30" name="Text 28"/>
          <p:cNvSpPr/>
          <p:nvPr/>
        </p:nvSpPr>
        <p:spPr>
          <a:xfrm>
            <a:off x="987552" y="3566160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設備との接続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" y="3986784"/>
            <a:ext cx="311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 は産業機器のデータ交換の標準。コネクタが設備のデータを取得し、ブローカーへ発行する。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28160" y="3456432"/>
            <a:ext cx="3532632" cy="896112"/>
          </a:xfrm>
          <a:prstGeom prst="roundRect">
            <a:avLst>
              <a:gd name="adj" fmla="val 816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1040" y="3657600"/>
            <a:ext cx="146304" cy="146304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34" name="Text 32"/>
          <p:cNvSpPr/>
          <p:nvPr/>
        </p:nvSpPr>
        <p:spPr>
          <a:xfrm>
            <a:off x="4748784" y="3566160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現場での処理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47616" y="3986784"/>
            <a:ext cx="311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MQTT ブローカー（仲介役）で受け渡し、データフローで加工・配送。基盤は Kubernetes（土台）。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89392" y="3456432"/>
            <a:ext cx="3532632" cy="896112"/>
          </a:xfrm>
          <a:prstGeom prst="roundRect">
            <a:avLst>
              <a:gd name="adj" fmla="val 816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2272" y="3657600"/>
            <a:ext cx="146304" cy="146304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10016" y="3566160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検討する条件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08848" y="3986784"/>
            <a:ext cx="311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産業プロトコル対応、現場での低遅延処理、設備の直接インターネット接続の制限がある場合。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44805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448056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" y="44805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Operations の注意: オフライン動作は最大72時間で、機能が低下する可能性がある。完全閉域での無期限運用を前提にしない。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5157216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" y="5157216"/>
            <a:ext cx="82296" cy="713232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" y="5157216"/>
            <a:ext cx="10597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Edge: もう一つのエッジ接続の選択肢　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デバイス上でコンテナー化した処理を実行し、IoT Hub へのゲートウェイとしても利用できる。現在もサポートされている（2026-09-08 確認。本章では紹介のみ）。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https://learn.microsoft.com/ja-jp/azure/iot-operations/overview-iot-operations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https://learn.microsoft.com/ja-jp/azure/iot-operations/discover-manage-assets/overview-opc-ua-connector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[3]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https://learn.microsoft.com/ja-jp/azure/iot-edge/about-iot-edge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使い分けと対象範囲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ハイブリッド構成と今回の対象範囲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ハイブリッドは、クラウド直接接続とエッジ経由接続を組み合わせる構成。拠点や設備の要件に合わせて使い分ける。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423160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拠点A: 温度センサー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272491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クラウドへ直接接続可能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38728" y="233172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9050">
            <a:solidFill>
              <a:srgbClr val="E0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2423160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8456" y="272491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87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今回の対象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4290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520440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拠点B: 工場設備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" y="382219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 で現場接続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38728" y="34290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3520440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Operations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48456" y="382219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構成紹介のみ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0528" y="260604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2606040"/>
            <a:ext cx="74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後続の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蓄積・分析・可視化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98648" y="2743200"/>
            <a:ext cx="59436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98648" y="3840480"/>
            <a:ext cx="59436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07024" y="2743200"/>
            <a:ext cx="2926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3840480"/>
            <a:ext cx="2926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2743200"/>
            <a:ext cx="0" cy="109728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3291840"/>
            <a:ext cx="2743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66928" y="4443984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後続サービスの連携設定は第05章以降で扱う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27848" y="208483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要件から接続パターンと中心サービスを選ぶ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27848" y="2377440"/>
          <a:ext cx="3694176" cy="914400"/>
        </p:xfrm>
        <a:graphic>
          <a:graphicData uri="http://schemas.openxmlformats.org/drawingml/2006/table">
            <a:tbl>
              <a:tblPr/>
              <a:tblGrid>
                <a:gridCol w="1625437"/>
                <a:gridCol w="1034369"/>
                <a:gridCol w="1034369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現場の要件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接続パターン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中心サービス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デバイスが直接クラウドへ接続できる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クラウド直接接続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Azure IoT Hub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OPC UA などで設備に接続し、現場側で処理する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エッジ経由接続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Azure IoT Operations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デバイス上でコンテナー処理を行い、IoT Hub へ接続する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エッジ経由接続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Azure IoT Edge + IoT Hub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直接接続とエッジ経由の要件が混在する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ハイブリッド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要件に応じて組み合わせ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66928" y="5358384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2" name="Shape 29"/>
          <p:cNvSpPr/>
          <p:nvPr/>
        </p:nvSpPr>
        <p:spPr>
          <a:xfrm>
            <a:off x="566928" y="5358384"/>
            <a:ext cx="82296" cy="566928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33" name="Text 30"/>
          <p:cNvSpPr/>
          <p:nvPr/>
        </p:nvSpPr>
        <p:spPr>
          <a:xfrm>
            <a:off x="786384" y="5358384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今回扱う範囲: デバイスアプリ → IoT Hub → データの受信・デバイス操作。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https://learn.microsoft.com/ja-jp/azure/iot/iot-services-and-technologies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https://learn.microsoft.com/ja-jp/azure/iot-operations/overview-iot-operations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接続パターンとサービスの選択</dc:title>
  <dc:subject>PptxGenJS Presentation</dc:subject>
  <dc:creator>Azure IoT Workshop</dc:creator>
  <cp:lastModifiedBy>Azure IoT Workshop</cp:lastModifiedBy>
  <cp:revision>1</cp:revision>
  <dcterms:created xsi:type="dcterms:W3CDTF">2026-09-10T02:10:24Z</dcterms:created>
  <dcterms:modified xsi:type="dcterms:W3CDTF">2026-09-10T02:10:24Z</dcterms:modified>
</cp:coreProperties>
</file>