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6"/>
  </p:notesMasterIdLst>
  <p:sldIdLst>
    <p:sldId id="2147482959" r:id="rId2"/>
    <p:sldId id="2147482962" r:id="rId3"/>
    <p:sldId id="2147482961" r:id="rId4"/>
    <p:sldId id="21474829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9" autoAdjust="0"/>
    <p:restoredTop sz="94660"/>
  </p:normalViewPr>
  <p:slideViewPr>
    <p:cSldViewPr snapToGrid="0">
      <p:cViewPr varScale="1">
        <p:scale>
          <a:sx n="71" d="100"/>
          <a:sy n="71" d="100"/>
        </p:scale>
        <p:origin x="295"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8B12CE-51AA-444A-B069-8A62B7B4D946}"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1B9661-DB4E-4668-8338-52F158F69289}" type="slidenum">
              <a:rPr lang="en-US" smtClean="0"/>
              <a:t>‹#›</a:t>
            </a:fld>
            <a:endParaRPr lang="en-US"/>
          </a:p>
        </p:txBody>
      </p:sp>
    </p:spTree>
    <p:extLst>
      <p:ext uri="{BB962C8B-B14F-4D97-AF65-F5344CB8AC3E}">
        <p14:creationId xmlns:p14="http://schemas.microsoft.com/office/powerpoint/2010/main" val="908720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02-01 </a:t>
            </a:r>
            <a:r>
              <a:rPr lang="ja-JP" altLang="en-US"/>
              <a:t>接続パターンを決める</a:t>
            </a:r>
            <a:r>
              <a:rPr lang="en-US" altLang="ja-JP"/>
              <a:t>3</a:t>
            </a:r>
            <a:r>
              <a:rPr lang="ja-JP" altLang="en-US"/>
              <a:t>つの要件</a:t>
            </a:r>
          </a:p>
          <a:p>
            <a:r>
              <a:rPr lang="en-US" altLang="ja-JP"/>
              <a:t>Source SHA256: 6AB47C1583805FCEE1E759D313F1677D133A45E8FC27C229EFF816D56AD5C665</a:t>
            </a:r>
          </a:p>
          <a:p>
            <a:endParaRPr lang="en-US" altLang="ja-JP"/>
          </a:p>
          <a:p>
            <a:r>
              <a:rPr lang="en-US" altLang="ja-JP"/>
              <a:t>### </a:t>
            </a:r>
            <a:r>
              <a:rPr lang="ja-JP" altLang="en-US"/>
              <a:t>このページの役割</a:t>
            </a:r>
          </a:p>
          <a:p>
            <a:endParaRPr lang="ja-JP" altLang="en-US"/>
          </a:p>
          <a:p>
            <a:r>
              <a:rPr lang="ja-JP" altLang="en-US"/>
              <a:t>前章の「デバイスからクラウドへデータを送る」という全体像を前提に、その接続方法が一つではない理由を説明する。サービス名の比較に入る前に、接続場所を判断する軸を置く。</a:t>
            </a:r>
          </a:p>
          <a:p>
            <a:endParaRPr lang="ja-JP" altLang="en-US"/>
          </a:p>
          <a:p>
            <a:r>
              <a:rPr lang="en-US" altLang="ja-JP"/>
              <a:t>### </a:t>
            </a:r>
            <a:r>
              <a:rPr lang="ja-JP" altLang="en-US"/>
              <a:t>投影本文</a:t>
            </a:r>
          </a:p>
          <a:p>
            <a:endParaRPr lang="ja-JP" altLang="en-US"/>
          </a:p>
          <a:p>
            <a:r>
              <a:rPr lang="ja-JP" altLang="en-US"/>
              <a:t>**同じ温度データでも、現場の条件によって接続先が変わる。**</a:t>
            </a:r>
          </a:p>
          <a:p>
            <a:endParaRPr lang="ja-JP" altLang="en-US"/>
          </a:p>
          <a:p>
            <a:r>
              <a:rPr lang="en-US" altLang="ja-JP"/>
              <a:t>| </a:t>
            </a:r>
            <a:r>
              <a:rPr lang="ja-JP" altLang="en-US"/>
              <a:t>確認する要件 </a:t>
            </a:r>
            <a:r>
              <a:rPr lang="en-US" altLang="ja-JP"/>
              <a:t>| </a:t>
            </a:r>
            <a:r>
              <a:rPr lang="ja-JP" altLang="en-US"/>
              <a:t>具体的な問い </a:t>
            </a:r>
            <a:r>
              <a:rPr lang="en-US" altLang="ja-JP"/>
              <a:t>|</a:t>
            </a:r>
          </a:p>
          <a:p>
            <a:r>
              <a:rPr lang="en-US" altLang="ja-JP"/>
              <a:t>| --- | --- |</a:t>
            </a:r>
          </a:p>
          <a:p>
            <a:r>
              <a:rPr lang="en-US" altLang="ja-JP"/>
              <a:t>| </a:t>
            </a:r>
            <a:r>
              <a:rPr lang="ja-JP" altLang="en-US"/>
              <a:t>通信方式 </a:t>
            </a:r>
            <a:r>
              <a:rPr lang="en-US" altLang="ja-JP"/>
              <a:t>| </a:t>
            </a:r>
            <a:r>
              <a:rPr lang="ja-JP" altLang="en-US"/>
              <a:t>デバイスはクラウド向けに通信できるか。設備との通信に </a:t>
            </a:r>
            <a:r>
              <a:rPr lang="en-US" altLang="ja-JP"/>
              <a:t>OPC UA </a:t>
            </a:r>
            <a:r>
              <a:rPr lang="ja-JP" altLang="en-US"/>
              <a:t>などを使うか。 </a:t>
            </a:r>
            <a:r>
              <a:rPr lang="en-US" altLang="ja-JP"/>
              <a:t>|</a:t>
            </a:r>
          </a:p>
          <a:p>
            <a:r>
              <a:rPr lang="en-US" altLang="ja-JP"/>
              <a:t>| </a:t>
            </a:r>
            <a:r>
              <a:rPr lang="ja-JP" altLang="en-US"/>
              <a:t>ネットワーク </a:t>
            </a:r>
            <a:r>
              <a:rPr lang="en-US" altLang="ja-JP"/>
              <a:t>| </a:t>
            </a:r>
            <a:r>
              <a:rPr lang="ja-JP" altLang="en-US"/>
              <a:t>デバイスからクラウドへの接続を許可できるか。現場のネットワーク内に限定する必要があるか。 </a:t>
            </a:r>
            <a:r>
              <a:rPr lang="en-US" altLang="ja-JP"/>
              <a:t>|</a:t>
            </a:r>
          </a:p>
          <a:p>
            <a:r>
              <a:rPr lang="en-US" altLang="ja-JP"/>
              <a:t>| </a:t>
            </a:r>
            <a:r>
              <a:rPr lang="ja-JP" altLang="en-US"/>
              <a:t>処理する場所 </a:t>
            </a:r>
            <a:r>
              <a:rPr lang="en-US" altLang="ja-JP"/>
              <a:t>| </a:t>
            </a:r>
            <a:r>
              <a:rPr lang="ja-JP" altLang="en-US"/>
              <a:t>クラウドで処理できるか。通信遅延や切断に備えて、現場側で処理する必要があるか。 </a:t>
            </a:r>
            <a:r>
              <a:rPr lang="en-US" altLang="ja-JP"/>
              <a:t>|</a:t>
            </a:r>
          </a:p>
          <a:p>
            <a:endParaRPr lang="en-US" altLang="ja-JP"/>
          </a:p>
          <a:p>
            <a:r>
              <a:rPr lang="ja-JP" altLang="en-US"/>
              <a:t>クラウド直接接続では **</a:t>
            </a:r>
            <a:r>
              <a:rPr lang="en-US" altLang="ja-JP"/>
              <a:t>Azure IoT Hub**</a:t>
            </a:r>
            <a:r>
              <a:rPr lang="ja-JP" altLang="en-US"/>
              <a:t>、エッジ経由接続では **</a:t>
            </a:r>
            <a:r>
              <a:rPr lang="en-US" altLang="ja-JP"/>
              <a:t>Azure IoT Operations** </a:t>
            </a:r>
            <a:r>
              <a:rPr lang="ja-JP" altLang="en-US"/>
              <a:t>や **</a:t>
            </a:r>
            <a:r>
              <a:rPr lang="en-US" altLang="ja-JP"/>
              <a:t>Azure IoT Edge** </a:t>
            </a:r>
            <a:r>
              <a:rPr lang="ja-JP" altLang="en-US"/>
              <a:t>を検討する（</a:t>
            </a:r>
            <a:r>
              <a:rPr lang="en-US" altLang="ja-JP"/>
              <a:t>[Azure IoT </a:t>
            </a:r>
            <a:r>
              <a:rPr lang="ja-JP" altLang="en-US"/>
              <a:t>とは</a:t>
            </a:r>
            <a:r>
              <a:rPr lang="en-US" altLang="ja-JP"/>
              <a:t>](https://learn.microsoft.com/ja-jp/azure/iot/iot-introduction)</a:t>
            </a:r>
            <a:r>
              <a:rPr lang="ja-JP" altLang="en-US"/>
              <a:t>、</a:t>
            </a:r>
            <a:r>
              <a:rPr lang="en-US" altLang="ja-JP"/>
              <a:t>[IoT Edge </a:t>
            </a:r>
            <a:r>
              <a:rPr lang="ja-JP" altLang="en-US"/>
              <a:t>の概要</a:t>
            </a:r>
            <a:r>
              <a:rPr lang="en-US" altLang="ja-JP"/>
              <a:t>](https://learn.microsoft.com/ja-jp/azure/iot-edge/about-iot-edge)</a:t>
            </a:r>
            <a:r>
              <a:rPr lang="ja-JP" altLang="en-US"/>
              <a:t>）。</a:t>
            </a:r>
          </a:p>
          <a:p>
            <a:endParaRPr lang="ja-JP" altLang="en-US"/>
          </a:p>
          <a:p>
            <a:r>
              <a:rPr lang="ja-JP" altLang="en-US"/>
              <a:t>**接続パターンは、サービス名ではなく通信・ネットワーク・処理場所の要件から考える。**</a:t>
            </a:r>
          </a:p>
          <a:p>
            <a:endParaRPr lang="ja-JP" altLang="en-US"/>
          </a:p>
          <a:p>
            <a:r>
              <a:rPr lang="en-US" altLang="ja-JP"/>
              <a:t>### </a:t>
            </a:r>
            <a:r>
              <a:rPr lang="ja-JP" altLang="en-US"/>
              <a:t>図の構成</a:t>
            </a:r>
          </a:p>
          <a:p>
            <a:endParaRPr lang="ja-JP" altLang="en-US"/>
          </a:p>
          <a:p>
            <a:r>
              <a:rPr lang="en-US" altLang="ja-JP"/>
              <a:t>- </a:t>
            </a:r>
            <a:r>
              <a:rPr lang="ja-JP" altLang="en-US"/>
              <a:t>左側に</a:t>
            </a:r>
            <a:r>
              <a:rPr lang="en-US" altLang="ja-JP"/>
              <a:t>3</a:t>
            </a:r>
            <a:r>
              <a:rPr lang="ja-JP" altLang="en-US"/>
              <a:t>つの問い、右側に分岐図を配置する。通信方式だけで自動的に決まるフローチャートにはしない。</a:t>
            </a:r>
          </a:p>
          <a:p>
            <a:r>
              <a:rPr lang="en-US" altLang="ja-JP"/>
              <a:t>- </a:t>
            </a:r>
            <a:r>
              <a:rPr lang="ja-JP" altLang="en-US"/>
              <a:t>分岐線には判断理由を付け、製品の優劣を示す上下関係にしない。</a:t>
            </a:r>
          </a:p>
          <a:p>
            <a:endParaRPr lang="ja-JP" altLang="en-US"/>
          </a:p>
          <a:p>
            <a:r>
              <a:rPr lang="en-US" altLang="ja-JP"/>
              <a:t>```mermaid</a:t>
            </a:r>
          </a:p>
          <a:p>
            <a:r>
              <a:rPr lang="en-US" altLang="ja-JP"/>
              <a:t>flowchart LR</a:t>
            </a:r>
          </a:p>
          <a:p>
            <a:r>
              <a:rPr lang="en-US" altLang="ja-JP"/>
              <a:t>    requirements["</a:t>
            </a:r>
            <a:r>
              <a:rPr lang="ja-JP" altLang="en-US"/>
              <a:t>通信・ネットワーク・処理場所の要件</a:t>
            </a:r>
            <a:r>
              <a:rPr lang="en-US" altLang="ja-JP"/>
              <a:t>"]</a:t>
            </a:r>
          </a:p>
          <a:p>
            <a:r>
              <a:rPr lang="en-US" altLang="ja-JP"/>
              <a:t>    requirements --&gt;|"</a:t>
            </a:r>
            <a:r>
              <a:rPr lang="ja-JP" altLang="en-US"/>
              <a:t>直接接続でき、</a:t>
            </a:r>
            <a:r>
              <a:rPr lang="en-US" altLang="ja-JP"/>
              <a:t>\n</a:t>
            </a:r>
            <a:r>
              <a:rPr lang="ja-JP" altLang="en-US"/>
              <a:t>クラウド側で処理</a:t>
            </a:r>
            <a:r>
              <a:rPr lang="en-US" altLang="ja-JP"/>
              <a:t>"| cloud["</a:t>
            </a:r>
            <a:r>
              <a:rPr lang="ja-JP" altLang="en-US"/>
              <a:t>クラウド直接接続</a:t>
            </a:r>
            <a:r>
              <a:rPr lang="en-US" altLang="ja-JP"/>
              <a:t>\nAzure IoT Hub"]</a:t>
            </a:r>
          </a:p>
          <a:p>
            <a:r>
              <a:rPr lang="en-US" altLang="ja-JP"/>
              <a:t>    requirements --&gt;|"</a:t>
            </a:r>
            <a:r>
              <a:rPr lang="ja-JP" altLang="en-US"/>
              <a:t>現場で接続・</a:t>
            </a:r>
            <a:r>
              <a:rPr lang="en-US" altLang="ja-JP"/>
              <a:t>\n</a:t>
            </a:r>
            <a:r>
              <a:rPr lang="ja-JP" altLang="en-US"/>
              <a:t>処理する必要</a:t>
            </a:r>
            <a:r>
              <a:rPr lang="en-US" altLang="ja-JP"/>
              <a:t>"| edge["</a:t>
            </a:r>
            <a:r>
              <a:rPr lang="ja-JP" altLang="en-US"/>
              <a:t>エッジ経由接続</a:t>
            </a:r>
            <a:r>
              <a:rPr lang="en-US" altLang="ja-JP"/>
              <a:t>\nAzure IoT Operations\nAzure IoT Edge"]</a:t>
            </a:r>
          </a:p>
          <a:p>
            <a:r>
              <a:rPr lang="en-US" altLang="ja-JP"/>
              <a:t>```</a:t>
            </a:r>
          </a:p>
          <a:p>
            <a:endParaRPr lang="en-US" altLang="ja-JP"/>
          </a:p>
          <a:p>
            <a:r>
              <a:rPr lang="ja-JP" altLang="en-US"/>
              <a:t>図は上記の公式資料を基にした接続パターンの概念図であり、製品選定を確定する診断ではない。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p>
          <a:p>
            <a:r>
              <a:rPr lang="en-US" altLang="ja-JP"/>
              <a:t>- </a:t>
            </a:r>
            <a:r>
              <a:rPr lang="ja-JP" altLang="en-US"/>
              <a:t>導入例</a:t>
            </a:r>
            <a:r>
              <a:rPr lang="en-US" altLang="ja-JP"/>
              <a:t>: </a:t>
            </a:r>
            <a:r>
              <a:rPr lang="ja-JP" altLang="en-US"/>
              <a:t>「工場の温度を集める場合でも、センサーから直接送れる場合と、設備側のデータを現場で取り出す場合があります」。</a:t>
            </a:r>
          </a:p>
          <a:p>
            <a:r>
              <a:rPr lang="en-US" altLang="ja-JP"/>
              <a:t>- </a:t>
            </a:r>
            <a:r>
              <a:rPr lang="ja-JP" altLang="en-US"/>
              <a:t>「エッジ」は、デバイスや設備に近い現場側の実行環境を指す言葉として説明する。</a:t>
            </a:r>
          </a:p>
          <a:p>
            <a:r>
              <a:rPr lang="en-US" altLang="ja-JP"/>
              <a:t>- OPC UA </a:t>
            </a:r>
            <a:r>
              <a:rPr lang="ja-JP" altLang="en-US"/>
              <a:t>の仕組みやネットワーク設計には踏み込まず、用語は</a:t>
            </a:r>
            <a:r>
              <a:rPr lang="en-US" altLang="ja-JP"/>
              <a:t>03</a:t>
            </a:r>
            <a:r>
              <a:rPr lang="ja-JP" altLang="en-US"/>
              <a:t>ページで補う。</a:t>
            </a:r>
          </a:p>
          <a:p>
            <a:r>
              <a:rPr lang="en-US" altLang="ja-JP"/>
              <a:t>- </a:t>
            </a:r>
            <a:r>
              <a:rPr lang="ja-JP" altLang="en-US"/>
              <a:t>次への接続</a:t>
            </a:r>
            <a:r>
              <a:rPr lang="en-US" altLang="ja-JP"/>
              <a:t>: </a:t>
            </a:r>
            <a:r>
              <a:rPr lang="ja-JP" altLang="en-US"/>
              <a:t>「まず、今回の講義とデモで使う直接接続を見ます」。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02-02 IoT Hub </a:t>
            </a:r>
            <a:r>
              <a:rPr lang="ja-JP" altLang="en-US"/>
              <a:t>へのクラウド直接接続</a:t>
            </a:r>
          </a:p>
          <a:p>
            <a:r>
              <a:rPr lang="en-US" altLang="ja-JP"/>
              <a:t>Source SHA256: 6AB47C1583805FCEE1E759D313F1677D133A45E8FC27C229EFF816D56AD5C665</a:t>
            </a:r>
          </a:p>
          <a:p>
            <a:endParaRPr lang="en-US" altLang="ja-JP"/>
          </a:p>
          <a:p>
            <a:r>
              <a:rPr lang="en-US" altLang="ja-JP"/>
              <a:t>### </a:t>
            </a:r>
            <a:r>
              <a:rPr lang="ja-JP" altLang="en-US"/>
              <a:t>このページの役割</a:t>
            </a:r>
          </a:p>
          <a:p>
            <a:endParaRPr lang="ja-JP" altLang="en-US"/>
          </a:p>
          <a:p>
            <a:r>
              <a:rPr lang="ja-JP" altLang="en-US"/>
              <a:t>前ページの判断軸を、今回扱う構成に当てはめる。デバイスアプリ、</a:t>
            </a:r>
            <a:r>
              <a:rPr lang="en-US" altLang="ja-JP"/>
              <a:t>IoT Hub</a:t>
            </a:r>
            <a:r>
              <a:rPr lang="ja-JP" altLang="en-US"/>
              <a:t>、後続処理の位置を示し、次章で説明する </a:t>
            </a:r>
            <a:r>
              <a:rPr lang="en-US" altLang="ja-JP"/>
              <a:t>IoT Hub </a:t>
            </a:r>
            <a:r>
              <a:rPr lang="ja-JP" altLang="en-US"/>
              <a:t>の役割の前提を作る。</a:t>
            </a:r>
          </a:p>
          <a:p>
            <a:endParaRPr lang="ja-JP" altLang="en-US"/>
          </a:p>
          <a:p>
            <a:r>
              <a:rPr lang="en-US" altLang="ja-JP"/>
              <a:t>### </a:t>
            </a:r>
            <a:r>
              <a:rPr lang="ja-JP" altLang="en-US"/>
              <a:t>投影本文</a:t>
            </a:r>
          </a:p>
          <a:p>
            <a:endParaRPr lang="ja-JP" altLang="en-US"/>
          </a:p>
          <a:p>
            <a:r>
              <a:rPr lang="ja-JP" altLang="en-US"/>
              <a:t>**デバイスアプリがクラウドへ直接接続し、</a:t>
            </a:r>
            <a:r>
              <a:rPr lang="en-US" altLang="ja-JP"/>
              <a:t>IoT Hub </a:t>
            </a:r>
            <a:r>
              <a:rPr lang="ja-JP" altLang="en-US"/>
              <a:t>を通じてデータを送受信する。**</a:t>
            </a:r>
          </a:p>
          <a:p>
            <a:endParaRPr lang="ja-JP" altLang="en-US"/>
          </a:p>
          <a:p>
            <a:r>
              <a:rPr lang="en-US" altLang="ja-JP"/>
              <a:t>- **</a:t>
            </a:r>
            <a:r>
              <a:rPr lang="ja-JP" altLang="en-US"/>
              <a:t>接続するもの</a:t>
            </a:r>
            <a:r>
              <a:rPr lang="en-US" altLang="ja-JP"/>
              <a:t>:** </a:t>
            </a:r>
            <a:r>
              <a:rPr lang="ja-JP" altLang="en-US"/>
              <a:t>温度センサーなどのデバイス上で動くアプリ。</a:t>
            </a:r>
            <a:r>
              <a:rPr lang="en-US" altLang="ja-JP"/>
              <a:t>IoT Hub </a:t>
            </a:r>
            <a:r>
              <a:rPr lang="ja-JP" altLang="en-US"/>
              <a:t>は </a:t>
            </a:r>
            <a:r>
              <a:rPr lang="en-US" altLang="ja-JP"/>
              <a:t>MQTT</a:t>
            </a:r>
            <a:r>
              <a:rPr lang="ja-JP" altLang="en-US"/>
              <a:t>、</a:t>
            </a:r>
            <a:r>
              <a:rPr lang="en-US" altLang="ja-JP"/>
              <a:t>AMQP</a:t>
            </a:r>
            <a:r>
              <a:rPr lang="ja-JP" altLang="en-US"/>
              <a:t>、</a:t>
            </a:r>
            <a:r>
              <a:rPr lang="en-US" altLang="ja-JP"/>
              <a:t>HTTPS </a:t>
            </a:r>
            <a:r>
              <a:rPr lang="ja-JP" altLang="en-US"/>
              <a:t>によるデバイス接続をサポートする（</a:t>
            </a:r>
            <a:r>
              <a:rPr lang="en-US" altLang="ja-JP"/>
              <a:t>[Azure IoT </a:t>
            </a:r>
            <a:r>
              <a:rPr lang="ja-JP" altLang="en-US"/>
              <a:t>サービスを選択する</a:t>
            </a:r>
            <a:r>
              <a:rPr lang="en-US" altLang="ja-JP"/>
              <a:t>](https://learn.microsoft.com/ja-jp/azure/iot/iot-services-and-technologies#azure-iot-hub)</a:t>
            </a:r>
            <a:r>
              <a:rPr lang="ja-JP" altLang="en-US"/>
              <a:t>）。</a:t>
            </a:r>
          </a:p>
          <a:p>
            <a:r>
              <a:rPr lang="en-US" altLang="ja-JP"/>
              <a:t>- **</a:t>
            </a:r>
            <a:r>
              <a:rPr lang="ja-JP" altLang="en-US"/>
              <a:t>適する条件</a:t>
            </a:r>
            <a:r>
              <a:rPr lang="en-US" altLang="ja-JP"/>
              <a:t>:** </a:t>
            </a:r>
            <a:r>
              <a:rPr lang="ja-JP" altLang="en-US"/>
              <a:t>デバイスからクラウドへ通信でき、分散したデバイスのデータをクラウド側へ集めたい（</a:t>
            </a:r>
            <a:r>
              <a:rPr lang="en-US" altLang="ja-JP"/>
              <a:t>[Azure IoT </a:t>
            </a:r>
            <a:r>
              <a:rPr lang="ja-JP" altLang="en-US"/>
              <a:t>とは</a:t>
            </a:r>
            <a:r>
              <a:rPr lang="en-US" altLang="ja-JP"/>
              <a:t>](https://learn.microsoft.com/ja-jp/azure/iot/iot-introduction#cloud-connected-pattern)</a:t>
            </a:r>
            <a:r>
              <a:rPr lang="ja-JP" altLang="en-US"/>
              <a:t>）。</a:t>
            </a:r>
          </a:p>
          <a:p>
            <a:r>
              <a:rPr lang="en-US" altLang="ja-JP"/>
              <a:t>- **</a:t>
            </a:r>
            <a:r>
              <a:rPr lang="ja-JP" altLang="en-US"/>
              <a:t>役割の分担</a:t>
            </a:r>
            <a:r>
              <a:rPr lang="en-US" altLang="ja-JP"/>
              <a:t>:** IoT Hub </a:t>
            </a:r>
            <a:r>
              <a:rPr lang="ja-JP" altLang="en-US"/>
              <a:t>はデバイスとの通信を担い、蓄積・分析・可視化は後続のサービスで行う（</a:t>
            </a:r>
            <a:r>
              <a:rPr lang="en-US" altLang="ja-JP"/>
              <a:t>[Azure IoT </a:t>
            </a:r>
            <a:r>
              <a:rPr lang="ja-JP" altLang="en-US"/>
              <a:t>とは</a:t>
            </a:r>
            <a:r>
              <a:rPr lang="en-US" altLang="ja-JP"/>
              <a:t>](https://learn.microsoft.com/ja-jp/azure/iot/iot-introduction#services-and-applications)</a:t>
            </a:r>
            <a:r>
              <a:rPr lang="ja-JP" altLang="en-US"/>
              <a:t>）。</a:t>
            </a:r>
          </a:p>
          <a:p>
            <a:endParaRPr lang="ja-JP" altLang="en-US"/>
          </a:p>
          <a:p>
            <a:r>
              <a:rPr lang="ja-JP" altLang="en-US"/>
              <a:t>**今回の想定</a:t>
            </a:r>
            <a:r>
              <a:rPr lang="en-US" altLang="ja-JP"/>
              <a:t>: </a:t>
            </a:r>
            <a:r>
              <a:rPr lang="ja-JP" altLang="en-US"/>
              <a:t>ローカル </a:t>
            </a:r>
            <a:r>
              <a:rPr lang="en-US" altLang="ja-JP"/>
              <a:t>PC </a:t>
            </a:r>
            <a:r>
              <a:rPr lang="ja-JP" altLang="en-US"/>
              <a:t>のプログラムを温度センサーに見立て、</a:t>
            </a:r>
            <a:r>
              <a:rPr lang="en-US" altLang="ja-JP"/>
              <a:t>IoT Hub </a:t>
            </a:r>
            <a:r>
              <a:rPr lang="ja-JP" altLang="en-US"/>
              <a:t>に直接接続する。**</a:t>
            </a:r>
          </a:p>
          <a:p>
            <a:endParaRPr lang="ja-JP" altLang="en-US"/>
          </a:p>
          <a:p>
            <a:r>
              <a:rPr lang="en-US" altLang="ja-JP"/>
              <a:t>### </a:t>
            </a:r>
            <a:r>
              <a:rPr lang="ja-JP" altLang="en-US"/>
              <a:t>図の構成</a:t>
            </a:r>
          </a:p>
          <a:p>
            <a:endParaRPr lang="ja-JP" altLang="en-US"/>
          </a:p>
          <a:p>
            <a:r>
              <a:rPr lang="en-US" altLang="ja-JP"/>
              <a:t>- </a:t>
            </a:r>
            <a:r>
              <a:rPr lang="ja-JP" altLang="en-US"/>
              <a:t>中央に横長の構成図、下部に今回の想定を置く。</a:t>
            </a:r>
          </a:p>
          <a:p>
            <a:r>
              <a:rPr lang="en-US" altLang="ja-JP"/>
              <a:t>- </a:t>
            </a:r>
            <a:r>
              <a:rPr lang="ja-JP" altLang="en-US"/>
              <a:t>左を「デバイス側」、右を「</a:t>
            </a:r>
            <a:r>
              <a:rPr lang="en-US" altLang="ja-JP"/>
              <a:t>Azure</a:t>
            </a:r>
            <a:r>
              <a:rPr lang="ja-JP" altLang="en-US"/>
              <a:t>」とし、</a:t>
            </a:r>
            <a:r>
              <a:rPr lang="en-US" altLang="ja-JP"/>
              <a:t>IoT Hub </a:t>
            </a:r>
            <a:r>
              <a:rPr lang="ja-JP" altLang="en-US"/>
              <a:t>がクラウド側にあることを明確にする。</a:t>
            </a:r>
          </a:p>
          <a:p>
            <a:r>
              <a:rPr lang="en-US" altLang="ja-JP"/>
              <a:t>- </a:t>
            </a:r>
            <a:r>
              <a:rPr lang="ja-JP" altLang="en-US"/>
              <a:t>矢印はこのページでは温度データの向きだけを示す。双方向通信の詳細は第</a:t>
            </a:r>
            <a:r>
              <a:rPr lang="en-US" altLang="ja-JP"/>
              <a:t>04</a:t>
            </a:r>
            <a:r>
              <a:rPr lang="ja-JP" altLang="en-US"/>
              <a:t>章へ回す。</a:t>
            </a:r>
          </a:p>
          <a:p>
            <a:endParaRPr lang="ja-JP" altLang="en-US"/>
          </a:p>
          <a:p>
            <a:r>
              <a:rPr lang="en-US" altLang="ja-JP"/>
              <a:t>```mermaid</a:t>
            </a:r>
          </a:p>
          <a:p>
            <a:r>
              <a:rPr lang="en-US" altLang="ja-JP"/>
              <a:t>flowchart LR</a:t>
            </a:r>
          </a:p>
          <a:p>
            <a:r>
              <a:rPr lang="en-US" altLang="ja-JP"/>
              <a:t>    subgraph deviceSide["</a:t>
            </a:r>
            <a:r>
              <a:rPr lang="ja-JP" altLang="en-US"/>
              <a:t>デバイス側</a:t>
            </a:r>
            <a:r>
              <a:rPr lang="en-US" altLang="ja-JP"/>
              <a:t>"]</a:t>
            </a:r>
          </a:p>
          <a:p>
            <a:r>
              <a:rPr lang="en-US" altLang="ja-JP"/>
              <a:t>        sensor["</a:t>
            </a:r>
            <a:r>
              <a:rPr lang="ja-JP" altLang="en-US"/>
              <a:t>温度センサー</a:t>
            </a:r>
            <a:r>
              <a:rPr lang="en-US" altLang="ja-JP"/>
              <a:t>\n</a:t>
            </a:r>
            <a:r>
              <a:rPr lang="ja-JP" altLang="en-US"/>
              <a:t>デバイスアプリ</a:t>
            </a:r>
            <a:r>
              <a:rPr lang="en-US" altLang="ja-JP"/>
              <a:t>"]</a:t>
            </a:r>
          </a:p>
          <a:p>
            <a:r>
              <a:rPr lang="en-US" altLang="ja-JP"/>
              <a:t>    end</a:t>
            </a:r>
          </a:p>
          <a:p>
            <a:r>
              <a:rPr lang="en-US" altLang="ja-JP"/>
              <a:t>    subgraph azureSide["Azure"]</a:t>
            </a:r>
          </a:p>
          <a:p>
            <a:r>
              <a:rPr lang="en-US" altLang="ja-JP"/>
              <a:t>        hub["Azure IoT Hub"]</a:t>
            </a:r>
          </a:p>
          <a:p>
            <a:r>
              <a:rPr lang="en-US" altLang="ja-JP"/>
              <a:t>        downstream["</a:t>
            </a:r>
            <a:r>
              <a:rPr lang="ja-JP" altLang="en-US"/>
              <a:t>後続サービス</a:t>
            </a:r>
            <a:r>
              <a:rPr lang="en-US" altLang="ja-JP"/>
              <a:t>\n</a:t>
            </a:r>
            <a:r>
              <a:rPr lang="ja-JP" altLang="en-US"/>
              <a:t>蓄積・分析・可視化</a:t>
            </a:r>
            <a:r>
              <a:rPr lang="en-US" altLang="ja-JP"/>
              <a:t>"]</a:t>
            </a:r>
          </a:p>
          <a:p>
            <a:r>
              <a:rPr lang="en-US" altLang="ja-JP"/>
              <a:t>    end</a:t>
            </a:r>
          </a:p>
          <a:p>
            <a:r>
              <a:rPr lang="en-US" altLang="ja-JP"/>
              <a:t>    sensor --&gt;|"</a:t>
            </a:r>
            <a:r>
              <a:rPr lang="ja-JP" altLang="en-US"/>
              <a:t>温度データ</a:t>
            </a:r>
            <a:r>
              <a:rPr lang="en-US" altLang="ja-JP"/>
              <a:t>\nMQTT / AMQP / HTTPS"| hub</a:t>
            </a:r>
          </a:p>
          <a:p>
            <a:r>
              <a:rPr lang="en-US" altLang="ja-JP"/>
              <a:t>    hub --&gt;|"</a:t>
            </a:r>
            <a:r>
              <a:rPr lang="ja-JP" altLang="en-US"/>
              <a:t>データを配送</a:t>
            </a:r>
            <a:r>
              <a:rPr lang="en-US" altLang="ja-JP"/>
              <a:t>"| downstream</a:t>
            </a:r>
          </a:p>
          <a:p>
            <a:r>
              <a:rPr lang="en-US" altLang="ja-JP"/>
              <a:t>```</a:t>
            </a:r>
          </a:p>
          <a:p>
            <a:endParaRPr lang="en-US" altLang="ja-JP"/>
          </a:p>
          <a:p>
            <a:r>
              <a:rPr lang="ja-JP" altLang="en-US"/>
              <a:t>図は上記の公式資料を基に簡略化したもの。後続サービスへの配送設定や中継処理は省略している。</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r>
              <a:rPr lang="en-US" altLang="ja-JP"/>
              <a:t>45</a:t>
            </a:r>
            <a:r>
              <a:rPr lang="ja-JP" altLang="en-US"/>
              <a:t>秒。</a:t>
            </a:r>
          </a:p>
          <a:p>
            <a:r>
              <a:rPr lang="en-US" altLang="ja-JP"/>
              <a:t>- MQTT</a:t>
            </a:r>
            <a:r>
              <a:rPr lang="ja-JP" altLang="en-US"/>
              <a:t>・</a:t>
            </a:r>
            <a:r>
              <a:rPr lang="en-US" altLang="ja-JP"/>
              <a:t>AMQP</a:t>
            </a:r>
            <a:r>
              <a:rPr lang="ja-JP" altLang="en-US"/>
              <a:t>・</a:t>
            </a:r>
            <a:r>
              <a:rPr lang="en-US" altLang="ja-JP"/>
              <a:t>HTTPS </a:t>
            </a:r>
            <a:r>
              <a:rPr lang="ja-JP" altLang="en-US"/>
              <a:t>は「デバイスとクラウドが通信するときの方式」と説明する。</a:t>
            </a:r>
            <a:r>
              <a:rPr lang="en-US" altLang="ja-JP"/>
              <a:t>3</a:t>
            </a:r>
            <a:r>
              <a:rPr lang="ja-JP" altLang="en-US"/>
              <a:t>種類すべてを同時に使う意味ではない。</a:t>
            </a:r>
          </a:p>
          <a:p>
            <a:r>
              <a:rPr lang="en-US" altLang="ja-JP"/>
              <a:t>- </a:t>
            </a:r>
            <a:r>
              <a:rPr lang="ja-JP" altLang="en-US"/>
              <a:t>ここでの「直接」は現場のエッジ処理基盤を経由しない意味。ネットワーク機器が存在しない意味ではない。</a:t>
            </a:r>
          </a:p>
          <a:p>
            <a:r>
              <a:rPr lang="en-US" altLang="ja-JP"/>
              <a:t>- </a:t>
            </a:r>
            <a:r>
              <a:rPr lang="ja-JP" altLang="en-US"/>
              <a:t>デバイス </a:t>
            </a:r>
            <a:r>
              <a:rPr lang="en-US" altLang="ja-JP"/>
              <a:t>ID</a:t>
            </a:r>
            <a:r>
              <a:rPr lang="ja-JP" altLang="en-US"/>
              <a:t>、資格情報、</a:t>
            </a:r>
            <a:r>
              <a:rPr lang="en-US" altLang="ja-JP"/>
              <a:t>SDK</a:t>
            </a:r>
            <a:r>
              <a:rPr lang="ja-JP" altLang="en-US"/>
              <a:t>、</a:t>
            </a:r>
            <a:r>
              <a:rPr lang="en-US" altLang="ja-JP"/>
              <a:t>IoT Hub </a:t>
            </a:r>
            <a:r>
              <a:rPr lang="ja-JP" altLang="en-US"/>
              <a:t>の通信機能は次章以降で説明する。</a:t>
            </a:r>
          </a:p>
          <a:p>
            <a:r>
              <a:rPr lang="en-US" altLang="ja-JP"/>
              <a:t>- </a:t>
            </a:r>
            <a:r>
              <a:rPr lang="ja-JP" altLang="en-US"/>
              <a:t>次への接続</a:t>
            </a:r>
            <a:r>
              <a:rPr lang="en-US" altLang="ja-JP"/>
              <a:t>: </a:t>
            </a:r>
            <a:r>
              <a:rPr lang="ja-JP" altLang="en-US"/>
              <a:t>「では、工場設備が直接クラウドへ送信できない場合はどうするでしょうか」。</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02-03 </a:t>
            </a:r>
            <a:r>
              <a:rPr lang="ja-JP" altLang="en-US"/>
              <a:t>エッジ経由接続</a:t>
            </a:r>
            <a:r>
              <a:rPr lang="en-US" altLang="ja-JP"/>
              <a:t>: IoT Operations </a:t>
            </a:r>
            <a:r>
              <a:rPr lang="ja-JP" altLang="en-US"/>
              <a:t>と </a:t>
            </a:r>
            <a:r>
              <a:rPr lang="en-US" altLang="ja-JP"/>
              <a:t>IoT Edge</a:t>
            </a:r>
          </a:p>
          <a:p>
            <a:r>
              <a:rPr lang="en-US" altLang="ja-JP"/>
              <a:t>Source SHA256: 6AB47C1583805FCEE1E759D313F1677D133A45E8FC27C229EFF816D56AD5C665</a:t>
            </a:r>
          </a:p>
          <a:p>
            <a:endParaRPr lang="en-US" altLang="ja-JP"/>
          </a:p>
          <a:p>
            <a:r>
              <a:rPr lang="en-US" altLang="ja-JP"/>
              <a:t>### </a:t>
            </a:r>
            <a:r>
              <a:rPr lang="ja-JP" altLang="en-US"/>
              <a:t>このページの役割</a:t>
            </a:r>
          </a:p>
          <a:p>
            <a:endParaRPr lang="ja-JP" altLang="en-US"/>
          </a:p>
          <a:p>
            <a:r>
              <a:rPr lang="ja-JP" altLang="en-US"/>
              <a:t>直接接続との違いを「設備の接続先」と「処理する場所」で示す。</a:t>
            </a:r>
            <a:r>
              <a:rPr lang="en-US" altLang="ja-JP"/>
              <a:t>IoT Operations </a:t>
            </a:r>
            <a:r>
              <a:rPr lang="ja-JP" altLang="en-US"/>
              <a:t>の構成を例に、現場側の実行環境を説明する。</a:t>
            </a:r>
            <a:r>
              <a:rPr lang="en-US" altLang="ja-JP"/>
              <a:t>IoT Edge </a:t>
            </a:r>
            <a:r>
              <a:rPr lang="ja-JP" altLang="en-US"/>
              <a:t>は別の選択肢として見出し付きで紹介し、現場でのコンテナー実行と </a:t>
            </a:r>
            <a:r>
              <a:rPr lang="en-US" altLang="ja-JP"/>
              <a:t>IoT Hub </a:t>
            </a:r>
            <a:r>
              <a:rPr lang="ja-JP" altLang="en-US"/>
              <a:t>への接続を伝える。詳細比較や構築手順には入らない。</a:t>
            </a:r>
          </a:p>
          <a:p>
            <a:endParaRPr lang="ja-JP" altLang="en-US"/>
          </a:p>
          <a:p>
            <a:r>
              <a:rPr lang="en-US" altLang="ja-JP"/>
              <a:t>### </a:t>
            </a:r>
            <a:r>
              <a:rPr lang="ja-JP" altLang="en-US"/>
              <a:t>投影本文</a:t>
            </a:r>
          </a:p>
          <a:p>
            <a:endParaRPr lang="ja-JP" altLang="en-US"/>
          </a:p>
          <a:p>
            <a:r>
              <a:rPr lang="ja-JP" altLang="en-US"/>
              <a:t>**</a:t>
            </a:r>
            <a:r>
              <a:rPr lang="en-US" altLang="ja-JP"/>
              <a:t>IoT Operations </a:t>
            </a:r>
            <a:r>
              <a:rPr lang="ja-JP" altLang="en-US"/>
              <a:t>の構成例</a:t>
            </a:r>
            <a:r>
              <a:rPr lang="en-US" altLang="ja-JP"/>
              <a:t>: </a:t>
            </a:r>
            <a:r>
              <a:rPr lang="ja-JP" altLang="en-US"/>
              <a:t>設備のデータを現場で収集・加工し、クラウドへ送る。**</a:t>
            </a:r>
          </a:p>
          <a:p>
            <a:endParaRPr lang="ja-JP" altLang="en-US"/>
          </a:p>
          <a:p>
            <a:r>
              <a:rPr lang="en-US" altLang="ja-JP"/>
              <a:t>- **</a:t>
            </a:r>
            <a:r>
              <a:rPr lang="ja-JP" altLang="en-US"/>
              <a:t>設備との接続</a:t>
            </a:r>
            <a:r>
              <a:rPr lang="en-US" altLang="ja-JP"/>
              <a:t>:** OPC UA </a:t>
            </a:r>
            <a:r>
              <a:rPr lang="ja-JP" altLang="en-US"/>
              <a:t>は産業機器のデータ交換の標準。コネクタが設備のデータを取得し、</a:t>
            </a:r>
            <a:r>
              <a:rPr lang="en-US" altLang="ja-JP"/>
              <a:t>MQTT </a:t>
            </a:r>
            <a:r>
              <a:rPr lang="ja-JP" altLang="en-US"/>
              <a:t>ブローカーへ発行する（</a:t>
            </a:r>
            <a:r>
              <a:rPr lang="en-US" altLang="ja-JP"/>
              <a:t>[OPC UA </a:t>
            </a:r>
            <a:r>
              <a:rPr lang="ja-JP" altLang="en-US"/>
              <a:t>用コネクタとは</a:t>
            </a:r>
            <a:r>
              <a:rPr lang="en-US" altLang="ja-JP"/>
              <a:t>](https://learn.microsoft.com/ja-jp/azure/iot-operations/discover-manage-assets/overview-opc-ua-connector)</a:t>
            </a:r>
            <a:r>
              <a:rPr lang="ja-JP" altLang="en-US"/>
              <a:t>）。</a:t>
            </a:r>
          </a:p>
          <a:p>
            <a:r>
              <a:rPr lang="en-US" altLang="ja-JP"/>
              <a:t>- **</a:t>
            </a:r>
            <a:r>
              <a:rPr lang="ja-JP" altLang="en-US"/>
              <a:t>現場での処理</a:t>
            </a:r>
            <a:r>
              <a:rPr lang="en-US" altLang="ja-JP"/>
              <a:t>:** MQTT </a:t>
            </a:r>
            <a:r>
              <a:rPr lang="ja-JP" altLang="en-US"/>
              <a:t>ブローカーでデータを受け渡し、データフローで加工・配送する。実行基盤は **</a:t>
            </a:r>
            <a:r>
              <a:rPr lang="en-US" altLang="ja-JP"/>
              <a:t>Azure Arc </a:t>
            </a:r>
            <a:r>
              <a:rPr lang="ja-JP" altLang="en-US"/>
              <a:t>対応 </a:t>
            </a:r>
            <a:r>
              <a:rPr lang="en-US" altLang="ja-JP"/>
              <a:t>Kubernetes**</a:t>
            </a:r>
            <a:r>
              <a:rPr lang="ja-JP" altLang="en-US"/>
              <a:t>（</a:t>
            </a:r>
            <a:r>
              <a:rPr lang="en-US" altLang="ja-JP"/>
              <a:t>[Azure IoT Operations </a:t>
            </a:r>
            <a:r>
              <a:rPr lang="ja-JP" altLang="en-US"/>
              <a:t>とは</a:t>
            </a:r>
            <a:r>
              <a:rPr lang="en-US" altLang="ja-JP"/>
              <a:t>](https://learn.microsoft.com/ja-jp/azure/iot-operations/overview-iot-operations)</a:t>
            </a:r>
            <a:r>
              <a:rPr lang="ja-JP" altLang="en-US"/>
              <a:t>）。</a:t>
            </a:r>
          </a:p>
          <a:p>
            <a:r>
              <a:rPr lang="en-US" altLang="ja-JP"/>
              <a:t>- **</a:t>
            </a:r>
            <a:r>
              <a:rPr lang="ja-JP" altLang="en-US"/>
              <a:t>検討する条件</a:t>
            </a:r>
            <a:r>
              <a:rPr lang="en-US" altLang="ja-JP"/>
              <a:t>:** </a:t>
            </a:r>
            <a:r>
              <a:rPr lang="ja-JP" altLang="en-US"/>
              <a:t>産業プロトコルへの対応、現場での低遅延処理、設備からの直接インターネット接続の制限がある場合（</a:t>
            </a:r>
            <a:r>
              <a:rPr lang="en-US" altLang="ja-JP"/>
              <a:t>[Azure IoT </a:t>
            </a:r>
            <a:r>
              <a:rPr lang="ja-JP" altLang="en-US"/>
              <a:t>とは</a:t>
            </a:r>
            <a:r>
              <a:rPr lang="en-US" altLang="ja-JP"/>
              <a:t>](https://learn.microsoft.com/ja-jp/azure/iot/iot-introduction#edge-connected-pattern)</a:t>
            </a:r>
            <a:r>
              <a:rPr lang="ja-JP" altLang="en-US"/>
              <a:t>、</a:t>
            </a:r>
            <a:r>
              <a:rPr lang="en-US" altLang="ja-JP"/>
              <a:t>[OPC UA </a:t>
            </a:r>
            <a:r>
              <a:rPr lang="ja-JP" altLang="en-US"/>
              <a:t>用コネクタとは</a:t>
            </a:r>
            <a:r>
              <a:rPr lang="en-US" altLang="ja-JP"/>
              <a:t>](https://learn.microsoft.com/ja-jp/azure/iot-operations/discover-manage-assets/overview-opc-ua-connector)</a:t>
            </a:r>
            <a:r>
              <a:rPr lang="ja-JP" altLang="en-US"/>
              <a:t>）。</a:t>
            </a:r>
          </a:p>
          <a:p>
            <a:endParaRPr lang="ja-JP" altLang="en-US"/>
          </a:p>
          <a:p>
            <a:r>
              <a:rPr lang="ja-JP" altLang="en-US"/>
              <a:t>**</a:t>
            </a:r>
            <a:r>
              <a:rPr lang="en-US" altLang="ja-JP"/>
              <a:t>IoT Operations </a:t>
            </a:r>
            <a:r>
              <a:rPr lang="ja-JP" altLang="en-US"/>
              <a:t>の注意</a:t>
            </a:r>
            <a:r>
              <a:rPr lang="en-US" altLang="ja-JP"/>
              <a:t>: </a:t>
            </a:r>
            <a:r>
              <a:rPr lang="ja-JP" altLang="en-US"/>
              <a:t>オフライン動作は最大</a:t>
            </a:r>
            <a:r>
              <a:rPr lang="en-US" altLang="ja-JP"/>
              <a:t>72</a:t>
            </a:r>
            <a:r>
              <a:rPr lang="ja-JP" altLang="en-US"/>
              <a:t>時間で、機能が低下する可能性がある。完全閉域での無期限運用を前提にしない。**（</a:t>
            </a:r>
            <a:r>
              <a:rPr lang="en-US" altLang="ja-JP"/>
              <a:t>[Azure IoT Operations </a:t>
            </a:r>
            <a:r>
              <a:rPr lang="ja-JP" altLang="en-US"/>
              <a:t>とは</a:t>
            </a:r>
            <a:r>
              <a:rPr lang="en-US" altLang="ja-JP"/>
              <a:t>](https://learn.microsoft.com/ja-jp/azure/iot-operations/overview-iot-operations)</a:t>
            </a:r>
            <a:r>
              <a:rPr lang="ja-JP" altLang="en-US"/>
              <a:t>）</a:t>
            </a:r>
          </a:p>
          <a:p>
            <a:endParaRPr lang="ja-JP" altLang="en-US"/>
          </a:p>
          <a:p>
            <a:r>
              <a:rPr lang="ja-JP" altLang="en-US"/>
              <a:t>**</a:t>
            </a:r>
            <a:r>
              <a:rPr lang="en-US" altLang="ja-JP"/>
              <a:t>Azure IoT Edge: </a:t>
            </a:r>
            <a:r>
              <a:rPr lang="ja-JP" altLang="en-US"/>
              <a:t>もう一つのエッジ接続の選択肢**</a:t>
            </a:r>
          </a:p>
          <a:p>
            <a:endParaRPr lang="ja-JP" altLang="en-US"/>
          </a:p>
          <a:p>
            <a:r>
              <a:rPr lang="ja-JP" altLang="en-US"/>
              <a:t>デバイス上でコンテナー化した処理を実行し、**</a:t>
            </a:r>
            <a:r>
              <a:rPr lang="en-US" altLang="ja-JP"/>
              <a:t>IoT Hub </a:t>
            </a:r>
            <a:r>
              <a:rPr lang="ja-JP" altLang="en-US"/>
              <a:t>へのゲートウェイ**としても利用できる。**現在もサポートされている**（</a:t>
            </a:r>
            <a:r>
              <a:rPr lang="en-US" altLang="ja-JP"/>
              <a:t>2026-09-08 </a:t>
            </a:r>
            <a:r>
              <a:rPr lang="ja-JP" altLang="en-US"/>
              <a:t>確認。本章では紹介のみ）（</a:t>
            </a:r>
            <a:r>
              <a:rPr lang="en-US" altLang="ja-JP"/>
              <a:t>[IoT Edge </a:t>
            </a:r>
            <a:r>
              <a:rPr lang="ja-JP" altLang="en-US"/>
              <a:t>の概要</a:t>
            </a:r>
            <a:r>
              <a:rPr lang="en-US" altLang="ja-JP"/>
              <a:t>](https://learn.microsoft.com/ja-jp/azure/iot-edge/about-iot-edge)</a:t>
            </a:r>
            <a:r>
              <a:rPr lang="ja-JP" altLang="en-US"/>
              <a:t>、</a:t>
            </a:r>
            <a:r>
              <a:rPr lang="en-US" altLang="ja-JP"/>
              <a:t>[</a:t>
            </a:r>
            <a:r>
              <a:rPr lang="ja-JP" altLang="en-US"/>
              <a:t>ゲートウェイ</a:t>
            </a:r>
            <a:r>
              <a:rPr lang="en-US" altLang="ja-JP"/>
              <a:t>](https://learn.microsoft.com/ja-jp/azure/iot-edge/iot-edge-as-gateway)</a:t>
            </a:r>
            <a:r>
              <a:rPr lang="ja-JP" altLang="en-US"/>
              <a:t>、</a:t>
            </a:r>
            <a:r>
              <a:rPr lang="en-US" altLang="ja-JP"/>
              <a:t>[</a:t>
            </a:r>
            <a:r>
              <a:rPr lang="ja-JP" altLang="en-US"/>
              <a:t>サポート期間</a:t>
            </a:r>
            <a:r>
              <a:rPr lang="en-US" altLang="ja-JP"/>
              <a:t>](https://learn.microsoft.com/ja-jp/azure/iot-edge/version-history)</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上半分に構成図、下半分に接続・処理の説明と注意事項を置く。オフライン条件を脚注だけに隠さない。</a:t>
            </a:r>
          </a:p>
          <a:p>
            <a:r>
              <a:rPr lang="en-US" altLang="ja-JP"/>
              <a:t>- </a:t>
            </a:r>
            <a:r>
              <a:rPr lang="ja-JP" altLang="en-US"/>
              <a:t>「工場・現場」の枠内に設備と実行基盤を配置し、クラウドとの境界を明示する。</a:t>
            </a:r>
          </a:p>
          <a:p>
            <a:r>
              <a:rPr lang="en-US" altLang="ja-JP"/>
              <a:t>- MQTT </a:t>
            </a:r>
            <a:r>
              <a:rPr lang="ja-JP" altLang="en-US"/>
              <a:t>ブローカーは「データの受け渡し」、データフローは「加工・配送」と図中で説明する。</a:t>
            </a:r>
          </a:p>
          <a:p>
            <a:r>
              <a:rPr lang="en-US" altLang="ja-JP"/>
              <a:t>- </a:t>
            </a:r>
            <a:r>
              <a:rPr lang="ja-JP" altLang="en-US"/>
              <a:t>下部の </a:t>
            </a:r>
            <a:r>
              <a:rPr lang="en-US" altLang="ja-JP"/>
              <a:t>IoT Edge </a:t>
            </a:r>
            <a:r>
              <a:rPr lang="ja-JP" altLang="en-US"/>
              <a:t>は独立した見出しと本文で示す。上の構成図と</a:t>
            </a:r>
            <a:r>
              <a:rPr lang="en-US" altLang="ja-JP"/>
              <a:t>72</a:t>
            </a:r>
            <a:r>
              <a:rPr lang="ja-JP" altLang="en-US"/>
              <a:t>時間の条件は </a:t>
            </a:r>
            <a:r>
              <a:rPr lang="en-US" altLang="ja-JP"/>
              <a:t>IoT Operations </a:t>
            </a:r>
            <a:r>
              <a:rPr lang="ja-JP" altLang="en-US"/>
              <a:t>の説明であり、</a:t>
            </a:r>
            <a:r>
              <a:rPr lang="en-US" altLang="ja-JP"/>
              <a:t>IoT Edge </a:t>
            </a:r>
            <a:r>
              <a:rPr lang="ja-JP" altLang="en-US"/>
              <a:t>に適用する図・条件ではない。</a:t>
            </a:r>
          </a:p>
          <a:p>
            <a:endParaRPr lang="ja-JP" altLang="en-US"/>
          </a:p>
          <a:p>
            <a:r>
              <a:rPr lang="en-US" altLang="ja-JP"/>
              <a:t>```mermaid</a:t>
            </a:r>
          </a:p>
          <a:p>
            <a:r>
              <a:rPr lang="en-US" altLang="ja-JP"/>
              <a:t>flowchart LR</a:t>
            </a:r>
          </a:p>
          <a:p>
            <a:r>
              <a:rPr lang="en-US" altLang="ja-JP"/>
              <a:t>    subgraph site["</a:t>
            </a:r>
            <a:r>
              <a:rPr lang="ja-JP" altLang="en-US"/>
              <a:t>工場・現場</a:t>
            </a:r>
            <a:r>
              <a:rPr lang="en-US" altLang="ja-JP"/>
              <a:t>"]</a:t>
            </a:r>
          </a:p>
          <a:p>
            <a:r>
              <a:rPr lang="en-US" altLang="ja-JP"/>
              <a:t>        equipment["</a:t>
            </a:r>
            <a:r>
              <a:rPr lang="ja-JP" altLang="en-US"/>
              <a:t>温度データを持つ設備</a:t>
            </a:r>
            <a:r>
              <a:rPr lang="en-US" altLang="ja-JP"/>
              <a:t>\nOPC UA </a:t>
            </a:r>
            <a:r>
              <a:rPr lang="ja-JP" altLang="en-US"/>
              <a:t>サーバー</a:t>
            </a:r>
            <a:r>
              <a:rPr lang="en-US" altLang="ja-JP"/>
              <a:t>"]</a:t>
            </a:r>
          </a:p>
          <a:p>
            <a:r>
              <a:rPr lang="en-US" altLang="ja-JP"/>
              <a:t>        subgraph runtime["Azure IoT Operations / Azure Arc </a:t>
            </a:r>
            <a:r>
              <a:rPr lang="ja-JP" altLang="en-US"/>
              <a:t>対応 </a:t>
            </a:r>
            <a:r>
              <a:rPr lang="en-US" altLang="ja-JP"/>
              <a:t>Kubernetes"]</a:t>
            </a:r>
          </a:p>
          <a:p>
            <a:r>
              <a:rPr lang="en-US" altLang="ja-JP"/>
              <a:t>            connector["OPC UA </a:t>
            </a:r>
            <a:r>
              <a:rPr lang="ja-JP" altLang="en-US"/>
              <a:t>用コネクタ</a:t>
            </a:r>
            <a:r>
              <a:rPr lang="en-US" altLang="ja-JP"/>
              <a:t>"]</a:t>
            </a:r>
          </a:p>
          <a:p>
            <a:r>
              <a:rPr lang="en-US" altLang="ja-JP"/>
              <a:t>            broker["MQTT </a:t>
            </a:r>
            <a:r>
              <a:rPr lang="ja-JP" altLang="en-US"/>
              <a:t>ブローカー</a:t>
            </a:r>
            <a:r>
              <a:rPr lang="en-US" altLang="ja-JP"/>
              <a:t>\n</a:t>
            </a:r>
            <a:r>
              <a:rPr lang="ja-JP" altLang="en-US"/>
              <a:t>データの受け渡し</a:t>
            </a:r>
            <a:r>
              <a:rPr lang="en-US" altLang="ja-JP"/>
              <a:t>"]</a:t>
            </a:r>
          </a:p>
          <a:p>
            <a:r>
              <a:rPr lang="en-US" altLang="ja-JP"/>
              <a:t>            dataflow["</a:t>
            </a:r>
            <a:r>
              <a:rPr lang="ja-JP" altLang="en-US"/>
              <a:t>データフロー</a:t>
            </a:r>
            <a:r>
              <a:rPr lang="en-US" altLang="ja-JP"/>
              <a:t>\n</a:t>
            </a:r>
            <a:r>
              <a:rPr lang="ja-JP" altLang="en-US"/>
              <a:t>加工・配送</a:t>
            </a:r>
            <a:r>
              <a:rPr lang="en-US" altLang="ja-JP"/>
              <a:t>"]</a:t>
            </a:r>
          </a:p>
          <a:p>
            <a:r>
              <a:rPr lang="en-US" altLang="ja-JP"/>
              <a:t>        end</a:t>
            </a:r>
          </a:p>
          <a:p>
            <a:r>
              <a:rPr lang="en-US" altLang="ja-JP"/>
              <a:t>        equipment --&gt;|"OPC UA"| connector</a:t>
            </a:r>
          </a:p>
          <a:p>
            <a:r>
              <a:rPr lang="en-US" altLang="ja-JP"/>
              <a:t>        connector --&gt; broker</a:t>
            </a:r>
          </a:p>
          <a:p>
            <a:r>
              <a:rPr lang="en-US" altLang="ja-JP"/>
              <a:t>        broker --&gt; dataflow</a:t>
            </a:r>
          </a:p>
          <a:p>
            <a:r>
              <a:rPr lang="en-US" altLang="ja-JP"/>
              <a:t>    end</a:t>
            </a:r>
          </a:p>
          <a:p>
            <a:r>
              <a:rPr lang="en-US" altLang="ja-JP"/>
              <a:t>    dataflow --&gt;|"</a:t>
            </a:r>
            <a:r>
              <a:rPr lang="ja-JP" altLang="en-US"/>
              <a:t>加工した</a:t>
            </a:r>
            <a:r>
              <a:rPr lang="en-US" altLang="ja-JP"/>
              <a:t>\n</a:t>
            </a:r>
            <a:r>
              <a:rPr lang="ja-JP" altLang="en-US"/>
              <a:t>データ</a:t>
            </a:r>
            <a:r>
              <a:rPr lang="en-US" altLang="ja-JP"/>
              <a:t>"| cloud["</a:t>
            </a:r>
            <a:r>
              <a:rPr lang="ja-JP" altLang="en-US"/>
              <a:t>クラウドの後続サービス</a:t>
            </a:r>
            <a:r>
              <a:rPr lang="en-US" altLang="ja-JP"/>
              <a:t>\n</a:t>
            </a:r>
            <a:r>
              <a:rPr lang="ja-JP" altLang="en-US"/>
              <a:t>例</a:t>
            </a:r>
            <a:r>
              <a:rPr lang="en-US" altLang="ja-JP"/>
              <a:t>: Microsoft Fabric"]</a:t>
            </a:r>
          </a:p>
          <a:p>
            <a:r>
              <a:rPr lang="en-US" altLang="ja-JP"/>
              <a:t>```</a:t>
            </a:r>
          </a:p>
          <a:p>
            <a:endParaRPr lang="en-US" altLang="ja-JP"/>
          </a:p>
          <a:p>
            <a:r>
              <a:rPr lang="ja-JP" altLang="en-US"/>
              <a:t>図は </a:t>
            </a:r>
            <a:r>
              <a:rPr lang="en-US" altLang="ja-JP"/>
              <a:t>IoT Operations </a:t>
            </a:r>
            <a:r>
              <a:rPr lang="ja-JP" altLang="en-US"/>
              <a:t>の公式概要を基にしたデータ経路の概念図。</a:t>
            </a:r>
            <a:r>
              <a:rPr lang="en-US" altLang="ja-JP"/>
              <a:t>Azure Arc </a:t>
            </a:r>
            <a:r>
              <a:rPr lang="ja-JP" altLang="en-US"/>
              <a:t>などの管理通信は省略している。階層化されたネットワークでも </a:t>
            </a:r>
            <a:r>
              <a:rPr lang="en-US" altLang="ja-JP"/>
              <a:t>Azure </a:t>
            </a:r>
            <a:r>
              <a:rPr lang="ja-JP" altLang="en-US"/>
              <a:t>への通信経路を構成するため、「設備が直接接続しない」と「現場全体が </a:t>
            </a:r>
            <a:r>
              <a:rPr lang="en-US" altLang="ja-JP"/>
              <a:t>Azure </a:t>
            </a:r>
            <a:r>
              <a:rPr lang="ja-JP" altLang="en-US"/>
              <a:t>に接続しない」は区別する（</a:t>
            </a:r>
            <a:r>
              <a:rPr lang="en-US" altLang="ja-JP"/>
              <a:t>[</a:t>
            </a:r>
            <a:r>
              <a:rPr lang="ja-JP" altLang="en-US"/>
              <a:t>階層化されたネットワーク</a:t>
            </a:r>
            <a:r>
              <a:rPr lang="en-US" altLang="ja-JP"/>
              <a:t>](https://learn.microsoft.com/ja-jp/azure/iot-operations/manage-layered-network/concept-layered-network)</a:t>
            </a:r>
            <a:r>
              <a:rPr lang="ja-JP" altLang="en-US"/>
              <a:t>）。</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a:t>
            </a:r>
            <a:r>
              <a:rPr lang="en-US" altLang="ja-JP"/>
              <a:t>15</a:t>
            </a:r>
            <a:r>
              <a:rPr lang="ja-JP" altLang="en-US"/>
              <a:t>秒。</a:t>
            </a:r>
          </a:p>
          <a:p>
            <a:r>
              <a:rPr lang="en-US" altLang="ja-JP"/>
              <a:t>- </a:t>
            </a:r>
            <a:r>
              <a:rPr lang="ja-JP" altLang="en-US"/>
              <a:t>「工場内の設備から </a:t>
            </a:r>
            <a:r>
              <a:rPr lang="en-US" altLang="ja-JP"/>
              <a:t>OPC UA </a:t>
            </a:r>
            <a:r>
              <a:rPr lang="ja-JP" altLang="en-US"/>
              <a:t>で温度を読み出す」という例に限定して説明する。すべての設備が </a:t>
            </a:r>
            <a:r>
              <a:rPr lang="en-US" altLang="ja-JP"/>
              <a:t>OPC UA </a:t>
            </a:r>
            <a:r>
              <a:rPr lang="ja-JP" altLang="en-US"/>
              <a:t>を使うという意味ではない。</a:t>
            </a:r>
          </a:p>
          <a:p>
            <a:r>
              <a:rPr lang="en-US" altLang="ja-JP"/>
              <a:t>- Kubernetes </a:t>
            </a:r>
            <a:r>
              <a:rPr lang="ja-JP" altLang="en-US"/>
              <a:t>は現場側のサービスを動かす基盤、</a:t>
            </a:r>
            <a:r>
              <a:rPr lang="en-US" altLang="ja-JP"/>
              <a:t>Azure Arc </a:t>
            </a:r>
            <a:r>
              <a:rPr lang="ja-JP" altLang="en-US"/>
              <a:t>はその環境を </a:t>
            </a:r>
            <a:r>
              <a:rPr lang="en-US" altLang="ja-JP"/>
              <a:t>Azure </a:t>
            </a:r>
            <a:r>
              <a:rPr lang="ja-JP" altLang="en-US"/>
              <a:t>から管理する仕組みとして位置づけ、構築手順には入らない。</a:t>
            </a:r>
          </a:p>
          <a:p>
            <a:r>
              <a:rPr lang="en-US" altLang="ja-JP"/>
              <a:t>- </a:t>
            </a:r>
            <a:r>
              <a:rPr lang="ja-JP" altLang="en-US"/>
              <a:t>低遅延が必要なら処理場所を現場に置く、という判断を説明する。特定の応答時間や安全制御を保証する説明にはしない。</a:t>
            </a:r>
          </a:p>
          <a:p>
            <a:r>
              <a:rPr lang="en-US" altLang="ja-JP"/>
              <a:t>- Azure Device Registry </a:t>
            </a:r>
            <a:r>
              <a:rPr lang="ja-JP" altLang="en-US"/>
              <a:t>は、設備・デバイスの情報を </a:t>
            </a:r>
            <a:r>
              <a:rPr lang="en-US" altLang="ja-JP"/>
              <a:t>Azure </a:t>
            </a:r>
            <a:r>
              <a:rPr lang="ja-JP" altLang="en-US"/>
              <a:t>リソースとして管理する役割。温度データの中継先とは分けて説明する（</a:t>
            </a:r>
            <a:r>
              <a:rPr lang="en-US" altLang="ja-JP"/>
              <a:t>[Azure IoT </a:t>
            </a:r>
            <a:r>
              <a:rPr lang="ja-JP" altLang="en-US"/>
              <a:t>サービスを選択する</a:t>
            </a:r>
            <a:r>
              <a:rPr lang="en-US" altLang="ja-JP"/>
              <a:t>](https://learn.microsoft.com/ja-jp/azure/iot/iot-services-and-technologies#azure-device-registry)</a:t>
            </a:r>
            <a:r>
              <a:rPr lang="ja-JP" altLang="en-US"/>
              <a:t>）。</a:t>
            </a:r>
          </a:p>
          <a:p>
            <a:r>
              <a:rPr lang="en-US" altLang="ja-JP"/>
              <a:t>- </a:t>
            </a:r>
            <a:r>
              <a:rPr lang="ja-JP" altLang="en-US"/>
              <a:t>次への接続</a:t>
            </a:r>
            <a:r>
              <a:rPr lang="en-US" altLang="ja-JP"/>
              <a:t>: </a:t>
            </a:r>
            <a:r>
              <a:rPr lang="ja-JP" altLang="en-US"/>
              <a:t>「全拠点を同じ方式にそろえる必要はありません。両方を使う構成もあります」。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02-04 </a:t>
            </a:r>
            <a:r>
              <a:rPr lang="ja-JP" altLang="en-US"/>
              <a:t>ハイブリッド構成と今回の対象範囲</a:t>
            </a:r>
          </a:p>
          <a:p>
            <a:r>
              <a:rPr lang="en-US" altLang="ja-JP"/>
              <a:t>Source SHA256: 6AB47C1583805FCEE1E759D313F1677D133A45E8FC27C229EFF816D56AD5C665</a:t>
            </a:r>
          </a:p>
          <a:p>
            <a:endParaRPr lang="en-US" altLang="ja-JP"/>
          </a:p>
          <a:p>
            <a:r>
              <a:rPr lang="en-US" altLang="ja-JP"/>
              <a:t>### </a:t>
            </a:r>
            <a:r>
              <a:rPr lang="ja-JP" altLang="en-US"/>
              <a:t>このページの役割</a:t>
            </a:r>
          </a:p>
          <a:p>
            <a:endParaRPr lang="ja-JP" altLang="en-US"/>
          </a:p>
          <a:p>
            <a:r>
              <a:rPr lang="ja-JP" altLang="en-US"/>
              <a:t>前の</a:t>
            </a:r>
            <a:r>
              <a:rPr lang="en-US" altLang="ja-JP"/>
              <a:t>2</a:t>
            </a:r>
            <a:r>
              <a:rPr lang="ja-JP" altLang="en-US"/>
              <a:t>ページで示した接続を一つの図で比較する。ハイブリッドを第三の製品として扱わず、要件に応じた組み合わせとして説明し、本編の対象を確定する。</a:t>
            </a:r>
          </a:p>
          <a:p>
            <a:endParaRPr lang="ja-JP" altLang="en-US"/>
          </a:p>
          <a:p>
            <a:r>
              <a:rPr lang="en-US" altLang="ja-JP"/>
              <a:t>### </a:t>
            </a:r>
            <a:r>
              <a:rPr lang="ja-JP" altLang="en-US"/>
              <a:t>投影本文</a:t>
            </a:r>
          </a:p>
          <a:p>
            <a:endParaRPr lang="ja-JP" altLang="en-US"/>
          </a:p>
          <a:p>
            <a:r>
              <a:rPr lang="ja-JP" altLang="en-US"/>
              <a:t>**ハイブリッドは、クラウド直接接続とエッジ経由接続を組み合わせる構成。** 拠点や設備の要件に合わせて使い分ける（</a:t>
            </a:r>
            <a:r>
              <a:rPr lang="en-US" altLang="ja-JP"/>
              <a:t>[Azure IoT </a:t>
            </a:r>
            <a:r>
              <a:rPr lang="ja-JP" altLang="en-US"/>
              <a:t>サービスを選択する</a:t>
            </a:r>
            <a:r>
              <a:rPr lang="en-US" altLang="ja-JP"/>
              <a:t>](https://learn.microsoft.com/ja-jp/azure/iot/iot-services-and-technologies#choose-a-solution-type)</a:t>
            </a:r>
            <a:r>
              <a:rPr lang="ja-JP" altLang="en-US"/>
              <a:t>）。</a:t>
            </a:r>
          </a:p>
          <a:p>
            <a:endParaRPr lang="ja-JP" altLang="en-US"/>
          </a:p>
          <a:p>
            <a:r>
              <a:rPr lang="en-US" altLang="ja-JP"/>
              <a:t>| </a:t>
            </a:r>
            <a:r>
              <a:rPr lang="ja-JP" altLang="en-US"/>
              <a:t>現場の要件 </a:t>
            </a:r>
            <a:r>
              <a:rPr lang="en-US" altLang="ja-JP"/>
              <a:t>| </a:t>
            </a:r>
            <a:r>
              <a:rPr lang="ja-JP" altLang="en-US"/>
              <a:t>接続パターン </a:t>
            </a:r>
            <a:r>
              <a:rPr lang="en-US" altLang="ja-JP"/>
              <a:t>| </a:t>
            </a:r>
            <a:r>
              <a:rPr lang="ja-JP" altLang="en-US"/>
              <a:t>中心となるサービス </a:t>
            </a:r>
            <a:r>
              <a:rPr lang="en-US" altLang="ja-JP"/>
              <a:t>|</a:t>
            </a:r>
          </a:p>
          <a:p>
            <a:r>
              <a:rPr lang="en-US" altLang="ja-JP"/>
              <a:t>| --- | --- | --- |</a:t>
            </a:r>
          </a:p>
          <a:p>
            <a:r>
              <a:rPr lang="en-US" altLang="ja-JP"/>
              <a:t>| </a:t>
            </a:r>
            <a:r>
              <a:rPr lang="ja-JP" altLang="en-US"/>
              <a:t>デバイスが直接クラウドへ接続できる </a:t>
            </a:r>
            <a:r>
              <a:rPr lang="en-US" altLang="ja-JP"/>
              <a:t>| </a:t>
            </a:r>
            <a:r>
              <a:rPr lang="ja-JP" altLang="en-US"/>
              <a:t>クラウド直接接続 </a:t>
            </a:r>
            <a:r>
              <a:rPr lang="en-US" altLang="ja-JP"/>
              <a:t>| Azure IoT Hub |</a:t>
            </a:r>
          </a:p>
          <a:p>
            <a:r>
              <a:rPr lang="en-US" altLang="ja-JP"/>
              <a:t>| OPC UA </a:t>
            </a:r>
            <a:r>
              <a:rPr lang="ja-JP" altLang="en-US"/>
              <a:t>などで設備に接続し、現場側で処理する </a:t>
            </a:r>
            <a:r>
              <a:rPr lang="en-US" altLang="ja-JP"/>
              <a:t>| </a:t>
            </a:r>
            <a:r>
              <a:rPr lang="ja-JP" altLang="en-US"/>
              <a:t>エッジ経由接続 </a:t>
            </a:r>
            <a:r>
              <a:rPr lang="en-US" altLang="ja-JP"/>
              <a:t>| Azure IoT Operations |</a:t>
            </a:r>
          </a:p>
          <a:p>
            <a:r>
              <a:rPr lang="en-US" altLang="ja-JP"/>
              <a:t>| </a:t>
            </a:r>
            <a:r>
              <a:rPr lang="ja-JP" altLang="en-US"/>
              <a:t>デバイス上でコンテナー処理を行い、</a:t>
            </a:r>
            <a:r>
              <a:rPr lang="en-US" altLang="ja-JP"/>
              <a:t>IoT Hub </a:t>
            </a:r>
            <a:r>
              <a:rPr lang="ja-JP" altLang="en-US"/>
              <a:t>へ接続する </a:t>
            </a:r>
            <a:r>
              <a:rPr lang="en-US" altLang="ja-JP"/>
              <a:t>| </a:t>
            </a:r>
            <a:r>
              <a:rPr lang="ja-JP" altLang="en-US"/>
              <a:t>エッジ経由接続 </a:t>
            </a:r>
            <a:r>
              <a:rPr lang="en-US" altLang="ja-JP"/>
              <a:t>| Azure IoT Edge + IoT Hub |</a:t>
            </a:r>
          </a:p>
          <a:p>
            <a:r>
              <a:rPr lang="en-US" altLang="ja-JP"/>
              <a:t>| </a:t>
            </a:r>
            <a:r>
              <a:rPr lang="ja-JP" altLang="en-US"/>
              <a:t>直接接続とエッジ経由の要件が混在する </a:t>
            </a:r>
            <a:r>
              <a:rPr lang="en-US" altLang="ja-JP"/>
              <a:t>| </a:t>
            </a:r>
            <a:r>
              <a:rPr lang="ja-JP" altLang="en-US"/>
              <a:t>ハイブリッド </a:t>
            </a:r>
            <a:r>
              <a:rPr lang="en-US" altLang="ja-JP"/>
              <a:t>| </a:t>
            </a:r>
            <a:r>
              <a:rPr lang="ja-JP" altLang="en-US"/>
              <a:t>要件に応じて組み合わせる </a:t>
            </a:r>
            <a:r>
              <a:rPr lang="en-US" altLang="ja-JP"/>
              <a:t>|</a:t>
            </a:r>
          </a:p>
          <a:p>
            <a:endParaRPr lang="en-US" altLang="ja-JP"/>
          </a:p>
          <a:p>
            <a:r>
              <a:rPr lang="ja-JP" altLang="en-US"/>
              <a:t>表は選択肢の例であり、採用を確定する選定表ではない（</a:t>
            </a:r>
            <a:r>
              <a:rPr lang="en-US" altLang="ja-JP"/>
              <a:t>[</a:t>
            </a:r>
            <a:r>
              <a:rPr lang="ja-JP" altLang="en-US"/>
              <a:t>サービスの選択</a:t>
            </a:r>
            <a:r>
              <a:rPr lang="en-US" altLang="ja-JP"/>
              <a:t>](https://learn.microsoft.com/ja-jp/azure/iot/iot-services-and-technologies)</a:t>
            </a:r>
            <a:r>
              <a:rPr lang="ja-JP" altLang="en-US"/>
              <a:t>、</a:t>
            </a:r>
            <a:r>
              <a:rPr lang="en-US" altLang="ja-JP"/>
              <a:t>[IoT Edge </a:t>
            </a:r>
            <a:r>
              <a:rPr lang="ja-JP" altLang="en-US"/>
              <a:t>の概要</a:t>
            </a:r>
            <a:r>
              <a:rPr lang="en-US" altLang="ja-JP"/>
              <a:t>](https://learn.microsoft.com/ja-jp/azure/iot-edge/about-iot-edge)</a:t>
            </a:r>
            <a:r>
              <a:rPr lang="ja-JP" altLang="en-US"/>
              <a:t>）。</a:t>
            </a:r>
          </a:p>
          <a:p>
            <a:endParaRPr lang="ja-JP" altLang="en-US"/>
          </a:p>
          <a:p>
            <a:r>
              <a:rPr lang="ja-JP" altLang="en-US"/>
              <a:t>**今回扱う範囲</a:t>
            </a:r>
            <a:r>
              <a:rPr lang="en-US" altLang="ja-JP"/>
              <a:t>: </a:t>
            </a:r>
            <a:r>
              <a:rPr lang="ja-JP" altLang="en-US"/>
              <a:t>デバイスアプリ → </a:t>
            </a:r>
            <a:r>
              <a:rPr lang="en-US" altLang="ja-JP"/>
              <a:t>IoT Hub → </a:t>
            </a:r>
            <a:r>
              <a:rPr lang="ja-JP" altLang="en-US"/>
              <a:t>データの受信・デバイス操作。**</a:t>
            </a:r>
          </a:p>
          <a:p>
            <a:endParaRPr lang="ja-JP" altLang="en-US"/>
          </a:p>
          <a:p>
            <a:r>
              <a:rPr lang="en-US" altLang="ja-JP"/>
              <a:t>### </a:t>
            </a:r>
            <a:r>
              <a:rPr lang="ja-JP" altLang="en-US"/>
              <a:t>図の構成</a:t>
            </a:r>
          </a:p>
          <a:p>
            <a:endParaRPr lang="ja-JP" altLang="en-US"/>
          </a:p>
          <a:p>
            <a:r>
              <a:rPr lang="en-US" altLang="ja-JP"/>
              <a:t>- </a:t>
            </a:r>
            <a:r>
              <a:rPr lang="ja-JP" altLang="en-US"/>
              <a:t>上半分に</a:t>
            </a:r>
            <a:r>
              <a:rPr lang="en-US" altLang="ja-JP"/>
              <a:t>2</a:t>
            </a:r>
            <a:r>
              <a:rPr lang="ja-JP" altLang="en-US"/>
              <a:t>経路、下半分に比較表と今回の対象範囲を配置する。</a:t>
            </a:r>
          </a:p>
          <a:p>
            <a:r>
              <a:rPr lang="en-US" altLang="ja-JP"/>
              <a:t>- </a:t>
            </a:r>
            <a:r>
              <a:rPr lang="ja-JP" altLang="en-US"/>
              <a:t>図は </a:t>
            </a:r>
            <a:r>
              <a:rPr lang="en-US" altLang="ja-JP"/>
              <a:t>IoT Operations </a:t>
            </a:r>
            <a:r>
              <a:rPr lang="ja-JP" altLang="en-US"/>
              <a:t>を使う併用例。表では </a:t>
            </a:r>
            <a:r>
              <a:rPr lang="en-US" altLang="ja-JP"/>
              <a:t>IoT Edge </a:t>
            </a:r>
            <a:r>
              <a:rPr lang="ja-JP" altLang="en-US"/>
              <a:t>と </a:t>
            </a:r>
            <a:r>
              <a:rPr lang="en-US" altLang="ja-JP"/>
              <a:t>IoT Hub </a:t>
            </a:r>
            <a:r>
              <a:rPr lang="ja-JP" altLang="en-US"/>
              <a:t>を使う選択肢も別行で示し、エッジ経由が </a:t>
            </a:r>
            <a:r>
              <a:rPr lang="en-US" altLang="ja-JP"/>
              <a:t>IoT Operations </a:t>
            </a:r>
            <a:r>
              <a:rPr lang="ja-JP" altLang="en-US"/>
              <a:t>だけだと誤解させない。</a:t>
            </a:r>
          </a:p>
          <a:p>
            <a:r>
              <a:rPr lang="en-US" altLang="ja-JP"/>
              <a:t>- </a:t>
            </a:r>
            <a:r>
              <a:rPr lang="ja-JP" altLang="en-US"/>
              <a:t>上段のデバイスと </a:t>
            </a:r>
            <a:r>
              <a:rPr lang="en-US" altLang="ja-JP"/>
              <a:t>IoT Hub </a:t>
            </a:r>
            <a:r>
              <a:rPr lang="ja-JP" altLang="en-US"/>
              <a:t>に「今回の対象」と明記する。下段には「構成紹介のみ」と添え、色だけで区別しない。</a:t>
            </a:r>
          </a:p>
          <a:p>
            <a:r>
              <a:rPr lang="en-US" altLang="ja-JP"/>
              <a:t>- </a:t>
            </a:r>
            <a:r>
              <a:rPr lang="ja-JP" altLang="en-US"/>
              <a:t>両経路の右端に共通の「後続の蓄積・分析・可視化」を配置する。具体的な連携設定は第</a:t>
            </a:r>
            <a:r>
              <a:rPr lang="en-US" altLang="ja-JP"/>
              <a:t>05</a:t>
            </a:r>
            <a:r>
              <a:rPr lang="ja-JP" altLang="en-US"/>
              <a:t>章以降の担当として省略する。</a:t>
            </a:r>
          </a:p>
          <a:p>
            <a:endParaRPr lang="ja-JP" altLang="en-US"/>
          </a:p>
          <a:p>
            <a:r>
              <a:rPr lang="en-US" altLang="ja-JP"/>
              <a:t>```mermaid</a:t>
            </a:r>
          </a:p>
          <a:p>
            <a:r>
              <a:rPr lang="en-US" altLang="ja-JP"/>
              <a:t>flowchart LR</a:t>
            </a:r>
          </a:p>
          <a:p>
            <a:r>
              <a:rPr lang="en-US" altLang="ja-JP"/>
              <a:t>    direct["</a:t>
            </a:r>
            <a:r>
              <a:rPr lang="ja-JP" altLang="en-US"/>
              <a:t>拠点</a:t>
            </a:r>
            <a:r>
              <a:rPr lang="en-US" altLang="ja-JP"/>
              <a:t>A: </a:t>
            </a:r>
            <a:r>
              <a:rPr lang="ja-JP" altLang="en-US"/>
              <a:t>温度センサー</a:t>
            </a:r>
            <a:r>
              <a:rPr lang="en-US" altLang="ja-JP"/>
              <a:t>\n</a:t>
            </a:r>
            <a:r>
              <a:rPr lang="ja-JP" altLang="en-US"/>
              <a:t>クラウドへ直接接続可能</a:t>
            </a:r>
            <a:r>
              <a:rPr lang="en-US" altLang="ja-JP"/>
              <a:t>"]</a:t>
            </a:r>
          </a:p>
          <a:p>
            <a:r>
              <a:rPr lang="en-US" altLang="ja-JP"/>
              <a:t>    hub["Azure IoT Hub\n</a:t>
            </a:r>
            <a:r>
              <a:rPr lang="ja-JP" altLang="en-US"/>
              <a:t>今回の対象</a:t>
            </a:r>
            <a:r>
              <a:rPr lang="en-US" altLang="ja-JP"/>
              <a:t>"]</a:t>
            </a:r>
          </a:p>
          <a:p>
            <a:r>
              <a:rPr lang="en-US" altLang="ja-JP"/>
              <a:t>    equipment["</a:t>
            </a:r>
            <a:r>
              <a:rPr lang="ja-JP" altLang="en-US"/>
              <a:t>拠点</a:t>
            </a:r>
            <a:r>
              <a:rPr lang="en-US" altLang="ja-JP"/>
              <a:t>B: </a:t>
            </a:r>
            <a:r>
              <a:rPr lang="ja-JP" altLang="en-US"/>
              <a:t>工場設備</a:t>
            </a:r>
            <a:r>
              <a:rPr lang="en-US" altLang="ja-JP"/>
              <a:t>\nOPC UA </a:t>
            </a:r>
            <a:r>
              <a:rPr lang="ja-JP" altLang="en-US"/>
              <a:t>で現場接続</a:t>
            </a:r>
            <a:r>
              <a:rPr lang="en-US" altLang="ja-JP"/>
              <a:t>"]</a:t>
            </a:r>
          </a:p>
          <a:p>
            <a:r>
              <a:rPr lang="en-US" altLang="ja-JP"/>
              <a:t>    operations["Azure IoT Operations\n</a:t>
            </a:r>
            <a:r>
              <a:rPr lang="ja-JP" altLang="en-US"/>
              <a:t>構成紹介のみ</a:t>
            </a:r>
            <a:r>
              <a:rPr lang="en-US" altLang="ja-JP"/>
              <a:t>"]</a:t>
            </a:r>
          </a:p>
          <a:p>
            <a:r>
              <a:rPr lang="en-US" altLang="ja-JP"/>
              <a:t>    downstream["</a:t>
            </a:r>
            <a:r>
              <a:rPr lang="ja-JP" altLang="en-US"/>
              <a:t>後続の蓄積・分析・可視化</a:t>
            </a:r>
            <a:r>
              <a:rPr lang="en-US" altLang="ja-JP"/>
              <a:t>\n</a:t>
            </a:r>
            <a:r>
              <a:rPr lang="ja-JP" altLang="en-US"/>
              <a:t>経路ごとの連携設定は省略</a:t>
            </a:r>
            <a:r>
              <a:rPr lang="en-US" altLang="ja-JP"/>
              <a:t>"]</a:t>
            </a:r>
          </a:p>
          <a:p>
            <a:r>
              <a:rPr lang="en-US" altLang="ja-JP"/>
              <a:t>    direct --&gt; hub</a:t>
            </a:r>
          </a:p>
          <a:p>
            <a:r>
              <a:rPr lang="en-US" altLang="ja-JP"/>
              <a:t>    equipment --&gt; operations</a:t>
            </a:r>
          </a:p>
          <a:p>
            <a:r>
              <a:rPr lang="en-US" altLang="ja-JP"/>
              <a:t>    hub --&gt; downstream</a:t>
            </a:r>
          </a:p>
          <a:p>
            <a:r>
              <a:rPr lang="en-US" altLang="ja-JP"/>
              <a:t>    operations --&gt; downstream</a:t>
            </a:r>
          </a:p>
          <a:p>
            <a:r>
              <a:rPr lang="en-US" altLang="ja-JP"/>
              <a:t>```</a:t>
            </a:r>
          </a:p>
          <a:p>
            <a:endParaRPr lang="en-US" altLang="ja-JP"/>
          </a:p>
          <a:p>
            <a:r>
              <a:rPr lang="ja-JP" altLang="en-US"/>
              <a:t>図は説明用のハイブリッド構成例。</a:t>
            </a:r>
            <a:r>
              <a:rPr lang="en-US" altLang="ja-JP"/>
              <a:t>IoT Operations </a:t>
            </a:r>
            <a:r>
              <a:rPr lang="ja-JP" altLang="en-US"/>
              <a:t>の後続に必ず </a:t>
            </a:r>
            <a:r>
              <a:rPr lang="en-US" altLang="ja-JP"/>
              <a:t>IoT Hub </a:t>
            </a:r>
            <a:r>
              <a:rPr lang="ja-JP" altLang="en-US"/>
              <a:t>を置く、という直列構成ではない。</a:t>
            </a:r>
            <a:r>
              <a:rPr lang="en-US" altLang="ja-JP"/>
              <a:t>IoT Operations </a:t>
            </a:r>
            <a:r>
              <a:rPr lang="ja-JP" altLang="en-US"/>
              <a:t>はデータフローから </a:t>
            </a:r>
            <a:r>
              <a:rPr lang="en-US" altLang="ja-JP"/>
              <a:t>Microsoft Fabric </a:t>
            </a:r>
            <a:r>
              <a:rPr lang="ja-JP" altLang="en-US"/>
              <a:t>などのクラウドエンドポイントへ接続できる（</a:t>
            </a:r>
            <a:r>
              <a:rPr lang="en-US" altLang="ja-JP"/>
              <a:t>[Azure IoT Operations </a:t>
            </a:r>
            <a:r>
              <a:rPr lang="ja-JP" altLang="en-US"/>
              <a:t>とは</a:t>
            </a:r>
            <a:r>
              <a:rPr lang="en-US" altLang="ja-JP"/>
              <a:t>](https://learn.microsoft.com/ja-jp/azure/iot-operations/overview-iot-operations#connect-to-the-cloud)</a:t>
            </a:r>
            <a:r>
              <a:rPr lang="ja-JP" altLang="en-US"/>
              <a:t>）。</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分。比較と図を約</a:t>
            </a:r>
            <a:r>
              <a:rPr lang="en-US" altLang="ja-JP"/>
              <a:t>1</a:t>
            </a:r>
            <a:r>
              <a:rPr lang="ja-JP" altLang="en-US"/>
              <a:t>分、理解度確認を約</a:t>
            </a:r>
            <a:r>
              <a:rPr lang="en-US" altLang="ja-JP"/>
              <a:t>30</a:t>
            </a:r>
            <a:r>
              <a:rPr lang="ja-JP" altLang="en-US"/>
              <a:t>秒、次章への接続を約</a:t>
            </a:r>
            <a:r>
              <a:rPr lang="en-US" altLang="ja-JP"/>
              <a:t>30</a:t>
            </a:r>
            <a:r>
              <a:rPr lang="ja-JP" altLang="en-US"/>
              <a:t>秒で説明する。</a:t>
            </a:r>
          </a:p>
          <a:p>
            <a:r>
              <a:rPr lang="en-US" altLang="ja-JP"/>
              <a:t>- </a:t>
            </a:r>
            <a:r>
              <a:rPr lang="ja-JP" altLang="en-US"/>
              <a:t>結論</a:t>
            </a:r>
            <a:r>
              <a:rPr lang="en-US" altLang="ja-JP"/>
              <a:t>: </a:t>
            </a:r>
            <a:r>
              <a:rPr lang="ja-JP" altLang="en-US"/>
              <a:t>「直接接続かエッジ経由かを要件から考えます。エッジ経由には </a:t>
            </a:r>
            <a:r>
              <a:rPr lang="en-US" altLang="ja-JP"/>
              <a:t>IoT Operations </a:t>
            </a:r>
            <a:r>
              <a:rPr lang="ja-JP" altLang="en-US"/>
              <a:t>のほか、</a:t>
            </a:r>
            <a:r>
              <a:rPr lang="en-US" altLang="ja-JP"/>
              <a:t>IoT Edge </a:t>
            </a:r>
            <a:r>
              <a:rPr lang="ja-JP" altLang="en-US"/>
              <a:t>と </a:t>
            </a:r>
            <a:r>
              <a:rPr lang="en-US" altLang="ja-JP"/>
              <a:t>IoT Hub </a:t>
            </a:r>
            <a:r>
              <a:rPr lang="ja-JP" altLang="en-US"/>
              <a:t>を使う選択肢もあります」。</a:t>
            </a:r>
          </a:p>
          <a:p>
            <a:r>
              <a:rPr lang="en-US" altLang="ja-JP"/>
              <a:t>- </a:t>
            </a:r>
            <a:r>
              <a:rPr lang="ja-JP" altLang="en-US"/>
              <a:t>蓄積・分析・可視化の要件は接続方式と別の検討軸。</a:t>
            </a:r>
            <a:r>
              <a:rPr lang="en-US" altLang="ja-JP"/>
              <a:t>Azure Device Registry </a:t>
            </a:r>
            <a:r>
              <a:rPr lang="ja-JP" altLang="en-US"/>
              <a:t>の管理の役割と、</a:t>
            </a:r>
            <a:r>
              <a:rPr lang="en-US" altLang="ja-JP"/>
              <a:t>Microsoft Fabric </a:t>
            </a:r>
            <a:r>
              <a:rPr lang="ja-JP" altLang="en-US"/>
              <a:t>などのデータ活用の役割を混同しない（</a:t>
            </a:r>
            <a:r>
              <a:rPr lang="en-US" altLang="ja-JP"/>
              <a:t>[Azure IoT </a:t>
            </a:r>
            <a:r>
              <a:rPr lang="ja-JP" altLang="en-US"/>
              <a:t>とは</a:t>
            </a:r>
            <a:r>
              <a:rPr lang="en-US" altLang="ja-JP"/>
              <a:t>](https://learn.microsoft.com/ja-jp/azure/iot/iot-introduction#services-and-applications)</a:t>
            </a:r>
            <a:r>
              <a:rPr lang="ja-JP" altLang="en-US"/>
              <a:t>）。</a:t>
            </a:r>
          </a:p>
          <a:p>
            <a:r>
              <a:rPr lang="en-US" altLang="ja-JP"/>
              <a:t>- </a:t>
            </a:r>
            <a:r>
              <a:rPr lang="ja-JP" altLang="en-US"/>
              <a:t>理解度確認</a:t>
            </a:r>
            <a:r>
              <a:rPr lang="en-US" altLang="ja-JP"/>
              <a:t>: </a:t>
            </a:r>
            <a:r>
              <a:rPr lang="ja-JP" altLang="en-US"/>
              <a:t>「工場設備は </a:t>
            </a:r>
            <a:r>
              <a:rPr lang="en-US" altLang="ja-JP"/>
              <a:t>OPC UA</a:t>
            </a:r>
            <a:r>
              <a:rPr lang="ja-JP" altLang="en-US"/>
              <a:t>、別拠点のセンサーは直接クラウドに接続できます。すべてを同じ方式にする必要がありますか？」</a:t>
            </a:r>
          </a:p>
          <a:p>
            <a:r>
              <a:rPr lang="en-US" altLang="ja-JP"/>
              <a:t>- </a:t>
            </a:r>
            <a:r>
              <a:rPr lang="ja-JP" altLang="en-US"/>
              <a:t>想定回答</a:t>
            </a:r>
            <a:r>
              <a:rPr lang="en-US" altLang="ja-JP"/>
              <a:t>: </a:t>
            </a:r>
            <a:r>
              <a:rPr lang="ja-JP" altLang="en-US"/>
              <a:t>「ありません。工場設備は </a:t>
            </a:r>
            <a:r>
              <a:rPr lang="en-US" altLang="ja-JP"/>
              <a:t>IoT Operations</a:t>
            </a:r>
            <a:r>
              <a:rPr lang="ja-JP" altLang="en-US"/>
              <a:t>、直接接続のセンサーは </a:t>
            </a:r>
            <a:r>
              <a:rPr lang="en-US" altLang="ja-JP"/>
              <a:t>IoT Hub </a:t>
            </a:r>
            <a:r>
              <a:rPr lang="ja-JP" altLang="en-US"/>
              <a:t>を中心に、ハイブリッド構成を検討できます」。</a:t>
            </a:r>
          </a:p>
          <a:p>
            <a:r>
              <a:rPr lang="en-US" altLang="ja-JP"/>
              <a:t>- </a:t>
            </a:r>
            <a:r>
              <a:rPr lang="ja-JP" altLang="en-US"/>
              <a:t>次章への接続</a:t>
            </a:r>
            <a:r>
              <a:rPr lang="en-US" altLang="ja-JP"/>
              <a:t>: </a:t>
            </a:r>
            <a:r>
              <a:rPr lang="ja-JP" altLang="en-US"/>
              <a:t>「ここからは上段に絞り、</a:t>
            </a:r>
            <a:r>
              <a:rPr lang="en-US" altLang="ja-JP"/>
              <a:t>IoT Hub </a:t>
            </a:r>
            <a:r>
              <a:rPr lang="ja-JP" altLang="en-US"/>
              <a:t>に接続するデバイスアプリと、受信・操作するバックエンドの役割を見ていきます」。</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9597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64894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2629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8192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3014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878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8281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5032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5341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285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858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6047907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earn.microsoft.com/ja-jp/azure/iot/iot-introduction"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learn.microsoft.com/ja-jp/azure/iot-edge/about-iot-edge" TargetMode="External"/></Relationships>
</file>

<file path=ppt/slides/_rels/slide2.xml.rels><?xml version="1.0" encoding="UTF-8" standalone="yes"?>
<Relationships xmlns="http://schemas.openxmlformats.org/package/2006/relationships"><Relationship Id="rId8" Type="http://schemas.openxmlformats.org/officeDocument/2006/relationships/hyperlink" Target="https://learn.microsoft.com/ja-jp/azure/iot/iot-introduction#services-and-applications" TargetMode="External"/><Relationship Id="rId3" Type="http://schemas.openxmlformats.org/officeDocument/2006/relationships/tags" Target="../tags/tag3.xml"/><Relationship Id="rId7" Type="http://schemas.openxmlformats.org/officeDocument/2006/relationships/hyperlink" Target="https://learn.microsoft.com/ja-jp/azure/iot/iot-introduction#cloud-connected-pattern" TargetMode="Externa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hyperlink" Target="https://learn.microsoft.com/ja-jp/azure/iot/iot-services-and-technologies#azure-iot-hub" TargetMode="External"/><Relationship Id="rId5" Type="http://schemas.openxmlformats.org/officeDocument/2006/relationships/notesSlide" Target="../notesSlides/notesSlide2.xml"/><Relationship Id="rId4"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hyperlink" Target="https://learn.microsoft.com/ja-jp/azure/iot-operations/discover-manage-assets/overview-opc-ua-connector" TargetMode="External"/><Relationship Id="rId13" Type="http://schemas.openxmlformats.org/officeDocument/2006/relationships/hyperlink" Target="https://learn.microsoft.com/ja-jp/azure/iot-edge/version-history" TargetMode="External"/><Relationship Id="rId3" Type="http://schemas.openxmlformats.org/officeDocument/2006/relationships/tags" Target="../tags/tag6.xml"/><Relationship Id="rId7" Type="http://schemas.openxmlformats.org/officeDocument/2006/relationships/notesSlide" Target="../notesSlides/notesSlide3.xml"/><Relationship Id="rId12" Type="http://schemas.openxmlformats.org/officeDocument/2006/relationships/hyperlink" Target="https://learn.microsoft.com/ja-jp/azure/iot-edge/about-iot-edge" TargetMode="Externa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Layout" Target="../slideLayouts/slideLayout7.xml"/><Relationship Id="rId11" Type="http://schemas.openxmlformats.org/officeDocument/2006/relationships/hyperlink" Target="https://learn.microsoft.com/ja-jp/azure/iot-edge/iot-edge-as-gateway" TargetMode="External"/><Relationship Id="rId5" Type="http://schemas.openxmlformats.org/officeDocument/2006/relationships/tags" Target="../tags/tag8.xml"/><Relationship Id="rId10" Type="http://schemas.openxmlformats.org/officeDocument/2006/relationships/hyperlink" Target="https://learn.microsoft.com/ja-jp/azure/iot/iot-introduction#edge-connected-pattern" TargetMode="External"/><Relationship Id="rId4" Type="http://schemas.openxmlformats.org/officeDocument/2006/relationships/tags" Target="../tags/tag7.xml"/><Relationship Id="rId9" Type="http://schemas.openxmlformats.org/officeDocument/2006/relationships/hyperlink" Target="https://learn.microsoft.com/ja-jp/azure/iot-operations/overview-iot-operation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ja-jp/azure/iot/iot-services-and-technologies#choose-a-solution-type"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hyperlink" Target="https://learn.microsoft.com/ja-jp/azure/iot-edge/about-iot-edge" TargetMode="External"/><Relationship Id="rId4" Type="http://schemas.openxmlformats.org/officeDocument/2006/relationships/hyperlink" Target="https://learn.microsoft.com/ja-jp/azure/iot/iot-services-and-technologi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接続パターンを決める</a:t>
            </a: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3</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つの要件</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1</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48" name="source:lead">
            <a:extLst>
              <a:ext uri="{FF2B5EF4-FFF2-40B4-BE49-F238E27FC236}">
                <a16:creationId xmlns:a16="http://schemas.microsoft.com/office/drawing/2014/main" id="{3FEE175D-7D0E-9702-ED31-EF31F47D1B2C}"/>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同じ温度データでも、現場の条件によって接続先が変わる。</a:t>
            </a:r>
            <a:endParaRPr lang="en-US" sz="1400" b="1">
              <a:solidFill>
                <a:srgbClr val="566473"/>
              </a:solidFill>
              <a:latin typeface="Yu Gothic UI" panose="020B0500000000000000" pitchFamily="34" charset="-128"/>
              <a:ea typeface="Yu Gothic UI" panose="020B0500000000000000" pitchFamily="34" charset="-128"/>
            </a:endParaRPr>
          </a:p>
        </p:txBody>
      </p:sp>
      <p:graphicFrame>
        <p:nvGraphicFramePr>
          <p:cNvPr id="49" name="source:table">
            <a:extLst>
              <a:ext uri="{FF2B5EF4-FFF2-40B4-BE49-F238E27FC236}">
                <a16:creationId xmlns:a16="http://schemas.microsoft.com/office/drawing/2014/main" id="{3B28D2FE-CAC6-C6C1-1DCD-F02E0A1CF29B}"/>
              </a:ext>
            </a:extLst>
          </p:cNvPr>
          <p:cNvGraphicFramePr>
            <a:graphicFrameLocks noGrp="1"/>
          </p:cNvGraphicFramePr>
          <p:nvPr>
            <p:extLst>
              <p:ext uri="{D42A27DB-BD31-4B8C-83A1-F6EECF244321}">
                <p14:modId xmlns:p14="http://schemas.microsoft.com/office/powerpoint/2010/main" val="2277465855"/>
              </p:ext>
            </p:extLst>
          </p:nvPr>
        </p:nvGraphicFramePr>
        <p:xfrm>
          <a:off x="584200" y="1689100"/>
          <a:ext cx="5080000" cy="2984500"/>
        </p:xfrm>
        <a:graphic>
          <a:graphicData uri="http://schemas.openxmlformats.org/drawingml/2006/table">
            <a:tbl>
              <a:tblPr firstRow="1" bandRow="1">
                <a:tableStyleId>{5C22544A-7EE6-4342-B048-85BDC9FD1C3A}</a:tableStyleId>
              </a:tblPr>
              <a:tblGrid>
                <a:gridCol w="1206500">
                  <a:extLst>
                    <a:ext uri="{9D8B030D-6E8A-4147-A177-3AD203B41FA5}">
                      <a16:colId xmlns:a16="http://schemas.microsoft.com/office/drawing/2014/main" val="2266829967"/>
                    </a:ext>
                  </a:extLst>
                </a:gridCol>
                <a:gridCol w="3873500">
                  <a:extLst>
                    <a:ext uri="{9D8B030D-6E8A-4147-A177-3AD203B41FA5}">
                      <a16:colId xmlns:a16="http://schemas.microsoft.com/office/drawing/2014/main" val="3916421426"/>
                    </a:ext>
                  </a:extLst>
                </a:gridCol>
              </a:tblGrid>
              <a:tr h="3937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確認する要件</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具体的な問い</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3396905483"/>
                  </a:ext>
                </a:extLst>
              </a:tr>
              <a:tr h="8636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通信方式</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300" b="0">
                          <a:solidFill>
                            <a:srgbClr val="0B2430"/>
                          </a:solidFill>
                          <a:latin typeface="Yu Gothic UI" panose="020B0500000000000000" pitchFamily="34" charset="-128"/>
                          <a:ea typeface="Yu Gothic UI" panose="020B0500000000000000" pitchFamily="34" charset="-128"/>
                        </a:rPr>
                        <a:t>デバイスはクラウド向けに通信できるか。設備との通信に </a:t>
                      </a:r>
                      <a:r>
                        <a:rPr lang="en-US" altLang="ja-JP" sz="1300" b="0">
                          <a:solidFill>
                            <a:srgbClr val="0B2430"/>
                          </a:solidFill>
                          <a:latin typeface="Yu Gothic UI" panose="020B0500000000000000" pitchFamily="34" charset="-128"/>
                          <a:ea typeface="Yu Gothic UI" panose="020B0500000000000000" pitchFamily="34" charset="-128"/>
                        </a:rPr>
                        <a:t>OPC UA </a:t>
                      </a:r>
                      <a:r>
                        <a:rPr lang="ja-JP" altLang="en-US" sz="1300" b="0">
                          <a:solidFill>
                            <a:srgbClr val="0B2430"/>
                          </a:solidFill>
                          <a:latin typeface="Yu Gothic UI" panose="020B0500000000000000" pitchFamily="34" charset="-128"/>
                          <a:ea typeface="Yu Gothic UI" panose="020B0500000000000000" pitchFamily="34" charset="-128"/>
                        </a:rPr>
                        <a:t>などを使うか。</a:t>
                      </a:r>
                      <a:endParaRPr lang="en-US" sz="130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4034190820"/>
                  </a:ext>
                </a:extLst>
              </a:tr>
              <a:tr h="8636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ネットワーク</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300" b="0">
                          <a:solidFill>
                            <a:srgbClr val="0B2430"/>
                          </a:solidFill>
                          <a:latin typeface="Yu Gothic UI" panose="020B0500000000000000" pitchFamily="34" charset="-128"/>
                          <a:ea typeface="Yu Gothic UI" panose="020B0500000000000000" pitchFamily="34" charset="-128"/>
                        </a:rPr>
                        <a:t>デバイスからクラウドへの接続を許可できるか。現場のネットワーク内に限定する必要があるか。</a:t>
                      </a:r>
                      <a:endParaRPr lang="en-US" sz="130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313620063"/>
                  </a:ext>
                </a:extLst>
              </a:tr>
              <a:tr h="8636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処理する場所</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300" b="0">
                          <a:solidFill>
                            <a:srgbClr val="0B2430"/>
                          </a:solidFill>
                          <a:latin typeface="Yu Gothic UI" panose="020B0500000000000000" pitchFamily="34" charset="-128"/>
                          <a:ea typeface="Yu Gothic UI" panose="020B0500000000000000" pitchFamily="34" charset="-128"/>
                        </a:rPr>
                        <a:t>クラウドで処理できるか。通信遅延や切断に備えて、現場側で処理する必要があるか。</a:t>
                      </a:r>
                      <a:endParaRPr lang="en-US" sz="130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96051714"/>
                  </a:ext>
                </a:extLst>
              </a:tr>
            </a:tbl>
          </a:graphicData>
        </a:graphic>
      </p:graphicFrame>
      <p:sp>
        <p:nvSpPr>
          <p:cNvPr id="50" name="node:requirements">
            <a:extLst>
              <a:ext uri="{FF2B5EF4-FFF2-40B4-BE49-F238E27FC236}">
                <a16:creationId xmlns:a16="http://schemas.microsoft.com/office/drawing/2014/main" id="{114A7EAE-698D-30EE-72CE-4C292DCD82B0}"/>
              </a:ext>
            </a:extLst>
          </p:cNvPr>
          <p:cNvSpPr/>
          <p:nvPr/>
        </p:nvSpPr>
        <p:spPr>
          <a:xfrm>
            <a:off x="5854700" y="2933700"/>
            <a:ext cx="1828800" cy="8382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通信・ネットワーク・処理場所の要件</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51" name="node:cloud">
            <a:extLst>
              <a:ext uri="{FF2B5EF4-FFF2-40B4-BE49-F238E27FC236}">
                <a16:creationId xmlns:a16="http://schemas.microsoft.com/office/drawing/2014/main" id="{700996C6-7D27-BAE8-E8A6-6E738D999B89}"/>
              </a:ext>
            </a:extLst>
          </p:cNvPr>
          <p:cNvSpPr/>
          <p:nvPr/>
        </p:nvSpPr>
        <p:spPr>
          <a:xfrm>
            <a:off x="9055100" y="1955800"/>
            <a:ext cx="2540000" cy="812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クラウド直接接続</a:t>
            </a:r>
          </a:p>
          <a:p>
            <a:pPr algn="ctr"/>
            <a:r>
              <a:rPr lang="en-US" altLang="ja-JP" sz="1300">
                <a:solidFill>
                  <a:srgbClr val="0B2430"/>
                </a:solidFill>
                <a:latin typeface="Yu Gothic UI" panose="020B0500000000000000" pitchFamily="34" charset="-128"/>
                <a:ea typeface="Yu Gothic UI" panose="020B0500000000000000" pitchFamily="34" charset="-128"/>
              </a:rPr>
              <a:t>Azure IoT Hub</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52" name="node:edge">
            <a:extLst>
              <a:ext uri="{FF2B5EF4-FFF2-40B4-BE49-F238E27FC236}">
                <a16:creationId xmlns:a16="http://schemas.microsoft.com/office/drawing/2014/main" id="{5FF98A93-B99B-BDF5-E4BD-5133DC1E644D}"/>
              </a:ext>
            </a:extLst>
          </p:cNvPr>
          <p:cNvSpPr/>
          <p:nvPr/>
        </p:nvSpPr>
        <p:spPr>
          <a:xfrm>
            <a:off x="9055100" y="4013200"/>
            <a:ext cx="2540000" cy="1066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エッジ経由接続</a:t>
            </a:r>
          </a:p>
          <a:p>
            <a:pPr algn="ctr"/>
            <a:r>
              <a:rPr lang="en-US" sz="1300">
                <a:solidFill>
                  <a:srgbClr val="0B2430"/>
                </a:solidFill>
                <a:latin typeface="Yu Gothic UI" panose="020B0500000000000000" pitchFamily="34" charset="-128"/>
                <a:ea typeface="Yu Gothic UI" panose="020B0500000000000000" pitchFamily="34" charset="-128"/>
              </a:rPr>
              <a:t>Azure IoT Operations</a:t>
            </a:r>
          </a:p>
          <a:p>
            <a:pPr algn="ctr"/>
            <a:r>
              <a:rPr lang="en-US" sz="1300">
                <a:solidFill>
                  <a:srgbClr val="0B2430"/>
                </a:solidFill>
                <a:latin typeface="Yu Gothic UI" panose="020B0500000000000000" pitchFamily="34" charset="-128"/>
                <a:ea typeface="Yu Gothic UI" panose="020B0500000000000000" pitchFamily="34" charset="-128"/>
              </a:rPr>
              <a:t>Azure IoT Edge</a:t>
            </a:r>
          </a:p>
        </p:txBody>
      </p:sp>
      <p:cxnSp>
        <p:nvCxnSpPr>
          <p:cNvPr id="53" name="edge:requirements:cloud">
            <a:extLst>
              <a:ext uri="{FF2B5EF4-FFF2-40B4-BE49-F238E27FC236}">
                <a16:creationId xmlns:a16="http://schemas.microsoft.com/office/drawing/2014/main" id="{C398666D-2ED3-A4C9-0DC5-E817F363076A}"/>
              </a:ext>
            </a:extLst>
          </p:cNvPr>
          <p:cNvCxnSpPr>
            <a:cxnSpLocks/>
            <a:stCxn id="50" idx="3"/>
            <a:endCxn id="51" idx="1"/>
          </p:cNvCxnSpPr>
          <p:nvPr/>
        </p:nvCxnSpPr>
        <p:spPr>
          <a:xfrm flipV="1">
            <a:off x="7683500" y="2362200"/>
            <a:ext cx="1371600" cy="9906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54" name="edge-label:requirements:cloud">
            <a:extLst>
              <a:ext uri="{FF2B5EF4-FFF2-40B4-BE49-F238E27FC236}">
                <a16:creationId xmlns:a16="http://schemas.microsoft.com/office/drawing/2014/main" id="{03729C8F-DA73-7FBA-2015-B91190AEAAF7}"/>
              </a:ext>
            </a:extLst>
          </p:cNvPr>
          <p:cNvSpPr txBox="1"/>
          <p:nvPr/>
        </p:nvSpPr>
        <p:spPr>
          <a:xfrm>
            <a:off x="7759700" y="1803400"/>
            <a:ext cx="1219200" cy="5334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直接接続でき、</a:t>
            </a:r>
          </a:p>
          <a:p>
            <a:pPr algn="ctr"/>
            <a:r>
              <a:rPr lang="ja-JP" altLang="en-US" sz="1100">
                <a:solidFill>
                  <a:srgbClr val="566473"/>
                </a:solidFill>
                <a:latin typeface="Yu Gothic UI" panose="020B0500000000000000" pitchFamily="34" charset="-128"/>
                <a:ea typeface="Yu Gothic UI" panose="020B0500000000000000" pitchFamily="34" charset="-128"/>
              </a:rPr>
              <a:t>クラウド側で処理</a:t>
            </a:r>
            <a:endParaRPr lang="en-US" sz="1100">
              <a:solidFill>
                <a:srgbClr val="566473"/>
              </a:solidFill>
              <a:latin typeface="Yu Gothic UI" panose="020B0500000000000000" pitchFamily="34" charset="-128"/>
              <a:ea typeface="Yu Gothic UI" panose="020B0500000000000000" pitchFamily="34" charset="-128"/>
            </a:endParaRPr>
          </a:p>
        </p:txBody>
      </p:sp>
      <p:cxnSp>
        <p:nvCxnSpPr>
          <p:cNvPr id="55" name="edge:requirements:edge">
            <a:extLst>
              <a:ext uri="{FF2B5EF4-FFF2-40B4-BE49-F238E27FC236}">
                <a16:creationId xmlns:a16="http://schemas.microsoft.com/office/drawing/2014/main" id="{A557A578-1C04-2EC7-429F-4F37AF01D15B}"/>
              </a:ext>
            </a:extLst>
          </p:cNvPr>
          <p:cNvCxnSpPr>
            <a:cxnSpLocks/>
            <a:stCxn id="50" idx="3"/>
            <a:endCxn id="52" idx="1"/>
          </p:cNvCxnSpPr>
          <p:nvPr/>
        </p:nvCxnSpPr>
        <p:spPr>
          <a:xfrm>
            <a:off x="7683500" y="3352800"/>
            <a:ext cx="1371600" cy="11938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56" name="edge-label:requirements:edge">
            <a:extLst>
              <a:ext uri="{FF2B5EF4-FFF2-40B4-BE49-F238E27FC236}">
                <a16:creationId xmlns:a16="http://schemas.microsoft.com/office/drawing/2014/main" id="{ED2AA5FF-CAFD-C6A1-6639-4CE6A17D736D}"/>
              </a:ext>
            </a:extLst>
          </p:cNvPr>
          <p:cNvSpPr txBox="1"/>
          <p:nvPr/>
        </p:nvSpPr>
        <p:spPr>
          <a:xfrm>
            <a:off x="7759700" y="4660900"/>
            <a:ext cx="1219200" cy="5588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現場で接続・</a:t>
            </a:r>
          </a:p>
          <a:p>
            <a:pPr algn="ctr"/>
            <a:r>
              <a:rPr lang="ja-JP" altLang="en-US" sz="1100">
                <a:solidFill>
                  <a:srgbClr val="566473"/>
                </a:solidFill>
                <a:latin typeface="Yu Gothic UI" panose="020B0500000000000000" pitchFamily="34" charset="-128"/>
                <a:ea typeface="Yu Gothic UI" panose="020B0500000000000000" pitchFamily="34" charset="-128"/>
              </a:rPr>
              <a:t>処理する必要</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57" name="source:body:1">
            <a:extLst>
              <a:ext uri="{FF2B5EF4-FFF2-40B4-BE49-F238E27FC236}">
                <a16:creationId xmlns:a16="http://schemas.microsoft.com/office/drawing/2014/main" id="{6367A93D-6586-6902-58DC-7759B1F17050}"/>
              </a:ext>
            </a:extLst>
          </p:cNvPr>
          <p:cNvSpPr txBox="1"/>
          <p:nvPr/>
        </p:nvSpPr>
        <p:spPr>
          <a:xfrm>
            <a:off x="584200" y="5461000"/>
            <a:ext cx="11023600" cy="5969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クラウド直接接続では </a:t>
            </a:r>
            <a:r>
              <a:rPr lang="en-US" sz="1400" b="1">
                <a:solidFill>
                  <a:srgbClr val="0B2430"/>
                </a:solidFill>
                <a:latin typeface="Yu Gothic UI" panose="020B0500000000000000" pitchFamily="34" charset="-128"/>
                <a:ea typeface="Yu Gothic UI" panose="020B0500000000000000" pitchFamily="34" charset="-128"/>
              </a:rPr>
              <a:t>Azure IoT Hub</a:t>
            </a:r>
            <a:r>
              <a:rPr lang="en-US" sz="1400">
                <a:solidFill>
                  <a:srgbClr val="0B2430"/>
                </a:solidFill>
                <a:latin typeface="Yu Gothic UI" panose="020B0500000000000000" pitchFamily="34" charset="-128"/>
                <a:ea typeface="Yu Gothic UI" panose="020B0500000000000000" pitchFamily="34" charset="-128"/>
              </a:rPr>
              <a:t>、</a:t>
            </a:r>
            <a:r>
              <a:rPr lang="ja-JP" altLang="en-US" sz="1400">
                <a:solidFill>
                  <a:srgbClr val="0B2430"/>
                </a:solidFill>
                <a:latin typeface="Yu Gothic UI" panose="020B0500000000000000" pitchFamily="34" charset="-128"/>
                <a:ea typeface="Yu Gothic UI" panose="020B0500000000000000" pitchFamily="34" charset="-128"/>
              </a:rPr>
              <a:t>エッジ経由接続では </a:t>
            </a:r>
            <a:r>
              <a:rPr lang="en-US" sz="1400" b="1">
                <a:solidFill>
                  <a:srgbClr val="0B2430"/>
                </a:solidFill>
                <a:latin typeface="Yu Gothic UI" panose="020B0500000000000000" pitchFamily="34" charset="-128"/>
                <a:ea typeface="Yu Gothic UI" panose="020B0500000000000000" pitchFamily="34" charset="-128"/>
              </a:rPr>
              <a:t>Azure IoT Operations</a:t>
            </a:r>
            <a:r>
              <a:rPr lang="en-US" sz="1400">
                <a:solidFill>
                  <a:srgbClr val="0B2430"/>
                </a:solidFill>
                <a:latin typeface="Yu Gothic UI" panose="020B0500000000000000" pitchFamily="34" charset="-128"/>
                <a:ea typeface="Yu Gothic UI" panose="020B0500000000000000" pitchFamily="34" charset="-128"/>
              </a:rPr>
              <a:t> </a:t>
            </a:r>
            <a:r>
              <a:rPr lang="ja-JP" altLang="en-US" sz="1400">
                <a:solidFill>
                  <a:srgbClr val="0B2430"/>
                </a:solidFill>
                <a:latin typeface="Yu Gothic UI" panose="020B0500000000000000" pitchFamily="34" charset="-128"/>
                <a:ea typeface="Yu Gothic UI" panose="020B0500000000000000" pitchFamily="34" charset="-128"/>
              </a:rPr>
              <a:t>や </a:t>
            </a:r>
            <a:r>
              <a:rPr lang="en-US" sz="1400" b="1">
                <a:solidFill>
                  <a:srgbClr val="0B2430"/>
                </a:solidFill>
                <a:latin typeface="Yu Gothic UI" panose="020B0500000000000000" pitchFamily="34" charset="-128"/>
                <a:ea typeface="Yu Gothic UI" panose="020B0500000000000000" pitchFamily="34" charset="-128"/>
              </a:rPr>
              <a:t>Azure IoT Edge</a:t>
            </a:r>
            <a:r>
              <a:rPr lang="en-US" sz="1400">
                <a:solidFill>
                  <a:srgbClr val="0B2430"/>
                </a:solidFill>
                <a:latin typeface="Yu Gothic UI" panose="020B0500000000000000" pitchFamily="34" charset="-128"/>
                <a:ea typeface="Yu Gothic UI" panose="020B0500000000000000" pitchFamily="34" charset="-128"/>
              </a:rPr>
              <a:t> </a:t>
            </a:r>
            <a:r>
              <a:rPr lang="ja-JP" altLang="en-US" sz="1400">
                <a:solidFill>
                  <a:srgbClr val="0B2430"/>
                </a:solidFill>
                <a:latin typeface="Yu Gothic UI" panose="020B0500000000000000" pitchFamily="34" charset="-128"/>
                <a:ea typeface="Yu Gothic UI" panose="020B0500000000000000" pitchFamily="34" charset="-128"/>
              </a:rPr>
              <a:t>を検討する（</a:t>
            </a:r>
            <a:r>
              <a:rPr lang="en-US" sz="1000">
                <a:solidFill>
                  <a:srgbClr val="0000FF"/>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とは</a:t>
            </a:r>
            <a:r>
              <a:rPr lang="ja-JP" altLang="en-US" sz="1400">
                <a:solidFill>
                  <a:srgbClr val="0B2430"/>
                </a:solidFill>
                <a:latin typeface="Yu Gothic UI" panose="020B0500000000000000" pitchFamily="34" charset="-128"/>
                <a:ea typeface="Yu Gothic UI" panose="020B0500000000000000" pitchFamily="34" charset="-128"/>
              </a:rPr>
              <a:t>、</a:t>
            </a:r>
            <a:r>
              <a:rPr lang="en-US" sz="1000">
                <a:solidFill>
                  <a:srgbClr val="0000FF"/>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IoT Edge </a:t>
            </a:r>
            <a:r>
              <a:rPr lang="ja-JP" altLang="en-US" sz="1000">
                <a:solidFill>
                  <a:srgbClr val="566473"/>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の概要</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58" name="source:conclusion">
            <a:extLst>
              <a:ext uri="{FF2B5EF4-FFF2-40B4-BE49-F238E27FC236}">
                <a16:creationId xmlns:a16="http://schemas.microsoft.com/office/drawing/2014/main" id="{3D1B91B7-1897-C541-FB3A-05F2BD85CF0A}"/>
              </a:ext>
            </a:extLst>
          </p:cNvPr>
          <p:cNvSpPr txBox="1"/>
          <p:nvPr/>
        </p:nvSpPr>
        <p:spPr>
          <a:xfrm>
            <a:off x="584200" y="6223000"/>
            <a:ext cx="11023600" cy="3810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接続パターンは、サービス名ではなく通信・ネットワーク・処理場所の要件から考える。</a:t>
            </a:r>
            <a:endParaRPr lang="en-US" sz="1500" b="1">
              <a:solidFill>
                <a:srgbClr val="0078D4"/>
              </a:solidFill>
              <a:latin typeface="Yu Gothic UI" panose="020B0500000000000000" pitchFamily="34" charset="-128"/>
              <a:ea typeface="Yu Gothic UI" panose="020B0500000000000000"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IoT Hub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へのクラウド直接接続</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2</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7" name="source:lead">
            <a:extLst>
              <a:ext uri="{FF2B5EF4-FFF2-40B4-BE49-F238E27FC236}">
                <a16:creationId xmlns:a16="http://schemas.microsoft.com/office/drawing/2014/main" id="{6BACBBF6-2E4F-EB09-CB8A-1E00D90FBE3C}"/>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デバイスアプリがクラウドへ直接接続し、</a:t>
            </a:r>
            <a:r>
              <a:rPr lang="en-US" altLang="ja-JP" sz="1400" b="1">
                <a:solidFill>
                  <a:srgbClr val="566473"/>
                </a:solidFill>
                <a:latin typeface="Yu Gothic UI" panose="020B0500000000000000" pitchFamily="34" charset="-128"/>
                <a:ea typeface="Yu Gothic UI" panose="020B0500000000000000" pitchFamily="34" charset="-128"/>
              </a:rPr>
              <a:t>IoT Hub </a:t>
            </a:r>
            <a:r>
              <a:rPr lang="ja-JP" altLang="en-US" sz="1400" b="1">
                <a:solidFill>
                  <a:srgbClr val="566473"/>
                </a:solidFill>
                <a:latin typeface="Yu Gothic UI" panose="020B0500000000000000" pitchFamily="34" charset="-128"/>
                <a:ea typeface="Yu Gothic UI" panose="020B0500000000000000" pitchFamily="34" charset="-128"/>
              </a:rPr>
              <a:t>を通じてデータを送受信する。</a:t>
            </a:r>
            <a:endParaRPr lang="en-US" sz="1400" b="1">
              <a:solidFill>
                <a:srgbClr val="566473"/>
              </a:solidFill>
              <a:latin typeface="Yu Gothic UI" panose="020B0500000000000000" pitchFamily="34" charset="-128"/>
              <a:ea typeface="Yu Gothic UI" panose="020B0500000000000000" pitchFamily="34" charset="-128"/>
            </a:endParaRPr>
          </a:p>
        </p:txBody>
      </p:sp>
      <p:sp>
        <p:nvSpPr>
          <p:cNvPr id="8" name="group:deviceSide">
            <a:extLst>
              <a:ext uri="{FF2B5EF4-FFF2-40B4-BE49-F238E27FC236}">
                <a16:creationId xmlns:a16="http://schemas.microsoft.com/office/drawing/2014/main" id="{12E7E7E4-F60E-FBE2-52A0-489269B2A704}"/>
              </a:ext>
            </a:extLst>
          </p:cNvPr>
          <p:cNvSpPr/>
          <p:nvPr/>
        </p:nvSpPr>
        <p:spPr>
          <a:xfrm>
            <a:off x="584200" y="1727200"/>
            <a:ext cx="2768600" cy="17018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group-label:deviceSide">
            <a:extLst>
              <a:ext uri="{FF2B5EF4-FFF2-40B4-BE49-F238E27FC236}">
                <a16:creationId xmlns:a16="http://schemas.microsoft.com/office/drawing/2014/main" id="{FD33CE48-FC23-7B9C-5AC9-F0E48502617B}"/>
              </a:ext>
            </a:extLst>
          </p:cNvPr>
          <p:cNvSpPr txBox="1"/>
          <p:nvPr/>
        </p:nvSpPr>
        <p:spPr>
          <a:xfrm>
            <a:off x="685800" y="1803400"/>
            <a:ext cx="2565400" cy="457200"/>
          </a:xfrm>
          <a:prstGeom prst="rect">
            <a:avLst/>
          </a:prstGeom>
          <a:noFill/>
        </p:spPr>
        <p:txBody>
          <a:bodyPr vert="horz" wrap="square" lIns="0" tIns="0" rIns="0" bIns="0" rtlCol="0" anchor="t">
            <a:noAutofit/>
          </a:bodyPr>
          <a:lstStyle/>
          <a:p>
            <a:r>
              <a:rPr lang="ja-JP" altLang="en-US" sz="1200">
                <a:solidFill>
                  <a:srgbClr val="566473"/>
                </a:solidFill>
                <a:latin typeface="Yu Gothic UI" panose="020B0500000000000000" pitchFamily="34" charset="-128"/>
                <a:ea typeface="Yu Gothic UI" panose="020B0500000000000000" pitchFamily="34" charset="-128"/>
              </a:rPr>
              <a:t>デバイス側</a:t>
            </a:r>
            <a:endParaRPr lang="en-US" sz="1200">
              <a:solidFill>
                <a:srgbClr val="566473"/>
              </a:solidFill>
              <a:latin typeface="Yu Gothic UI" panose="020B0500000000000000" pitchFamily="34" charset="-128"/>
              <a:ea typeface="Yu Gothic UI" panose="020B0500000000000000" pitchFamily="34" charset="-128"/>
            </a:endParaRPr>
          </a:p>
        </p:txBody>
      </p:sp>
      <p:sp>
        <p:nvSpPr>
          <p:cNvPr id="10" name="group:azureSide">
            <a:extLst>
              <a:ext uri="{FF2B5EF4-FFF2-40B4-BE49-F238E27FC236}">
                <a16:creationId xmlns:a16="http://schemas.microsoft.com/office/drawing/2014/main" id="{40213B61-AEDA-8094-A1A0-9219D754B324}"/>
              </a:ext>
            </a:extLst>
          </p:cNvPr>
          <p:cNvSpPr/>
          <p:nvPr/>
        </p:nvSpPr>
        <p:spPr>
          <a:xfrm>
            <a:off x="4927600" y="1727200"/>
            <a:ext cx="6680200" cy="17018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group-label:azureSide">
            <a:extLst>
              <a:ext uri="{FF2B5EF4-FFF2-40B4-BE49-F238E27FC236}">
                <a16:creationId xmlns:a16="http://schemas.microsoft.com/office/drawing/2014/main" id="{E8BF2FF1-B999-E599-3B69-75A621535FCB}"/>
              </a:ext>
            </a:extLst>
          </p:cNvPr>
          <p:cNvSpPr txBox="1"/>
          <p:nvPr/>
        </p:nvSpPr>
        <p:spPr>
          <a:xfrm>
            <a:off x="5029200" y="1803400"/>
            <a:ext cx="6477000" cy="457200"/>
          </a:xfrm>
          <a:prstGeom prst="rect">
            <a:avLst/>
          </a:prstGeom>
          <a:noFill/>
        </p:spPr>
        <p:txBody>
          <a:bodyPr vert="horz" wrap="square" lIns="0" tIns="0" rIns="0" bIns="0" rtlCol="0" anchor="t">
            <a:noAutofit/>
          </a:bodyPr>
          <a:lstStyle/>
          <a:p>
            <a:r>
              <a:rPr lang="en-US" sz="1200">
                <a:solidFill>
                  <a:srgbClr val="566473"/>
                </a:solidFill>
                <a:latin typeface="Yu Gothic UI" panose="020B0500000000000000" pitchFamily="34" charset="-128"/>
                <a:ea typeface="Yu Gothic UI" panose="020B0500000000000000" pitchFamily="34" charset="-128"/>
              </a:rPr>
              <a:t>Azure</a:t>
            </a:r>
          </a:p>
        </p:txBody>
      </p:sp>
      <p:sp>
        <p:nvSpPr>
          <p:cNvPr id="12" name="node:sensor">
            <a:extLst>
              <a:ext uri="{FF2B5EF4-FFF2-40B4-BE49-F238E27FC236}">
                <a16:creationId xmlns:a16="http://schemas.microsoft.com/office/drawing/2014/main" id="{4BFA6167-FA0E-2C11-633E-1ABA2392DE0B}"/>
              </a:ext>
            </a:extLst>
          </p:cNvPr>
          <p:cNvSpPr/>
          <p:nvPr>
            <p:custDataLst>
              <p:tags r:id="rId1"/>
            </p:custDataLst>
          </p:nvPr>
        </p:nvSpPr>
        <p:spPr>
          <a:xfrm>
            <a:off x="812800" y="2413000"/>
            <a:ext cx="22860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温度センサー</a:t>
            </a:r>
          </a:p>
          <a:p>
            <a:pPr algn="ctr"/>
            <a:r>
              <a:rPr lang="ja-JP" altLang="en-US" sz="1400">
                <a:solidFill>
                  <a:srgbClr val="0B2430"/>
                </a:solidFill>
                <a:latin typeface="Yu Gothic UI" panose="020B0500000000000000" pitchFamily="34" charset="-128"/>
                <a:ea typeface="Yu Gothic UI" panose="020B0500000000000000" pitchFamily="34" charset="-128"/>
              </a:rPr>
              <a:t>デバイスアプリ</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3" name="node:hub">
            <a:extLst>
              <a:ext uri="{FF2B5EF4-FFF2-40B4-BE49-F238E27FC236}">
                <a16:creationId xmlns:a16="http://schemas.microsoft.com/office/drawing/2014/main" id="{DDCFFF5B-7E15-6547-3808-F808EDC68981}"/>
              </a:ext>
            </a:extLst>
          </p:cNvPr>
          <p:cNvSpPr/>
          <p:nvPr>
            <p:custDataLst>
              <p:tags r:id="rId2"/>
            </p:custDataLst>
          </p:nvPr>
        </p:nvSpPr>
        <p:spPr>
          <a:xfrm>
            <a:off x="5765800" y="2413000"/>
            <a:ext cx="20320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400">
                <a:solidFill>
                  <a:srgbClr val="0B2430"/>
                </a:solidFill>
                <a:latin typeface="Yu Gothic UI" panose="020B0500000000000000" pitchFamily="34" charset="-128"/>
                <a:ea typeface="Yu Gothic UI" panose="020B0500000000000000" pitchFamily="34" charset="-128"/>
              </a:rPr>
              <a:t>Azure IoT Hub</a:t>
            </a:r>
          </a:p>
        </p:txBody>
      </p:sp>
      <p:sp>
        <p:nvSpPr>
          <p:cNvPr id="14" name="node:downstream">
            <a:extLst>
              <a:ext uri="{FF2B5EF4-FFF2-40B4-BE49-F238E27FC236}">
                <a16:creationId xmlns:a16="http://schemas.microsoft.com/office/drawing/2014/main" id="{8E569F7F-7477-744F-6DF7-B15D8AD7A780}"/>
              </a:ext>
            </a:extLst>
          </p:cNvPr>
          <p:cNvSpPr/>
          <p:nvPr>
            <p:custDataLst>
              <p:tags r:id="rId3"/>
            </p:custDataLst>
          </p:nvPr>
        </p:nvSpPr>
        <p:spPr>
          <a:xfrm>
            <a:off x="9321800" y="2413000"/>
            <a:ext cx="20828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後続サービス</a:t>
            </a:r>
          </a:p>
          <a:p>
            <a:pPr algn="ctr"/>
            <a:r>
              <a:rPr lang="ja-JP" altLang="en-US" sz="1400">
                <a:solidFill>
                  <a:srgbClr val="0B2430"/>
                </a:solidFill>
                <a:latin typeface="Yu Gothic UI" panose="020B0500000000000000" pitchFamily="34" charset="-128"/>
                <a:ea typeface="Yu Gothic UI" panose="020B0500000000000000" pitchFamily="34" charset="-128"/>
              </a:rPr>
              <a:t>蓄積・分析・可視化</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15" name="edge:sensor:hub">
            <a:extLst>
              <a:ext uri="{FF2B5EF4-FFF2-40B4-BE49-F238E27FC236}">
                <a16:creationId xmlns:a16="http://schemas.microsoft.com/office/drawing/2014/main" id="{E6D504EA-C80B-68BC-8379-9BF1DB4C55C3}"/>
              </a:ext>
            </a:extLst>
          </p:cNvPr>
          <p:cNvCxnSpPr>
            <a:cxnSpLocks/>
            <a:stCxn id="12" idx="3"/>
            <a:endCxn id="13" idx="1"/>
          </p:cNvCxnSpPr>
          <p:nvPr/>
        </p:nvCxnSpPr>
        <p:spPr>
          <a:xfrm>
            <a:off x="3098800" y="2794000"/>
            <a:ext cx="26670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6" name="edge-label:sensor:hub">
            <a:extLst>
              <a:ext uri="{FF2B5EF4-FFF2-40B4-BE49-F238E27FC236}">
                <a16:creationId xmlns:a16="http://schemas.microsoft.com/office/drawing/2014/main" id="{BCEAF01A-8DB0-FFEF-FCD4-DE8BDE650D37}"/>
              </a:ext>
            </a:extLst>
          </p:cNvPr>
          <p:cNvSpPr txBox="1"/>
          <p:nvPr/>
        </p:nvSpPr>
        <p:spPr>
          <a:xfrm>
            <a:off x="3416300" y="2006600"/>
            <a:ext cx="1460500" cy="6604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温度データ</a:t>
            </a:r>
          </a:p>
          <a:p>
            <a:pPr algn="ctr"/>
            <a:r>
              <a:rPr lang="en-US" sz="1100">
                <a:solidFill>
                  <a:srgbClr val="566473"/>
                </a:solidFill>
                <a:latin typeface="Yu Gothic UI" panose="020B0500000000000000" pitchFamily="34" charset="-128"/>
                <a:ea typeface="Yu Gothic UI" panose="020B0500000000000000" pitchFamily="34" charset="-128"/>
              </a:rPr>
              <a:t>MQTT / AMQP / HTTPS</a:t>
            </a:r>
          </a:p>
        </p:txBody>
      </p:sp>
      <p:cxnSp>
        <p:nvCxnSpPr>
          <p:cNvPr id="17" name="edge:hub:downstream">
            <a:extLst>
              <a:ext uri="{FF2B5EF4-FFF2-40B4-BE49-F238E27FC236}">
                <a16:creationId xmlns:a16="http://schemas.microsoft.com/office/drawing/2014/main" id="{7E8325CD-4106-4202-5110-BD1235BF6017}"/>
              </a:ext>
            </a:extLst>
          </p:cNvPr>
          <p:cNvCxnSpPr>
            <a:cxnSpLocks/>
            <a:stCxn id="13" idx="3"/>
            <a:endCxn id="14" idx="1"/>
          </p:cNvCxnSpPr>
          <p:nvPr/>
        </p:nvCxnSpPr>
        <p:spPr>
          <a:xfrm>
            <a:off x="7797800" y="2794000"/>
            <a:ext cx="15240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8" name="edge-label:hub:downstream">
            <a:extLst>
              <a:ext uri="{FF2B5EF4-FFF2-40B4-BE49-F238E27FC236}">
                <a16:creationId xmlns:a16="http://schemas.microsoft.com/office/drawing/2014/main" id="{C76F34AA-9949-10D9-B349-EC52089CDAA8}"/>
              </a:ext>
            </a:extLst>
          </p:cNvPr>
          <p:cNvSpPr txBox="1"/>
          <p:nvPr/>
        </p:nvSpPr>
        <p:spPr>
          <a:xfrm>
            <a:off x="7912100" y="2184399"/>
            <a:ext cx="1295400" cy="3810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データを配送</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9" name="source:body:1">
            <a:extLst>
              <a:ext uri="{FF2B5EF4-FFF2-40B4-BE49-F238E27FC236}">
                <a16:creationId xmlns:a16="http://schemas.microsoft.com/office/drawing/2014/main" id="{C736AC0D-0BD1-CF54-C703-5A1BB786A056}"/>
              </a:ext>
            </a:extLst>
          </p:cNvPr>
          <p:cNvSpPr txBox="1"/>
          <p:nvPr/>
        </p:nvSpPr>
        <p:spPr>
          <a:xfrm>
            <a:off x="584200" y="3809999"/>
            <a:ext cx="11023600" cy="6350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接続するもの</a:t>
            </a:r>
            <a:r>
              <a:rPr lang="en-US" altLang="ja-JP" sz="1400" b="1">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 </a:t>
            </a:r>
            <a:r>
              <a:rPr lang="ja-JP" altLang="en-US" sz="1400">
                <a:solidFill>
                  <a:srgbClr val="0B2430"/>
                </a:solidFill>
                <a:latin typeface="Yu Gothic UI" panose="020B0500000000000000" pitchFamily="34" charset="-128"/>
                <a:ea typeface="Yu Gothic UI" panose="020B0500000000000000" pitchFamily="34" charset="-128"/>
              </a:rPr>
              <a:t>温度センサーなどのデバイス上で動くアプリ。</a:t>
            </a:r>
            <a:r>
              <a:rPr lang="en-US" altLang="ja-JP" sz="1400">
                <a:solidFill>
                  <a:srgbClr val="0B2430"/>
                </a:solidFill>
                <a:latin typeface="Yu Gothic UI" panose="020B0500000000000000" pitchFamily="34" charset="-128"/>
                <a:ea typeface="Yu Gothic UI" panose="020B0500000000000000" pitchFamily="34" charset="-128"/>
              </a:rPr>
              <a:t>IoT Hub </a:t>
            </a:r>
            <a:r>
              <a:rPr lang="ja-JP" altLang="en-US" sz="1400">
                <a:solidFill>
                  <a:srgbClr val="0B2430"/>
                </a:solidFill>
                <a:latin typeface="Yu Gothic UI" panose="020B0500000000000000" pitchFamily="34" charset="-128"/>
                <a:ea typeface="Yu Gothic UI" panose="020B0500000000000000" pitchFamily="34" charset="-128"/>
              </a:rPr>
              <a:t>は </a:t>
            </a:r>
            <a:r>
              <a:rPr lang="en-US" altLang="ja-JP" sz="1400">
                <a:solidFill>
                  <a:srgbClr val="0B2430"/>
                </a:solidFill>
                <a:latin typeface="Yu Gothic UI" panose="020B0500000000000000" pitchFamily="34" charset="-128"/>
                <a:ea typeface="Yu Gothic UI" panose="020B0500000000000000" pitchFamily="34" charset="-128"/>
              </a:rPr>
              <a:t>MQTT</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AMQP</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HTTPS </a:t>
            </a:r>
            <a:r>
              <a:rPr lang="ja-JP" altLang="en-US" sz="1400">
                <a:solidFill>
                  <a:srgbClr val="0B2430"/>
                </a:solidFill>
                <a:latin typeface="Yu Gothic UI" panose="020B0500000000000000" pitchFamily="34" charset="-128"/>
                <a:ea typeface="Yu Gothic UI" panose="020B0500000000000000" pitchFamily="34" charset="-128"/>
              </a:rPr>
              <a:t>によるデバイス接続をサポートする（</a:t>
            </a:r>
            <a:r>
              <a:rPr lang="en-US" altLang="ja-JP" sz="1000">
                <a:solidFill>
                  <a:srgbClr val="0000FF"/>
                </a:solidFill>
                <a:latin typeface="Yu Gothic UI" panose="020B0500000000000000" pitchFamily="34" charset="-128"/>
                <a:ea typeface="Yu Gothic UI" panose="020B0500000000000000" pitchFamily="34" charset="-128"/>
                <a:hlinkClick r:id="rId6">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6">
                  <a:extLst>
                    <a:ext uri="{A12FA001-AC4F-418D-AE19-62706E023703}">
                      <ahyp:hlinkClr xmlns:ahyp="http://schemas.microsoft.com/office/drawing/2018/hyperlinkcolor" val="tx"/>
                    </a:ext>
                  </a:extLst>
                </a:hlinkClick>
              </a:rPr>
              <a:t>サービスを選択する</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0" name="source:body:2">
            <a:extLst>
              <a:ext uri="{FF2B5EF4-FFF2-40B4-BE49-F238E27FC236}">
                <a16:creationId xmlns:a16="http://schemas.microsoft.com/office/drawing/2014/main" id="{B3BD2564-B52C-18F0-027D-E43D371481F6}"/>
              </a:ext>
            </a:extLst>
          </p:cNvPr>
          <p:cNvSpPr txBox="1"/>
          <p:nvPr/>
        </p:nvSpPr>
        <p:spPr>
          <a:xfrm>
            <a:off x="584200" y="4508500"/>
            <a:ext cx="11023600" cy="6350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適する条件</a:t>
            </a:r>
            <a:r>
              <a:rPr lang="en-US" altLang="ja-JP" sz="1400" b="1">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 </a:t>
            </a:r>
            <a:r>
              <a:rPr lang="ja-JP" altLang="en-US" sz="1400">
                <a:solidFill>
                  <a:srgbClr val="0B2430"/>
                </a:solidFill>
                <a:latin typeface="Yu Gothic UI" panose="020B0500000000000000" pitchFamily="34" charset="-128"/>
                <a:ea typeface="Yu Gothic UI" panose="020B0500000000000000" pitchFamily="34" charset="-128"/>
              </a:rPr>
              <a:t>デバイスからクラウドへ通信でき、分散したデバイスのデータをクラウド側へ集めたい（</a:t>
            </a:r>
            <a:r>
              <a:rPr lang="en-US" altLang="ja-JP" sz="1000">
                <a:solidFill>
                  <a:srgbClr val="0000FF"/>
                </a:solidFill>
                <a:latin typeface="Yu Gothic UI" panose="020B0500000000000000" pitchFamily="34" charset="-128"/>
                <a:ea typeface="Yu Gothic UI" panose="020B0500000000000000" pitchFamily="34" charset="-128"/>
                <a:hlinkClick r:id="rId7">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7">
                  <a:extLst>
                    <a:ext uri="{A12FA001-AC4F-418D-AE19-62706E023703}">
                      <ahyp:hlinkClr xmlns:ahyp="http://schemas.microsoft.com/office/drawing/2018/hyperlinkcolor" val="tx"/>
                    </a:ext>
                  </a:extLst>
                </a:hlinkClick>
              </a:rPr>
              <a:t>とは</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1" name="source:body:3">
            <a:extLst>
              <a:ext uri="{FF2B5EF4-FFF2-40B4-BE49-F238E27FC236}">
                <a16:creationId xmlns:a16="http://schemas.microsoft.com/office/drawing/2014/main" id="{A6E000F2-D9E1-5C10-5697-F9764C5F8DC0}"/>
              </a:ext>
            </a:extLst>
          </p:cNvPr>
          <p:cNvSpPr txBox="1"/>
          <p:nvPr/>
        </p:nvSpPr>
        <p:spPr>
          <a:xfrm>
            <a:off x="584200" y="5207000"/>
            <a:ext cx="11023600" cy="6350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役割の分担</a:t>
            </a:r>
            <a:r>
              <a:rPr lang="en-US" altLang="ja-JP" sz="1400" b="1">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 IoT Hub </a:t>
            </a:r>
            <a:r>
              <a:rPr lang="ja-JP" altLang="en-US" sz="1400">
                <a:solidFill>
                  <a:srgbClr val="0B2430"/>
                </a:solidFill>
                <a:latin typeface="Yu Gothic UI" panose="020B0500000000000000" pitchFamily="34" charset="-128"/>
                <a:ea typeface="Yu Gothic UI" panose="020B0500000000000000" pitchFamily="34" charset="-128"/>
              </a:rPr>
              <a:t>はデバイスとの通信を担い、蓄積・分析・可視化は後続のサービスで行う（</a:t>
            </a:r>
            <a:r>
              <a:rPr lang="en-US" altLang="ja-JP" sz="1000">
                <a:solidFill>
                  <a:srgbClr val="0000FF"/>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とは</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2" name="source:conclusion">
            <a:extLst>
              <a:ext uri="{FF2B5EF4-FFF2-40B4-BE49-F238E27FC236}">
                <a16:creationId xmlns:a16="http://schemas.microsoft.com/office/drawing/2014/main" id="{583E44F3-5E2E-8E27-FE88-20ECBEF1E2BF}"/>
              </a:ext>
            </a:extLst>
          </p:cNvPr>
          <p:cNvSpPr txBox="1"/>
          <p:nvPr/>
        </p:nvSpPr>
        <p:spPr>
          <a:xfrm>
            <a:off x="584200" y="6070600"/>
            <a:ext cx="11023600" cy="5080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今回の想定</a:t>
            </a:r>
            <a:r>
              <a:rPr lang="en-US" altLang="ja-JP" sz="1500" b="1">
                <a:solidFill>
                  <a:srgbClr val="0078D4"/>
                </a:solidFill>
                <a:latin typeface="Yu Gothic UI" panose="020B0500000000000000" pitchFamily="34" charset="-128"/>
                <a:ea typeface="Yu Gothic UI" panose="020B0500000000000000" pitchFamily="34" charset="-128"/>
              </a:rPr>
              <a:t>: </a:t>
            </a:r>
            <a:r>
              <a:rPr lang="ja-JP" altLang="en-US" sz="1500" b="1">
                <a:solidFill>
                  <a:srgbClr val="0078D4"/>
                </a:solidFill>
                <a:latin typeface="Yu Gothic UI" panose="020B0500000000000000" pitchFamily="34" charset="-128"/>
                <a:ea typeface="Yu Gothic UI" panose="020B0500000000000000" pitchFamily="34" charset="-128"/>
              </a:rPr>
              <a:t>ローカル </a:t>
            </a:r>
            <a:r>
              <a:rPr lang="en-US" altLang="ja-JP" sz="1500" b="1">
                <a:solidFill>
                  <a:srgbClr val="0078D4"/>
                </a:solidFill>
                <a:latin typeface="Yu Gothic UI" panose="020B0500000000000000" pitchFamily="34" charset="-128"/>
                <a:ea typeface="Yu Gothic UI" panose="020B0500000000000000" pitchFamily="34" charset="-128"/>
              </a:rPr>
              <a:t>PC </a:t>
            </a:r>
            <a:r>
              <a:rPr lang="ja-JP" altLang="en-US" sz="1500" b="1">
                <a:solidFill>
                  <a:srgbClr val="0078D4"/>
                </a:solidFill>
                <a:latin typeface="Yu Gothic UI" panose="020B0500000000000000" pitchFamily="34" charset="-128"/>
                <a:ea typeface="Yu Gothic UI" panose="020B0500000000000000" pitchFamily="34" charset="-128"/>
              </a:rPr>
              <a:t>のプログラムを温度センサーに見立て、</a:t>
            </a:r>
            <a:r>
              <a:rPr lang="en-US" altLang="ja-JP" sz="1500" b="1">
                <a:solidFill>
                  <a:srgbClr val="0078D4"/>
                </a:solidFill>
                <a:latin typeface="Yu Gothic UI" panose="020B0500000000000000" pitchFamily="34" charset="-128"/>
                <a:ea typeface="Yu Gothic UI" panose="020B0500000000000000" pitchFamily="34" charset="-128"/>
              </a:rPr>
              <a:t>IoT Hub </a:t>
            </a:r>
            <a:r>
              <a:rPr lang="ja-JP" altLang="en-US" sz="1500" b="1">
                <a:solidFill>
                  <a:srgbClr val="0078D4"/>
                </a:solidFill>
                <a:latin typeface="Yu Gothic UI" panose="020B0500000000000000" pitchFamily="34" charset="-128"/>
                <a:ea typeface="Yu Gothic UI" panose="020B0500000000000000" pitchFamily="34" charset="-128"/>
              </a:rPr>
              <a:t>に直接接続する。</a:t>
            </a:r>
            <a:endParaRPr lang="en-US" sz="1500" b="1">
              <a:solidFill>
                <a:srgbClr val="0078D4"/>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231390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エッジ経由接続</a:t>
            </a: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 </a:t>
            </a:r>
            <a:r>
              <a:rPr kumimoji="0" 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IoT Operations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と </a:t>
            </a:r>
            <a:r>
              <a:rPr kumimoji="0" 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IoT Edge</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3</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7" name="source:lead">
            <a:extLst>
              <a:ext uri="{FF2B5EF4-FFF2-40B4-BE49-F238E27FC236}">
                <a16:creationId xmlns:a16="http://schemas.microsoft.com/office/drawing/2014/main" id="{566F6FD3-94FC-9DDB-C002-7D46CCFB201B}"/>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en-US" altLang="ja-JP" sz="1400" b="1">
                <a:solidFill>
                  <a:srgbClr val="566473"/>
                </a:solidFill>
                <a:latin typeface="Yu Gothic UI" panose="020B0500000000000000" pitchFamily="34" charset="-128"/>
                <a:ea typeface="Yu Gothic UI" panose="020B0500000000000000" pitchFamily="34" charset="-128"/>
              </a:rPr>
              <a:t>IoT Operations </a:t>
            </a:r>
            <a:r>
              <a:rPr lang="ja-JP" altLang="en-US" sz="1400" b="1">
                <a:solidFill>
                  <a:srgbClr val="566473"/>
                </a:solidFill>
                <a:latin typeface="Yu Gothic UI" panose="020B0500000000000000" pitchFamily="34" charset="-128"/>
                <a:ea typeface="Yu Gothic UI" panose="020B0500000000000000" pitchFamily="34" charset="-128"/>
              </a:rPr>
              <a:t>の構成例</a:t>
            </a:r>
            <a:r>
              <a:rPr lang="en-US" altLang="ja-JP" sz="1400" b="1">
                <a:solidFill>
                  <a:srgbClr val="566473"/>
                </a:solidFill>
                <a:latin typeface="Yu Gothic UI" panose="020B0500000000000000" pitchFamily="34" charset="-128"/>
                <a:ea typeface="Yu Gothic UI" panose="020B0500000000000000" pitchFamily="34" charset="-128"/>
              </a:rPr>
              <a:t>: </a:t>
            </a:r>
            <a:r>
              <a:rPr lang="ja-JP" altLang="en-US" sz="1400" b="1">
                <a:solidFill>
                  <a:srgbClr val="566473"/>
                </a:solidFill>
                <a:latin typeface="Yu Gothic UI" panose="020B0500000000000000" pitchFamily="34" charset="-128"/>
                <a:ea typeface="Yu Gothic UI" panose="020B0500000000000000" pitchFamily="34" charset="-128"/>
              </a:rPr>
              <a:t>設備のデータを現場で収集・加工し、クラウドへ送る。</a:t>
            </a:r>
            <a:endParaRPr lang="en-US" sz="1400" b="1">
              <a:solidFill>
                <a:srgbClr val="566473"/>
              </a:solidFill>
              <a:latin typeface="Yu Gothic UI" panose="020B0500000000000000" pitchFamily="34" charset="-128"/>
              <a:ea typeface="Yu Gothic UI" panose="020B0500000000000000" pitchFamily="34" charset="-128"/>
            </a:endParaRPr>
          </a:p>
        </p:txBody>
      </p:sp>
      <p:sp>
        <p:nvSpPr>
          <p:cNvPr id="8" name="group:site">
            <a:extLst>
              <a:ext uri="{FF2B5EF4-FFF2-40B4-BE49-F238E27FC236}">
                <a16:creationId xmlns:a16="http://schemas.microsoft.com/office/drawing/2014/main" id="{DDB79329-CFC7-332E-A3C6-FEFD7769B53E}"/>
              </a:ext>
            </a:extLst>
          </p:cNvPr>
          <p:cNvSpPr/>
          <p:nvPr/>
        </p:nvSpPr>
        <p:spPr>
          <a:xfrm>
            <a:off x="584200" y="1587500"/>
            <a:ext cx="8636000" cy="16764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group-label:site">
            <a:extLst>
              <a:ext uri="{FF2B5EF4-FFF2-40B4-BE49-F238E27FC236}">
                <a16:creationId xmlns:a16="http://schemas.microsoft.com/office/drawing/2014/main" id="{8F915D7B-1672-4BB0-EACF-F319C2279CC4}"/>
              </a:ext>
            </a:extLst>
          </p:cNvPr>
          <p:cNvSpPr txBox="1"/>
          <p:nvPr/>
        </p:nvSpPr>
        <p:spPr>
          <a:xfrm>
            <a:off x="685800" y="1663700"/>
            <a:ext cx="8432800" cy="457200"/>
          </a:xfrm>
          <a:prstGeom prst="rect">
            <a:avLst/>
          </a:prstGeom>
          <a:noFill/>
        </p:spPr>
        <p:txBody>
          <a:bodyPr vert="horz" wrap="square" lIns="0" tIns="0" rIns="0" bIns="0" rtlCol="0" anchor="t">
            <a:noAutofit/>
          </a:bodyPr>
          <a:lstStyle/>
          <a:p>
            <a:r>
              <a:rPr lang="ja-JP" altLang="en-US" sz="1200">
                <a:solidFill>
                  <a:srgbClr val="566473"/>
                </a:solidFill>
                <a:latin typeface="Yu Gothic UI" panose="020B0500000000000000" pitchFamily="34" charset="-128"/>
                <a:ea typeface="Yu Gothic UI" panose="020B0500000000000000" pitchFamily="34" charset="-128"/>
              </a:rPr>
              <a:t>工場・現場</a:t>
            </a:r>
            <a:endParaRPr lang="en-US" sz="1200">
              <a:solidFill>
                <a:srgbClr val="566473"/>
              </a:solidFill>
              <a:latin typeface="Yu Gothic UI" panose="020B0500000000000000" pitchFamily="34" charset="-128"/>
              <a:ea typeface="Yu Gothic UI" panose="020B0500000000000000" pitchFamily="34" charset="-128"/>
            </a:endParaRPr>
          </a:p>
        </p:txBody>
      </p:sp>
      <p:sp>
        <p:nvSpPr>
          <p:cNvPr id="10" name="group:runtime">
            <a:extLst>
              <a:ext uri="{FF2B5EF4-FFF2-40B4-BE49-F238E27FC236}">
                <a16:creationId xmlns:a16="http://schemas.microsoft.com/office/drawing/2014/main" id="{995B6933-9F84-5D26-383D-82ACE78CD286}"/>
              </a:ext>
            </a:extLst>
          </p:cNvPr>
          <p:cNvSpPr/>
          <p:nvPr>
            <p:custDataLst>
              <p:tags r:id="rId1"/>
            </p:custDataLst>
          </p:nvPr>
        </p:nvSpPr>
        <p:spPr>
          <a:xfrm>
            <a:off x="3403600" y="1930400"/>
            <a:ext cx="5715000" cy="12446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group-label:runtime">
            <a:extLst>
              <a:ext uri="{FF2B5EF4-FFF2-40B4-BE49-F238E27FC236}">
                <a16:creationId xmlns:a16="http://schemas.microsoft.com/office/drawing/2014/main" id="{BA691AAA-AA7A-B595-E5D1-4767A2B1564D}"/>
              </a:ext>
            </a:extLst>
          </p:cNvPr>
          <p:cNvSpPr txBox="1"/>
          <p:nvPr/>
        </p:nvSpPr>
        <p:spPr>
          <a:xfrm>
            <a:off x="3505200" y="2006600"/>
            <a:ext cx="5511800" cy="457200"/>
          </a:xfrm>
          <a:prstGeom prst="rect">
            <a:avLst/>
          </a:prstGeom>
          <a:noFill/>
        </p:spPr>
        <p:txBody>
          <a:bodyPr vert="horz" wrap="square" lIns="0" tIns="0" rIns="0" bIns="0" rtlCol="0" anchor="t">
            <a:noAutofit/>
          </a:bodyPr>
          <a:lstStyle/>
          <a:p>
            <a:r>
              <a:rPr lang="en-US" sz="1200">
                <a:solidFill>
                  <a:srgbClr val="566473"/>
                </a:solidFill>
                <a:latin typeface="Yu Gothic UI" panose="020B0500000000000000" pitchFamily="34" charset="-128"/>
                <a:ea typeface="Yu Gothic UI" panose="020B0500000000000000" pitchFamily="34" charset="-128"/>
              </a:rPr>
              <a:t>Azure IoT Operations / Azure Arc </a:t>
            </a:r>
            <a:r>
              <a:rPr lang="ja-JP" altLang="en-US" sz="1200">
                <a:solidFill>
                  <a:srgbClr val="566473"/>
                </a:solidFill>
                <a:latin typeface="Yu Gothic UI" panose="020B0500000000000000" pitchFamily="34" charset="-128"/>
                <a:ea typeface="Yu Gothic UI" panose="020B0500000000000000" pitchFamily="34" charset="-128"/>
              </a:rPr>
              <a:t>対応 </a:t>
            </a:r>
            <a:r>
              <a:rPr lang="en-US" sz="1200">
                <a:solidFill>
                  <a:srgbClr val="566473"/>
                </a:solidFill>
                <a:latin typeface="Yu Gothic UI" panose="020B0500000000000000" pitchFamily="34" charset="-128"/>
                <a:ea typeface="Yu Gothic UI" panose="020B0500000000000000" pitchFamily="34" charset="-128"/>
              </a:rPr>
              <a:t>Kubernetes</a:t>
            </a:r>
          </a:p>
        </p:txBody>
      </p:sp>
      <p:sp>
        <p:nvSpPr>
          <p:cNvPr id="12" name="node:equipment">
            <a:extLst>
              <a:ext uri="{FF2B5EF4-FFF2-40B4-BE49-F238E27FC236}">
                <a16:creationId xmlns:a16="http://schemas.microsoft.com/office/drawing/2014/main" id="{484E0153-6412-891C-5729-64323E80090F}"/>
              </a:ext>
            </a:extLst>
          </p:cNvPr>
          <p:cNvSpPr/>
          <p:nvPr>
            <p:custDataLst>
              <p:tags r:id="rId2"/>
            </p:custDataLst>
          </p:nvPr>
        </p:nvSpPr>
        <p:spPr>
          <a:xfrm>
            <a:off x="762000" y="2349500"/>
            <a:ext cx="16764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200">
                <a:solidFill>
                  <a:srgbClr val="0B2430"/>
                </a:solidFill>
                <a:latin typeface="Yu Gothic UI" panose="020B0500000000000000" pitchFamily="34" charset="-128"/>
                <a:ea typeface="Yu Gothic UI" panose="020B0500000000000000" pitchFamily="34" charset="-128"/>
              </a:rPr>
              <a:t>温度データを持つ設備</a:t>
            </a:r>
          </a:p>
          <a:p>
            <a:pPr algn="ctr"/>
            <a:r>
              <a:rPr lang="en-US" altLang="ja-JP" sz="1200">
                <a:solidFill>
                  <a:srgbClr val="0B2430"/>
                </a:solidFill>
                <a:latin typeface="Yu Gothic UI" panose="020B0500000000000000" pitchFamily="34" charset="-128"/>
                <a:ea typeface="Yu Gothic UI" panose="020B0500000000000000" pitchFamily="34" charset="-128"/>
              </a:rPr>
              <a:t>OPC UA </a:t>
            </a:r>
            <a:r>
              <a:rPr lang="ja-JP" altLang="en-US" sz="1200">
                <a:solidFill>
                  <a:srgbClr val="0B2430"/>
                </a:solidFill>
                <a:latin typeface="Yu Gothic UI" panose="020B0500000000000000" pitchFamily="34" charset="-128"/>
                <a:ea typeface="Yu Gothic UI" panose="020B0500000000000000" pitchFamily="34" charset="-128"/>
              </a:rPr>
              <a:t>サーバー</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3" name="node:connector">
            <a:extLst>
              <a:ext uri="{FF2B5EF4-FFF2-40B4-BE49-F238E27FC236}">
                <a16:creationId xmlns:a16="http://schemas.microsoft.com/office/drawing/2014/main" id="{110BFB57-8E46-A76D-386A-83B5487C3778}"/>
              </a:ext>
            </a:extLst>
          </p:cNvPr>
          <p:cNvSpPr/>
          <p:nvPr>
            <p:custDataLst>
              <p:tags r:id="rId3"/>
            </p:custDataLst>
          </p:nvPr>
        </p:nvSpPr>
        <p:spPr>
          <a:xfrm>
            <a:off x="3556000" y="2349500"/>
            <a:ext cx="15494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200">
                <a:solidFill>
                  <a:srgbClr val="0B2430"/>
                </a:solidFill>
                <a:latin typeface="Yu Gothic UI" panose="020B0500000000000000" pitchFamily="34" charset="-128"/>
                <a:ea typeface="Yu Gothic UI" panose="020B0500000000000000" pitchFamily="34" charset="-128"/>
              </a:rPr>
              <a:t>OPC UA </a:t>
            </a:r>
            <a:r>
              <a:rPr lang="ja-JP" altLang="en-US" sz="1200">
                <a:solidFill>
                  <a:srgbClr val="0B2430"/>
                </a:solidFill>
                <a:latin typeface="Yu Gothic UI" panose="020B0500000000000000" pitchFamily="34" charset="-128"/>
                <a:ea typeface="Yu Gothic UI" panose="020B0500000000000000" pitchFamily="34" charset="-128"/>
              </a:rPr>
              <a:t>用コネクタ</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4" name="node:broker">
            <a:extLst>
              <a:ext uri="{FF2B5EF4-FFF2-40B4-BE49-F238E27FC236}">
                <a16:creationId xmlns:a16="http://schemas.microsoft.com/office/drawing/2014/main" id="{34322A27-C0BE-5180-BD0E-5F6F2869617D}"/>
              </a:ext>
            </a:extLst>
          </p:cNvPr>
          <p:cNvSpPr/>
          <p:nvPr>
            <p:custDataLst>
              <p:tags r:id="rId4"/>
            </p:custDataLst>
          </p:nvPr>
        </p:nvSpPr>
        <p:spPr>
          <a:xfrm>
            <a:off x="5537200" y="2349500"/>
            <a:ext cx="15494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altLang="ja-JP" sz="1200">
                <a:solidFill>
                  <a:srgbClr val="0B2430"/>
                </a:solidFill>
                <a:latin typeface="Yu Gothic UI" panose="020B0500000000000000" pitchFamily="34" charset="-128"/>
                <a:ea typeface="Yu Gothic UI" panose="020B0500000000000000" pitchFamily="34" charset="-128"/>
              </a:rPr>
              <a:t>MQTT </a:t>
            </a:r>
            <a:r>
              <a:rPr lang="ja-JP" altLang="en-US" sz="1200">
                <a:solidFill>
                  <a:srgbClr val="0B2430"/>
                </a:solidFill>
                <a:latin typeface="Yu Gothic UI" panose="020B0500000000000000" pitchFamily="34" charset="-128"/>
                <a:ea typeface="Yu Gothic UI" panose="020B0500000000000000" pitchFamily="34" charset="-128"/>
              </a:rPr>
              <a:t>ブローカー</a:t>
            </a:r>
          </a:p>
          <a:p>
            <a:pPr algn="ctr"/>
            <a:r>
              <a:rPr lang="ja-JP" altLang="en-US" sz="1200">
                <a:solidFill>
                  <a:srgbClr val="0B2430"/>
                </a:solidFill>
                <a:latin typeface="Yu Gothic UI" panose="020B0500000000000000" pitchFamily="34" charset="-128"/>
                <a:ea typeface="Yu Gothic UI" panose="020B0500000000000000" pitchFamily="34" charset="-128"/>
              </a:rPr>
              <a:t>データの受け渡し</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5" name="node:dataflow">
            <a:extLst>
              <a:ext uri="{FF2B5EF4-FFF2-40B4-BE49-F238E27FC236}">
                <a16:creationId xmlns:a16="http://schemas.microsoft.com/office/drawing/2014/main" id="{C1ED94C6-ECB7-4E40-23E2-152CB6F820D8}"/>
              </a:ext>
            </a:extLst>
          </p:cNvPr>
          <p:cNvSpPr/>
          <p:nvPr>
            <p:custDataLst>
              <p:tags r:id="rId5"/>
            </p:custDataLst>
          </p:nvPr>
        </p:nvSpPr>
        <p:spPr>
          <a:xfrm>
            <a:off x="7518400" y="2349500"/>
            <a:ext cx="14986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200">
                <a:solidFill>
                  <a:srgbClr val="0B2430"/>
                </a:solidFill>
                <a:latin typeface="Yu Gothic UI" panose="020B0500000000000000" pitchFamily="34" charset="-128"/>
                <a:ea typeface="Yu Gothic UI" panose="020B0500000000000000" pitchFamily="34" charset="-128"/>
              </a:rPr>
              <a:t>データフロー</a:t>
            </a:r>
          </a:p>
          <a:p>
            <a:pPr algn="ctr"/>
            <a:r>
              <a:rPr lang="ja-JP" altLang="en-US" sz="1200">
                <a:solidFill>
                  <a:srgbClr val="0B2430"/>
                </a:solidFill>
                <a:latin typeface="Yu Gothic UI" panose="020B0500000000000000" pitchFamily="34" charset="-128"/>
                <a:ea typeface="Yu Gothic UI" panose="020B0500000000000000" pitchFamily="34" charset="-128"/>
              </a:rPr>
              <a:t>加工・配送</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6" name="node:cloud">
            <a:extLst>
              <a:ext uri="{FF2B5EF4-FFF2-40B4-BE49-F238E27FC236}">
                <a16:creationId xmlns:a16="http://schemas.microsoft.com/office/drawing/2014/main" id="{6DFBDBA5-C5D0-3197-BF48-20798A3D6269}"/>
              </a:ext>
            </a:extLst>
          </p:cNvPr>
          <p:cNvSpPr/>
          <p:nvPr/>
        </p:nvSpPr>
        <p:spPr>
          <a:xfrm>
            <a:off x="10058400" y="2349500"/>
            <a:ext cx="15367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200">
                <a:solidFill>
                  <a:srgbClr val="0B2430"/>
                </a:solidFill>
                <a:latin typeface="Yu Gothic UI" panose="020B0500000000000000" pitchFamily="34" charset="-128"/>
                <a:ea typeface="Yu Gothic UI" panose="020B0500000000000000" pitchFamily="34" charset="-128"/>
              </a:rPr>
              <a:t>クラウドの後続サービス</a:t>
            </a:r>
          </a:p>
          <a:p>
            <a:pPr algn="ctr"/>
            <a:r>
              <a:rPr lang="ja-JP" altLang="en-US" sz="1200">
                <a:solidFill>
                  <a:srgbClr val="0B2430"/>
                </a:solidFill>
                <a:latin typeface="Yu Gothic UI" panose="020B0500000000000000" pitchFamily="34" charset="-128"/>
                <a:ea typeface="Yu Gothic UI" panose="020B0500000000000000" pitchFamily="34" charset="-128"/>
              </a:rPr>
              <a:t>例</a:t>
            </a:r>
            <a:r>
              <a:rPr lang="en-US" altLang="ja-JP" sz="1200">
                <a:solidFill>
                  <a:srgbClr val="0B2430"/>
                </a:solidFill>
                <a:latin typeface="Yu Gothic UI" panose="020B0500000000000000" pitchFamily="34" charset="-128"/>
                <a:ea typeface="Yu Gothic UI" panose="020B0500000000000000" pitchFamily="34" charset="-128"/>
              </a:rPr>
              <a:t>: Microsoft Fabric</a:t>
            </a:r>
            <a:endParaRPr lang="en-US" sz="1200">
              <a:solidFill>
                <a:srgbClr val="0B2430"/>
              </a:solidFill>
              <a:latin typeface="Yu Gothic UI" panose="020B0500000000000000" pitchFamily="34" charset="-128"/>
              <a:ea typeface="Yu Gothic UI" panose="020B0500000000000000" pitchFamily="34" charset="-128"/>
            </a:endParaRPr>
          </a:p>
        </p:txBody>
      </p:sp>
      <p:cxnSp>
        <p:nvCxnSpPr>
          <p:cNvPr id="17" name="edge:equipment:connector">
            <a:extLst>
              <a:ext uri="{FF2B5EF4-FFF2-40B4-BE49-F238E27FC236}">
                <a16:creationId xmlns:a16="http://schemas.microsoft.com/office/drawing/2014/main" id="{C69801C2-0030-FB4B-6945-4C3D5FE559FC}"/>
              </a:ext>
            </a:extLst>
          </p:cNvPr>
          <p:cNvCxnSpPr>
            <a:cxnSpLocks/>
            <a:stCxn id="12" idx="3"/>
            <a:endCxn id="13" idx="1"/>
          </p:cNvCxnSpPr>
          <p:nvPr/>
        </p:nvCxnSpPr>
        <p:spPr>
          <a:xfrm>
            <a:off x="2438400" y="2724150"/>
            <a:ext cx="11176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8" name="edge-label:equipment:connector">
            <a:extLst>
              <a:ext uri="{FF2B5EF4-FFF2-40B4-BE49-F238E27FC236}">
                <a16:creationId xmlns:a16="http://schemas.microsoft.com/office/drawing/2014/main" id="{99D0DFC8-CFE5-DECC-C09D-028B9FCEAB40}"/>
              </a:ext>
            </a:extLst>
          </p:cNvPr>
          <p:cNvSpPr txBox="1"/>
          <p:nvPr/>
        </p:nvSpPr>
        <p:spPr>
          <a:xfrm>
            <a:off x="2489200" y="2412999"/>
            <a:ext cx="863600" cy="254000"/>
          </a:xfrm>
          <a:prstGeom prst="rect">
            <a:avLst/>
          </a:prstGeom>
          <a:noFill/>
        </p:spPr>
        <p:txBody>
          <a:bodyPr vert="horz" wrap="square" lIns="0" tIns="0" rIns="0" bIns="0" rtlCol="0" anchor="t">
            <a:noAutofit/>
          </a:bodyPr>
          <a:lstStyle/>
          <a:p>
            <a:pPr algn="ctr"/>
            <a:r>
              <a:rPr lang="en-US" sz="1100">
                <a:solidFill>
                  <a:srgbClr val="566473"/>
                </a:solidFill>
                <a:latin typeface="Yu Gothic UI" panose="020B0500000000000000" pitchFamily="34" charset="-128"/>
                <a:ea typeface="Yu Gothic UI" panose="020B0500000000000000" pitchFamily="34" charset="-128"/>
              </a:rPr>
              <a:t>OPC UA</a:t>
            </a:r>
          </a:p>
        </p:txBody>
      </p:sp>
      <p:cxnSp>
        <p:nvCxnSpPr>
          <p:cNvPr id="19" name="edge:connector:broker">
            <a:extLst>
              <a:ext uri="{FF2B5EF4-FFF2-40B4-BE49-F238E27FC236}">
                <a16:creationId xmlns:a16="http://schemas.microsoft.com/office/drawing/2014/main" id="{B3DF4F4B-AFCB-EF6B-93DC-5DF1C74C7F3D}"/>
              </a:ext>
            </a:extLst>
          </p:cNvPr>
          <p:cNvCxnSpPr>
            <a:cxnSpLocks/>
            <a:stCxn id="13" idx="3"/>
            <a:endCxn id="14" idx="1"/>
          </p:cNvCxnSpPr>
          <p:nvPr/>
        </p:nvCxnSpPr>
        <p:spPr>
          <a:xfrm>
            <a:off x="5105400" y="2724150"/>
            <a:ext cx="4318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20" name="edge:broker:dataflow">
            <a:extLst>
              <a:ext uri="{FF2B5EF4-FFF2-40B4-BE49-F238E27FC236}">
                <a16:creationId xmlns:a16="http://schemas.microsoft.com/office/drawing/2014/main" id="{DF6875AB-B2B7-3111-D1AE-75CAA7AE53E1}"/>
              </a:ext>
            </a:extLst>
          </p:cNvPr>
          <p:cNvCxnSpPr>
            <a:cxnSpLocks/>
            <a:stCxn id="14" idx="3"/>
            <a:endCxn id="15" idx="1"/>
          </p:cNvCxnSpPr>
          <p:nvPr/>
        </p:nvCxnSpPr>
        <p:spPr>
          <a:xfrm>
            <a:off x="7086600" y="2724150"/>
            <a:ext cx="4318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21" name="edge:dataflow:cloud">
            <a:extLst>
              <a:ext uri="{FF2B5EF4-FFF2-40B4-BE49-F238E27FC236}">
                <a16:creationId xmlns:a16="http://schemas.microsoft.com/office/drawing/2014/main" id="{1C1E0369-08E3-8493-6F85-9709C0A95D99}"/>
              </a:ext>
            </a:extLst>
          </p:cNvPr>
          <p:cNvCxnSpPr>
            <a:cxnSpLocks/>
            <a:stCxn id="15" idx="3"/>
            <a:endCxn id="16" idx="1"/>
          </p:cNvCxnSpPr>
          <p:nvPr/>
        </p:nvCxnSpPr>
        <p:spPr>
          <a:xfrm>
            <a:off x="9017000" y="2724150"/>
            <a:ext cx="10414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22" name="edge-label:dataflow:cloud">
            <a:extLst>
              <a:ext uri="{FF2B5EF4-FFF2-40B4-BE49-F238E27FC236}">
                <a16:creationId xmlns:a16="http://schemas.microsoft.com/office/drawing/2014/main" id="{DFA33D3E-993B-92E7-F72C-8C8A161EEC99}"/>
              </a:ext>
            </a:extLst>
          </p:cNvPr>
          <p:cNvSpPr txBox="1"/>
          <p:nvPr/>
        </p:nvSpPr>
        <p:spPr>
          <a:xfrm>
            <a:off x="9271000" y="1943100"/>
            <a:ext cx="736600" cy="4064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加工した</a:t>
            </a:r>
          </a:p>
          <a:p>
            <a:pPr algn="ctr"/>
            <a:r>
              <a:rPr lang="ja-JP" altLang="en-US" sz="1100">
                <a:solidFill>
                  <a:srgbClr val="566473"/>
                </a:solidFill>
                <a:latin typeface="Yu Gothic UI" panose="020B0500000000000000" pitchFamily="34" charset="-128"/>
                <a:ea typeface="Yu Gothic UI" panose="020B0500000000000000" pitchFamily="34" charset="-128"/>
              </a:rPr>
              <a:t>データ</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23" name="source:body:1">
            <a:extLst>
              <a:ext uri="{FF2B5EF4-FFF2-40B4-BE49-F238E27FC236}">
                <a16:creationId xmlns:a16="http://schemas.microsoft.com/office/drawing/2014/main" id="{402D4BE7-3882-5601-0E0D-E6665FDEBF44}"/>
              </a:ext>
            </a:extLst>
          </p:cNvPr>
          <p:cNvSpPr txBox="1"/>
          <p:nvPr/>
        </p:nvSpPr>
        <p:spPr>
          <a:xfrm>
            <a:off x="584200" y="3416299"/>
            <a:ext cx="11023600" cy="431800"/>
          </a:xfrm>
          <a:prstGeom prst="rect">
            <a:avLst/>
          </a:prstGeom>
          <a:noFill/>
        </p:spPr>
        <p:txBody>
          <a:bodyPr vert="horz" wrap="square" lIns="0" tIns="0" rIns="0" bIns="0" rtlCol="0" anchor="t">
            <a:noAutofit/>
          </a:bodyPr>
          <a:lstStyle/>
          <a:p>
            <a:r>
              <a:rPr lang="ja-JP" altLang="en-US" sz="1300" b="1">
                <a:solidFill>
                  <a:srgbClr val="0B2430"/>
                </a:solidFill>
                <a:latin typeface="Yu Gothic UI" panose="020B0500000000000000" pitchFamily="34" charset="-128"/>
                <a:ea typeface="Yu Gothic UI" panose="020B0500000000000000" pitchFamily="34" charset="-128"/>
              </a:rPr>
              <a:t>設備との接続</a:t>
            </a:r>
            <a:r>
              <a:rPr lang="en-US" altLang="ja-JP" sz="1300" b="1">
                <a:solidFill>
                  <a:srgbClr val="0B2430"/>
                </a:solidFill>
                <a:latin typeface="Yu Gothic UI" panose="020B0500000000000000" pitchFamily="34" charset="-128"/>
                <a:ea typeface="Yu Gothic UI" panose="020B0500000000000000" pitchFamily="34" charset="-128"/>
              </a:rPr>
              <a:t>:</a:t>
            </a:r>
            <a:r>
              <a:rPr lang="en-US" altLang="ja-JP" sz="1300">
                <a:solidFill>
                  <a:srgbClr val="0B2430"/>
                </a:solidFill>
                <a:latin typeface="Yu Gothic UI" panose="020B0500000000000000" pitchFamily="34" charset="-128"/>
                <a:ea typeface="Yu Gothic UI" panose="020B0500000000000000" pitchFamily="34" charset="-128"/>
              </a:rPr>
              <a:t> OPC UA </a:t>
            </a:r>
            <a:r>
              <a:rPr lang="ja-JP" altLang="en-US" sz="1300">
                <a:solidFill>
                  <a:srgbClr val="0B2430"/>
                </a:solidFill>
                <a:latin typeface="Yu Gothic UI" panose="020B0500000000000000" pitchFamily="34" charset="-128"/>
                <a:ea typeface="Yu Gothic UI" panose="020B0500000000000000" pitchFamily="34" charset="-128"/>
              </a:rPr>
              <a:t>は産業機器のデータ交換の標準。コネクタが設備のデータを取得し、</a:t>
            </a:r>
            <a:r>
              <a:rPr lang="en-US" altLang="ja-JP" sz="1300">
                <a:solidFill>
                  <a:srgbClr val="0B2430"/>
                </a:solidFill>
                <a:latin typeface="Yu Gothic UI" panose="020B0500000000000000" pitchFamily="34" charset="-128"/>
                <a:ea typeface="Yu Gothic UI" panose="020B0500000000000000" pitchFamily="34" charset="-128"/>
              </a:rPr>
              <a:t>MQTT </a:t>
            </a:r>
            <a:r>
              <a:rPr lang="ja-JP" altLang="en-US" sz="1300">
                <a:solidFill>
                  <a:srgbClr val="0B2430"/>
                </a:solidFill>
                <a:latin typeface="Yu Gothic UI" panose="020B0500000000000000" pitchFamily="34" charset="-128"/>
                <a:ea typeface="Yu Gothic UI" panose="020B0500000000000000" pitchFamily="34" charset="-128"/>
              </a:rPr>
              <a:t>ブローカーへ発行する（</a:t>
            </a:r>
            <a:r>
              <a:rPr lang="en-US" altLang="ja-JP" sz="1000">
                <a:solidFill>
                  <a:srgbClr val="0000FF"/>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OPC UA </a:t>
            </a:r>
            <a:r>
              <a:rPr lang="ja-JP" altLang="en-US" sz="1000">
                <a:solidFill>
                  <a:srgbClr val="566473"/>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用コネクタとは</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24" name="source:body:2">
            <a:extLst>
              <a:ext uri="{FF2B5EF4-FFF2-40B4-BE49-F238E27FC236}">
                <a16:creationId xmlns:a16="http://schemas.microsoft.com/office/drawing/2014/main" id="{4E403975-35AD-D79B-46BD-B91CFC53ECAC}"/>
              </a:ext>
            </a:extLst>
          </p:cNvPr>
          <p:cNvSpPr txBox="1"/>
          <p:nvPr/>
        </p:nvSpPr>
        <p:spPr>
          <a:xfrm>
            <a:off x="584200" y="3873499"/>
            <a:ext cx="11023600" cy="431800"/>
          </a:xfrm>
          <a:prstGeom prst="rect">
            <a:avLst/>
          </a:prstGeom>
          <a:noFill/>
        </p:spPr>
        <p:txBody>
          <a:bodyPr vert="horz" wrap="square" lIns="0" tIns="0" rIns="0" bIns="0" rtlCol="0" anchor="t">
            <a:noAutofit/>
          </a:bodyPr>
          <a:lstStyle/>
          <a:p>
            <a:r>
              <a:rPr lang="ja-JP" altLang="en-US" sz="1300" b="1">
                <a:solidFill>
                  <a:srgbClr val="0B2430"/>
                </a:solidFill>
                <a:latin typeface="Yu Gothic UI" panose="020B0500000000000000" pitchFamily="34" charset="-128"/>
                <a:ea typeface="Yu Gothic UI" panose="020B0500000000000000" pitchFamily="34" charset="-128"/>
              </a:rPr>
              <a:t>現場での処理</a:t>
            </a:r>
            <a:r>
              <a:rPr lang="en-US" altLang="ja-JP" sz="1300" b="1">
                <a:solidFill>
                  <a:srgbClr val="0B2430"/>
                </a:solidFill>
                <a:latin typeface="Yu Gothic UI" panose="020B0500000000000000" pitchFamily="34" charset="-128"/>
                <a:ea typeface="Yu Gothic UI" panose="020B0500000000000000" pitchFamily="34" charset="-128"/>
              </a:rPr>
              <a:t>:</a:t>
            </a:r>
            <a:r>
              <a:rPr lang="en-US" altLang="ja-JP" sz="1300">
                <a:solidFill>
                  <a:srgbClr val="0B2430"/>
                </a:solidFill>
                <a:latin typeface="Yu Gothic UI" panose="020B0500000000000000" pitchFamily="34" charset="-128"/>
                <a:ea typeface="Yu Gothic UI" panose="020B0500000000000000" pitchFamily="34" charset="-128"/>
              </a:rPr>
              <a:t> MQTT </a:t>
            </a:r>
            <a:r>
              <a:rPr lang="ja-JP" altLang="en-US" sz="1300">
                <a:solidFill>
                  <a:srgbClr val="0B2430"/>
                </a:solidFill>
                <a:latin typeface="Yu Gothic UI" panose="020B0500000000000000" pitchFamily="34" charset="-128"/>
                <a:ea typeface="Yu Gothic UI" panose="020B0500000000000000" pitchFamily="34" charset="-128"/>
              </a:rPr>
              <a:t>ブローカーでデータを受け渡し、データフローで加工・配送する。実行基盤は </a:t>
            </a:r>
            <a:r>
              <a:rPr lang="en-US" altLang="ja-JP" sz="1300" b="1">
                <a:solidFill>
                  <a:srgbClr val="0B2430"/>
                </a:solidFill>
                <a:latin typeface="Yu Gothic UI" panose="020B0500000000000000" pitchFamily="34" charset="-128"/>
                <a:ea typeface="Yu Gothic UI" panose="020B0500000000000000" pitchFamily="34" charset="-128"/>
              </a:rPr>
              <a:t>Azure Arc </a:t>
            </a:r>
            <a:r>
              <a:rPr lang="ja-JP" altLang="en-US" sz="1300" b="1">
                <a:solidFill>
                  <a:srgbClr val="0B2430"/>
                </a:solidFill>
                <a:latin typeface="Yu Gothic UI" panose="020B0500000000000000" pitchFamily="34" charset="-128"/>
                <a:ea typeface="Yu Gothic UI" panose="020B0500000000000000" pitchFamily="34" charset="-128"/>
              </a:rPr>
              <a:t>対応 </a:t>
            </a:r>
            <a:r>
              <a:rPr lang="en-US" altLang="ja-JP" sz="1300" b="1">
                <a:solidFill>
                  <a:srgbClr val="0B2430"/>
                </a:solidFill>
                <a:latin typeface="Yu Gothic UI" panose="020B0500000000000000" pitchFamily="34" charset="-128"/>
                <a:ea typeface="Yu Gothic UI" panose="020B0500000000000000" pitchFamily="34" charset="-128"/>
              </a:rPr>
              <a:t>Kubernetes</a:t>
            </a:r>
            <a:r>
              <a:rPr lang="ja-JP" altLang="en-US" sz="1300">
                <a:solidFill>
                  <a:srgbClr val="0B2430"/>
                </a:solidFill>
                <a:latin typeface="Yu Gothic UI" panose="020B0500000000000000" pitchFamily="34" charset="-128"/>
                <a:ea typeface="Yu Gothic UI" panose="020B0500000000000000" pitchFamily="34" charset="-128"/>
              </a:rPr>
              <a:t>（</a:t>
            </a:r>
            <a:r>
              <a:rPr lang="en-US" altLang="ja-JP" sz="1000">
                <a:solidFill>
                  <a:srgbClr val="0000FF"/>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Azure IoT Operations </a:t>
            </a:r>
            <a:r>
              <a:rPr lang="ja-JP" altLang="en-US" sz="1000">
                <a:solidFill>
                  <a:srgbClr val="566473"/>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とは</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25" name="source:body:3">
            <a:extLst>
              <a:ext uri="{FF2B5EF4-FFF2-40B4-BE49-F238E27FC236}">
                <a16:creationId xmlns:a16="http://schemas.microsoft.com/office/drawing/2014/main" id="{2BA6327C-0788-6307-8951-24CB53149472}"/>
              </a:ext>
            </a:extLst>
          </p:cNvPr>
          <p:cNvSpPr txBox="1"/>
          <p:nvPr/>
        </p:nvSpPr>
        <p:spPr>
          <a:xfrm>
            <a:off x="584200" y="4330699"/>
            <a:ext cx="11023600" cy="431800"/>
          </a:xfrm>
          <a:prstGeom prst="rect">
            <a:avLst/>
          </a:prstGeom>
          <a:noFill/>
        </p:spPr>
        <p:txBody>
          <a:bodyPr vert="horz" wrap="square" lIns="0" tIns="0" rIns="0" bIns="0" rtlCol="0" anchor="t">
            <a:noAutofit/>
          </a:bodyPr>
          <a:lstStyle/>
          <a:p>
            <a:r>
              <a:rPr lang="ja-JP" altLang="en-US" sz="1300" b="1">
                <a:solidFill>
                  <a:srgbClr val="0B2430"/>
                </a:solidFill>
                <a:latin typeface="Yu Gothic UI" panose="020B0500000000000000" pitchFamily="34" charset="-128"/>
                <a:ea typeface="Yu Gothic UI" panose="020B0500000000000000" pitchFamily="34" charset="-128"/>
              </a:rPr>
              <a:t>検討する条件</a:t>
            </a:r>
            <a:r>
              <a:rPr lang="en-US" altLang="ja-JP" sz="1300" b="1">
                <a:solidFill>
                  <a:srgbClr val="0B2430"/>
                </a:solidFill>
                <a:latin typeface="Yu Gothic UI" panose="020B0500000000000000" pitchFamily="34" charset="-128"/>
                <a:ea typeface="Yu Gothic UI" panose="020B0500000000000000" pitchFamily="34" charset="-128"/>
              </a:rPr>
              <a:t>:</a:t>
            </a:r>
            <a:r>
              <a:rPr lang="en-US" altLang="ja-JP" sz="1300">
                <a:solidFill>
                  <a:srgbClr val="0B2430"/>
                </a:solidFill>
                <a:latin typeface="Yu Gothic UI" panose="020B0500000000000000" pitchFamily="34" charset="-128"/>
                <a:ea typeface="Yu Gothic UI" panose="020B0500000000000000" pitchFamily="34" charset="-128"/>
              </a:rPr>
              <a:t> </a:t>
            </a:r>
            <a:r>
              <a:rPr lang="ja-JP" altLang="en-US" sz="1300">
                <a:solidFill>
                  <a:srgbClr val="0B2430"/>
                </a:solidFill>
                <a:latin typeface="Yu Gothic UI" panose="020B0500000000000000" pitchFamily="34" charset="-128"/>
                <a:ea typeface="Yu Gothic UI" panose="020B0500000000000000" pitchFamily="34" charset="-128"/>
              </a:rPr>
              <a:t>産業プロトコルへの対応、現場での低遅延処理、設備からの直接インターネット接続の制限がある場合（</a:t>
            </a:r>
            <a:r>
              <a:rPr lang="en-US" altLang="ja-JP" sz="1000">
                <a:solidFill>
                  <a:srgbClr val="0000FF"/>
                </a:solidFill>
                <a:latin typeface="Yu Gothic UI" panose="020B0500000000000000" pitchFamily="34" charset="-128"/>
                <a:ea typeface="Yu Gothic UI" panose="020B0500000000000000" pitchFamily="34" charset="-128"/>
                <a:hlinkClick r:id="rId10">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10">
                  <a:extLst>
                    <a:ext uri="{A12FA001-AC4F-418D-AE19-62706E023703}">
                      <ahyp:hlinkClr xmlns:ahyp="http://schemas.microsoft.com/office/drawing/2018/hyperlinkcolor" val="tx"/>
                    </a:ext>
                  </a:extLst>
                </a:hlinkClick>
              </a:rPr>
              <a:t>とは</a:t>
            </a:r>
            <a:r>
              <a:rPr lang="ja-JP" altLang="en-US" sz="1300">
                <a:solidFill>
                  <a:srgbClr val="0B2430"/>
                </a:solidFill>
                <a:latin typeface="Yu Gothic UI" panose="020B0500000000000000" pitchFamily="34" charset="-128"/>
                <a:ea typeface="Yu Gothic UI" panose="020B0500000000000000" pitchFamily="34" charset="-128"/>
              </a:rPr>
              <a:t>、</a:t>
            </a:r>
            <a:r>
              <a:rPr lang="en-US" altLang="ja-JP" sz="1000">
                <a:solidFill>
                  <a:srgbClr val="0000FF"/>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OPC UA </a:t>
            </a:r>
            <a:r>
              <a:rPr lang="ja-JP" altLang="en-US" sz="1000">
                <a:solidFill>
                  <a:srgbClr val="566473"/>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用コネクタとは</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26" name="source:conclusion">
            <a:extLst>
              <a:ext uri="{FF2B5EF4-FFF2-40B4-BE49-F238E27FC236}">
                <a16:creationId xmlns:a16="http://schemas.microsoft.com/office/drawing/2014/main" id="{6A88051D-5C15-535D-DA8B-70CB97F5439B}"/>
              </a:ext>
            </a:extLst>
          </p:cNvPr>
          <p:cNvSpPr txBox="1"/>
          <p:nvPr/>
        </p:nvSpPr>
        <p:spPr>
          <a:xfrm>
            <a:off x="584200" y="4851400"/>
            <a:ext cx="11023600" cy="508000"/>
          </a:xfrm>
          <a:prstGeom prst="rect">
            <a:avLst/>
          </a:prstGeom>
          <a:noFill/>
        </p:spPr>
        <p:txBody>
          <a:bodyPr vert="horz" wrap="square" lIns="0" tIns="0" rIns="0" bIns="0" rtlCol="0" anchor="t">
            <a:noAutofit/>
          </a:bodyPr>
          <a:lstStyle/>
          <a:p>
            <a:r>
              <a:rPr lang="en-US" altLang="ja-JP" sz="1300" b="1">
                <a:solidFill>
                  <a:srgbClr val="0B2430"/>
                </a:solidFill>
                <a:latin typeface="Yu Gothic UI" panose="020B0500000000000000" pitchFamily="34" charset="-128"/>
                <a:ea typeface="Yu Gothic UI" panose="020B0500000000000000" pitchFamily="34" charset="-128"/>
              </a:rPr>
              <a:t>IoT Operations </a:t>
            </a:r>
            <a:r>
              <a:rPr lang="ja-JP" altLang="en-US" sz="1300" b="1">
                <a:solidFill>
                  <a:srgbClr val="0B2430"/>
                </a:solidFill>
                <a:latin typeface="Yu Gothic UI" panose="020B0500000000000000" pitchFamily="34" charset="-128"/>
                <a:ea typeface="Yu Gothic UI" panose="020B0500000000000000" pitchFamily="34" charset="-128"/>
              </a:rPr>
              <a:t>の注意</a:t>
            </a:r>
            <a:r>
              <a:rPr lang="en-US" altLang="ja-JP" sz="1300" b="1">
                <a:solidFill>
                  <a:srgbClr val="0B2430"/>
                </a:solidFill>
                <a:latin typeface="Yu Gothic UI" panose="020B0500000000000000" pitchFamily="34" charset="-128"/>
                <a:ea typeface="Yu Gothic UI" panose="020B0500000000000000" pitchFamily="34" charset="-128"/>
              </a:rPr>
              <a:t>: </a:t>
            </a:r>
            <a:r>
              <a:rPr lang="ja-JP" altLang="en-US" sz="1300" b="1">
                <a:solidFill>
                  <a:srgbClr val="0B2430"/>
                </a:solidFill>
                <a:latin typeface="Yu Gothic UI" panose="020B0500000000000000" pitchFamily="34" charset="-128"/>
                <a:ea typeface="Yu Gothic UI" panose="020B0500000000000000" pitchFamily="34" charset="-128"/>
              </a:rPr>
              <a:t>オフライン動作は最大</a:t>
            </a:r>
            <a:r>
              <a:rPr lang="en-US" altLang="ja-JP" sz="1300" b="1">
                <a:solidFill>
                  <a:srgbClr val="0B2430"/>
                </a:solidFill>
                <a:latin typeface="Yu Gothic UI" panose="020B0500000000000000" pitchFamily="34" charset="-128"/>
                <a:ea typeface="Yu Gothic UI" panose="020B0500000000000000" pitchFamily="34" charset="-128"/>
              </a:rPr>
              <a:t>72</a:t>
            </a:r>
            <a:r>
              <a:rPr lang="ja-JP" altLang="en-US" sz="1300" b="1">
                <a:solidFill>
                  <a:srgbClr val="0B2430"/>
                </a:solidFill>
                <a:latin typeface="Yu Gothic UI" panose="020B0500000000000000" pitchFamily="34" charset="-128"/>
                <a:ea typeface="Yu Gothic UI" panose="020B0500000000000000" pitchFamily="34" charset="-128"/>
              </a:rPr>
              <a:t>時間で、機能が低下する可能性がある。完全閉域での無期限運用を前提にしない。（</a:t>
            </a:r>
            <a:r>
              <a:rPr lang="en-US" altLang="ja-JP" sz="1000" b="1">
                <a:solidFill>
                  <a:srgbClr val="0000FF"/>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Azure IoT Operations </a:t>
            </a:r>
            <a:r>
              <a:rPr lang="ja-JP" altLang="en-US" sz="1000" b="1">
                <a:solidFill>
                  <a:srgbClr val="566473"/>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とは</a:t>
            </a:r>
            <a:r>
              <a:rPr lang="ja-JP" altLang="en-US" sz="1300" b="1">
                <a:solidFill>
                  <a:srgbClr val="0B2430"/>
                </a:solidFill>
                <a:latin typeface="Yu Gothic UI" panose="020B0500000000000000" pitchFamily="34" charset="-128"/>
                <a:ea typeface="Yu Gothic UI" panose="020B0500000000000000" pitchFamily="34" charset="-128"/>
              </a:rPr>
              <a:t>）</a:t>
            </a:r>
            <a:endParaRPr lang="en-US" sz="1300" b="1">
              <a:solidFill>
                <a:srgbClr val="0B2430"/>
              </a:solidFill>
              <a:latin typeface="Yu Gothic UI" panose="020B0500000000000000" pitchFamily="34" charset="-128"/>
              <a:ea typeface="Yu Gothic UI" panose="020B0500000000000000" pitchFamily="34" charset="-128"/>
            </a:endParaRPr>
          </a:p>
        </p:txBody>
      </p:sp>
      <p:sp>
        <p:nvSpPr>
          <p:cNvPr id="27" name="source:body:5">
            <a:extLst>
              <a:ext uri="{FF2B5EF4-FFF2-40B4-BE49-F238E27FC236}">
                <a16:creationId xmlns:a16="http://schemas.microsoft.com/office/drawing/2014/main" id="{984F403D-39EE-30E7-98EF-3349C1009B83}"/>
              </a:ext>
            </a:extLst>
          </p:cNvPr>
          <p:cNvSpPr txBox="1"/>
          <p:nvPr/>
        </p:nvSpPr>
        <p:spPr>
          <a:xfrm>
            <a:off x="584200" y="5460999"/>
            <a:ext cx="11023600" cy="342900"/>
          </a:xfrm>
          <a:prstGeom prst="rect">
            <a:avLst/>
          </a:prstGeom>
          <a:noFill/>
        </p:spPr>
        <p:txBody>
          <a:bodyPr vert="horz" wrap="square" lIns="0" tIns="0" rIns="0" bIns="0" rtlCol="0" anchor="t">
            <a:noAutofit/>
          </a:bodyPr>
          <a:lstStyle/>
          <a:p>
            <a:r>
              <a:rPr lang="en-US" altLang="ja-JP" b="1">
                <a:solidFill>
                  <a:srgbClr val="0078D4"/>
                </a:solidFill>
                <a:latin typeface="Yu Gothic UI" panose="020B0500000000000000" pitchFamily="34" charset="-128"/>
                <a:ea typeface="Yu Gothic UI" panose="020B0500000000000000" pitchFamily="34" charset="-128"/>
              </a:rPr>
              <a:t>Azure IoT Edge: </a:t>
            </a:r>
            <a:r>
              <a:rPr lang="ja-JP" altLang="en-US" b="1">
                <a:solidFill>
                  <a:srgbClr val="0078D4"/>
                </a:solidFill>
                <a:latin typeface="Yu Gothic UI" panose="020B0500000000000000" pitchFamily="34" charset="-128"/>
                <a:ea typeface="Yu Gothic UI" panose="020B0500000000000000" pitchFamily="34" charset="-128"/>
              </a:rPr>
              <a:t>もう一つのエッジ接続の選択肢</a:t>
            </a:r>
            <a:endParaRPr lang="en-US" b="1">
              <a:solidFill>
                <a:srgbClr val="0078D4"/>
              </a:solidFill>
              <a:latin typeface="Yu Gothic UI" panose="020B0500000000000000" pitchFamily="34" charset="-128"/>
              <a:ea typeface="Yu Gothic UI" panose="020B0500000000000000" pitchFamily="34" charset="-128"/>
            </a:endParaRPr>
          </a:p>
        </p:txBody>
      </p:sp>
      <p:sp>
        <p:nvSpPr>
          <p:cNvPr id="28" name="source:body:6">
            <a:extLst>
              <a:ext uri="{FF2B5EF4-FFF2-40B4-BE49-F238E27FC236}">
                <a16:creationId xmlns:a16="http://schemas.microsoft.com/office/drawing/2014/main" id="{CCD4631A-A107-0D86-6739-EDD8F2B6FDC8}"/>
              </a:ext>
            </a:extLst>
          </p:cNvPr>
          <p:cNvSpPr txBox="1"/>
          <p:nvPr/>
        </p:nvSpPr>
        <p:spPr>
          <a:xfrm>
            <a:off x="584200" y="5905499"/>
            <a:ext cx="11023600" cy="7493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デバイス上でコンテナー化した処理を実行し、</a:t>
            </a:r>
            <a:r>
              <a:rPr lang="en-US" altLang="ja-JP" sz="1400" b="1">
                <a:solidFill>
                  <a:srgbClr val="0B2430"/>
                </a:solidFill>
                <a:latin typeface="Yu Gothic UI" panose="020B0500000000000000" pitchFamily="34" charset="-128"/>
                <a:ea typeface="Yu Gothic UI" panose="020B0500000000000000" pitchFamily="34" charset="-128"/>
              </a:rPr>
              <a:t>IoT Hub </a:t>
            </a:r>
            <a:r>
              <a:rPr lang="ja-JP" altLang="en-US" sz="1400" b="1">
                <a:solidFill>
                  <a:srgbClr val="0B2430"/>
                </a:solidFill>
                <a:latin typeface="Yu Gothic UI" panose="020B0500000000000000" pitchFamily="34" charset="-128"/>
                <a:ea typeface="Yu Gothic UI" panose="020B0500000000000000" pitchFamily="34" charset="-128"/>
              </a:rPr>
              <a:t>への</a:t>
            </a:r>
            <a:r>
              <a:rPr lang="ja-JP" altLang="en-US" sz="1000" b="1">
                <a:solidFill>
                  <a:srgbClr val="566473"/>
                </a:solidFill>
                <a:latin typeface="Yu Gothic UI" panose="020B0500000000000000" pitchFamily="34" charset="-128"/>
                <a:ea typeface="Yu Gothic UI" panose="020B0500000000000000" pitchFamily="34" charset="-128"/>
                <a:hlinkClick r:id="rId11">
                  <a:extLst>
                    <a:ext uri="{A12FA001-AC4F-418D-AE19-62706E023703}">
                      <ahyp:hlinkClr xmlns:ahyp="http://schemas.microsoft.com/office/drawing/2018/hyperlinkcolor" val="tx"/>
                    </a:ext>
                  </a:extLst>
                </a:hlinkClick>
              </a:rPr>
              <a:t>ゲートウェイ</a:t>
            </a:r>
            <a:r>
              <a:rPr lang="ja-JP" altLang="en-US" sz="1400">
                <a:solidFill>
                  <a:srgbClr val="0B2430"/>
                </a:solidFill>
                <a:latin typeface="Yu Gothic UI" panose="020B0500000000000000" pitchFamily="34" charset="-128"/>
                <a:ea typeface="Yu Gothic UI" panose="020B0500000000000000" pitchFamily="34" charset="-128"/>
              </a:rPr>
              <a:t>としても利用できる。</a:t>
            </a:r>
            <a:r>
              <a:rPr lang="ja-JP" altLang="en-US" sz="1400" b="1">
                <a:solidFill>
                  <a:srgbClr val="0B2430"/>
                </a:solidFill>
                <a:latin typeface="Yu Gothic UI" panose="020B0500000000000000" pitchFamily="34" charset="-128"/>
                <a:ea typeface="Yu Gothic UI" panose="020B0500000000000000" pitchFamily="34" charset="-128"/>
              </a:rPr>
              <a:t>現在もサポートされている</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2026-09-08 </a:t>
            </a:r>
            <a:r>
              <a:rPr lang="ja-JP" altLang="en-US" sz="1400">
                <a:solidFill>
                  <a:srgbClr val="0B2430"/>
                </a:solidFill>
                <a:latin typeface="Yu Gothic UI" panose="020B0500000000000000" pitchFamily="34" charset="-128"/>
                <a:ea typeface="Yu Gothic UI" panose="020B0500000000000000" pitchFamily="34" charset="-128"/>
              </a:rPr>
              <a:t>確認。本章では紹介のみ）（</a:t>
            </a:r>
            <a:r>
              <a:rPr lang="en-US" altLang="ja-JP" sz="1000">
                <a:solidFill>
                  <a:srgbClr val="0000FF"/>
                </a:solidFill>
                <a:latin typeface="Yu Gothic UI" panose="020B0500000000000000" pitchFamily="34" charset="-128"/>
                <a:ea typeface="Yu Gothic UI" panose="020B0500000000000000" pitchFamily="34" charset="-128"/>
                <a:hlinkClick r:id="rId12">
                  <a:extLst>
                    <a:ext uri="{A12FA001-AC4F-418D-AE19-62706E023703}">
                      <ahyp:hlinkClr xmlns:ahyp="http://schemas.microsoft.com/office/drawing/2018/hyperlinkcolor" val="tx"/>
                    </a:ext>
                  </a:extLst>
                </a:hlinkClick>
              </a:rPr>
              <a:t>IoT Edge </a:t>
            </a:r>
            <a:r>
              <a:rPr lang="ja-JP" altLang="en-US" sz="1000">
                <a:solidFill>
                  <a:srgbClr val="566473"/>
                </a:solidFill>
                <a:latin typeface="Yu Gothic UI" panose="020B0500000000000000" pitchFamily="34" charset="-128"/>
                <a:ea typeface="Yu Gothic UI" panose="020B0500000000000000" pitchFamily="34" charset="-128"/>
                <a:hlinkClick r:id="rId12">
                  <a:extLst>
                    <a:ext uri="{A12FA001-AC4F-418D-AE19-62706E023703}">
                      <ahyp:hlinkClr xmlns:ahyp="http://schemas.microsoft.com/office/drawing/2018/hyperlinkcolor" val="tx"/>
                    </a:ext>
                  </a:extLst>
                </a:hlinkClick>
              </a:rPr>
              <a:t>の概要</a:t>
            </a:r>
            <a:r>
              <a:rPr lang="ja-JP" altLang="en-US" sz="1400">
                <a:solidFill>
                  <a:srgbClr val="0B2430"/>
                </a:solidFill>
                <a:latin typeface="Yu Gothic UI" panose="020B0500000000000000" pitchFamily="34" charset="-128"/>
                <a:ea typeface="Yu Gothic UI" panose="020B0500000000000000" pitchFamily="34" charset="-128"/>
              </a:rPr>
              <a:t>、ゲートウェイ、</a:t>
            </a:r>
            <a:r>
              <a:rPr lang="ja-JP" altLang="en-US" sz="1000">
                <a:solidFill>
                  <a:srgbClr val="566473"/>
                </a:solidFill>
                <a:latin typeface="Yu Gothic UI" panose="020B0500000000000000" pitchFamily="34" charset="-128"/>
                <a:ea typeface="Yu Gothic UI" panose="020B0500000000000000" pitchFamily="34" charset="-128"/>
                <a:hlinkClick r:id="rId13">
                  <a:extLst>
                    <a:ext uri="{A12FA001-AC4F-418D-AE19-62706E023703}">
                      <ahyp:hlinkClr xmlns:ahyp="http://schemas.microsoft.com/office/drawing/2018/hyperlinkcolor" val="tx"/>
                    </a:ext>
                  </a:extLst>
                </a:hlinkClick>
              </a:rPr>
              <a:t>サポート期間</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200938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ハイブリッド構成と今回の対象範囲</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4</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7" name="source:lead">
            <a:extLst>
              <a:ext uri="{FF2B5EF4-FFF2-40B4-BE49-F238E27FC236}">
                <a16:creationId xmlns:a16="http://schemas.microsoft.com/office/drawing/2014/main" id="{6A264259-5C2E-BD41-C745-7A20DD1BBCCB}"/>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ハイブリッドは、クラウド直接接続とエッジ経由接続を組み合わせる構成。</a:t>
            </a:r>
            <a:r>
              <a:rPr lang="ja-JP" altLang="en-US" sz="1400">
                <a:solidFill>
                  <a:srgbClr val="566473"/>
                </a:solidFill>
                <a:latin typeface="Yu Gothic UI" panose="020B0500000000000000" pitchFamily="34" charset="-128"/>
                <a:ea typeface="Yu Gothic UI" panose="020B0500000000000000" pitchFamily="34" charset="-128"/>
              </a:rPr>
              <a:t> 拠点や設備の要件に合わせて使い分ける（</a:t>
            </a:r>
            <a:r>
              <a:rPr lang="en-US" altLang="ja-JP" sz="1000">
                <a:solidFill>
                  <a:srgbClr val="0000FF"/>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サービスを選択する</a:t>
            </a:r>
            <a:r>
              <a:rPr lang="ja-JP" altLang="en-US" sz="1400">
                <a:solidFill>
                  <a:srgbClr val="566473"/>
                </a:solidFill>
                <a:latin typeface="Yu Gothic UI" panose="020B0500000000000000" pitchFamily="34" charset="-128"/>
                <a:ea typeface="Yu Gothic UI" panose="020B0500000000000000" pitchFamily="34" charset="-128"/>
              </a:rPr>
              <a:t>）。</a:t>
            </a:r>
            <a:endParaRPr lang="en-US" sz="1400">
              <a:solidFill>
                <a:srgbClr val="566473"/>
              </a:solidFill>
              <a:latin typeface="Yu Gothic UI" panose="020B0500000000000000" pitchFamily="34" charset="-128"/>
              <a:ea typeface="Yu Gothic UI" panose="020B0500000000000000" pitchFamily="34" charset="-128"/>
            </a:endParaRPr>
          </a:p>
        </p:txBody>
      </p:sp>
      <p:sp>
        <p:nvSpPr>
          <p:cNvPr id="8" name="node:direct">
            <a:extLst>
              <a:ext uri="{FF2B5EF4-FFF2-40B4-BE49-F238E27FC236}">
                <a16:creationId xmlns:a16="http://schemas.microsoft.com/office/drawing/2014/main" id="{96EF4F97-5FA5-CBEC-0E4B-AB68FB62FDF2}"/>
              </a:ext>
            </a:extLst>
          </p:cNvPr>
          <p:cNvSpPr/>
          <p:nvPr/>
        </p:nvSpPr>
        <p:spPr>
          <a:xfrm>
            <a:off x="762000" y="1765300"/>
            <a:ext cx="27940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拠点</a:t>
            </a:r>
            <a:r>
              <a:rPr lang="en-US" altLang="ja-JP" sz="1300">
                <a:solidFill>
                  <a:srgbClr val="0B2430"/>
                </a:solidFill>
                <a:latin typeface="Yu Gothic UI" panose="020B0500000000000000" pitchFamily="34" charset="-128"/>
                <a:ea typeface="Yu Gothic UI" panose="020B0500000000000000" pitchFamily="34" charset="-128"/>
              </a:rPr>
              <a:t>A: </a:t>
            </a:r>
            <a:r>
              <a:rPr lang="ja-JP" altLang="en-US" sz="1300">
                <a:solidFill>
                  <a:srgbClr val="0B2430"/>
                </a:solidFill>
                <a:latin typeface="Yu Gothic UI" panose="020B0500000000000000" pitchFamily="34" charset="-128"/>
                <a:ea typeface="Yu Gothic UI" panose="020B0500000000000000" pitchFamily="34" charset="-128"/>
              </a:rPr>
              <a:t>温度センサー</a:t>
            </a:r>
          </a:p>
          <a:p>
            <a:pPr algn="ctr"/>
            <a:r>
              <a:rPr lang="ja-JP" altLang="en-US" sz="1300">
                <a:solidFill>
                  <a:srgbClr val="0B2430"/>
                </a:solidFill>
                <a:latin typeface="Yu Gothic UI" panose="020B0500000000000000" pitchFamily="34" charset="-128"/>
                <a:ea typeface="Yu Gothic UI" panose="020B0500000000000000" pitchFamily="34" charset="-128"/>
              </a:rPr>
              <a:t>クラウドへ直接接続可能</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9" name="node:hub">
            <a:extLst>
              <a:ext uri="{FF2B5EF4-FFF2-40B4-BE49-F238E27FC236}">
                <a16:creationId xmlns:a16="http://schemas.microsoft.com/office/drawing/2014/main" id="{AD7C3A64-8539-F174-6C19-9242B35BFAA9}"/>
              </a:ext>
            </a:extLst>
          </p:cNvPr>
          <p:cNvSpPr/>
          <p:nvPr/>
        </p:nvSpPr>
        <p:spPr>
          <a:xfrm>
            <a:off x="4889500" y="1765300"/>
            <a:ext cx="25146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300">
                <a:solidFill>
                  <a:srgbClr val="0B2430"/>
                </a:solidFill>
                <a:latin typeface="Yu Gothic UI" panose="020B0500000000000000" pitchFamily="34" charset="-128"/>
                <a:ea typeface="Yu Gothic UI" panose="020B0500000000000000" pitchFamily="34" charset="-128"/>
              </a:rPr>
              <a:t>Azure IoT Hub</a:t>
            </a:r>
          </a:p>
          <a:p>
            <a:pPr algn="ctr"/>
            <a:r>
              <a:rPr lang="ja-JP" altLang="en-US" sz="1300">
                <a:solidFill>
                  <a:srgbClr val="0B2430"/>
                </a:solidFill>
                <a:latin typeface="Yu Gothic UI" panose="020B0500000000000000" pitchFamily="34" charset="-128"/>
                <a:ea typeface="Yu Gothic UI" panose="020B0500000000000000" pitchFamily="34" charset="-128"/>
              </a:rPr>
              <a:t>今回の対象</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0" name="node:equipment">
            <a:extLst>
              <a:ext uri="{FF2B5EF4-FFF2-40B4-BE49-F238E27FC236}">
                <a16:creationId xmlns:a16="http://schemas.microsoft.com/office/drawing/2014/main" id="{23BC937B-C030-A2F7-FF80-4B9633D731DB}"/>
              </a:ext>
            </a:extLst>
          </p:cNvPr>
          <p:cNvSpPr/>
          <p:nvPr/>
        </p:nvSpPr>
        <p:spPr>
          <a:xfrm>
            <a:off x="762000" y="2933700"/>
            <a:ext cx="27940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拠点</a:t>
            </a:r>
            <a:r>
              <a:rPr lang="en-US" sz="1300">
                <a:solidFill>
                  <a:srgbClr val="0B2430"/>
                </a:solidFill>
                <a:latin typeface="Yu Gothic UI" panose="020B0500000000000000" pitchFamily="34" charset="-128"/>
                <a:ea typeface="Yu Gothic UI" panose="020B0500000000000000" pitchFamily="34" charset="-128"/>
              </a:rPr>
              <a:t>B: </a:t>
            </a:r>
            <a:r>
              <a:rPr lang="ja-JP" altLang="en-US" sz="1300">
                <a:solidFill>
                  <a:srgbClr val="0B2430"/>
                </a:solidFill>
                <a:latin typeface="Yu Gothic UI" panose="020B0500000000000000" pitchFamily="34" charset="-128"/>
                <a:ea typeface="Yu Gothic UI" panose="020B0500000000000000" pitchFamily="34" charset="-128"/>
              </a:rPr>
              <a:t>工場設備</a:t>
            </a:r>
          </a:p>
          <a:p>
            <a:pPr algn="ctr"/>
            <a:r>
              <a:rPr lang="en-US" sz="1300">
                <a:solidFill>
                  <a:srgbClr val="0B2430"/>
                </a:solidFill>
                <a:latin typeface="Yu Gothic UI" panose="020B0500000000000000" pitchFamily="34" charset="-128"/>
                <a:ea typeface="Yu Gothic UI" panose="020B0500000000000000" pitchFamily="34" charset="-128"/>
              </a:rPr>
              <a:t>OPC UA </a:t>
            </a:r>
            <a:r>
              <a:rPr lang="ja-JP" altLang="en-US" sz="1300">
                <a:solidFill>
                  <a:srgbClr val="0B2430"/>
                </a:solidFill>
                <a:latin typeface="Yu Gothic UI" panose="020B0500000000000000" pitchFamily="34" charset="-128"/>
                <a:ea typeface="Yu Gothic UI" panose="020B0500000000000000" pitchFamily="34" charset="-128"/>
              </a:rPr>
              <a:t>で現場接続</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1" name="node:operations">
            <a:extLst>
              <a:ext uri="{FF2B5EF4-FFF2-40B4-BE49-F238E27FC236}">
                <a16:creationId xmlns:a16="http://schemas.microsoft.com/office/drawing/2014/main" id="{017D1C54-7529-E34F-F144-0D7CF9727E4A}"/>
              </a:ext>
            </a:extLst>
          </p:cNvPr>
          <p:cNvSpPr/>
          <p:nvPr/>
        </p:nvSpPr>
        <p:spPr>
          <a:xfrm>
            <a:off x="4889500" y="2933700"/>
            <a:ext cx="25146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300">
                <a:solidFill>
                  <a:srgbClr val="0B2430"/>
                </a:solidFill>
                <a:latin typeface="Yu Gothic UI" panose="020B0500000000000000" pitchFamily="34" charset="-128"/>
                <a:ea typeface="Yu Gothic UI" panose="020B0500000000000000" pitchFamily="34" charset="-128"/>
              </a:rPr>
              <a:t>Azure IoT Operations</a:t>
            </a:r>
          </a:p>
          <a:p>
            <a:pPr algn="ctr"/>
            <a:r>
              <a:rPr lang="ja-JP" altLang="en-US" sz="1300">
                <a:solidFill>
                  <a:srgbClr val="0B2430"/>
                </a:solidFill>
                <a:latin typeface="Yu Gothic UI" panose="020B0500000000000000" pitchFamily="34" charset="-128"/>
                <a:ea typeface="Yu Gothic UI" panose="020B0500000000000000" pitchFamily="34" charset="-128"/>
              </a:rPr>
              <a:t>構成紹介のみ</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2" name="node:downstream">
            <a:extLst>
              <a:ext uri="{FF2B5EF4-FFF2-40B4-BE49-F238E27FC236}">
                <a16:creationId xmlns:a16="http://schemas.microsoft.com/office/drawing/2014/main" id="{1BBCFF1E-5385-08BB-750D-AD74B61347D1}"/>
              </a:ext>
            </a:extLst>
          </p:cNvPr>
          <p:cNvSpPr/>
          <p:nvPr/>
        </p:nvSpPr>
        <p:spPr>
          <a:xfrm>
            <a:off x="9131300" y="2336800"/>
            <a:ext cx="2336800" cy="7874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後続の蓄積・分析・可視化</a:t>
            </a:r>
          </a:p>
          <a:p>
            <a:pPr algn="ctr"/>
            <a:r>
              <a:rPr lang="ja-JP" altLang="en-US" sz="1300">
                <a:solidFill>
                  <a:srgbClr val="0B2430"/>
                </a:solidFill>
                <a:latin typeface="Yu Gothic UI" panose="020B0500000000000000" pitchFamily="34" charset="-128"/>
                <a:ea typeface="Yu Gothic UI" panose="020B0500000000000000" pitchFamily="34" charset="-128"/>
              </a:rPr>
              <a:t>経路ごとの連携設定は省略</a:t>
            </a:r>
            <a:endParaRPr lang="en-US" sz="1300">
              <a:solidFill>
                <a:srgbClr val="0B2430"/>
              </a:solidFill>
              <a:latin typeface="Yu Gothic UI" panose="020B0500000000000000" pitchFamily="34" charset="-128"/>
              <a:ea typeface="Yu Gothic UI" panose="020B0500000000000000" pitchFamily="34" charset="-128"/>
            </a:endParaRPr>
          </a:p>
        </p:txBody>
      </p:sp>
      <p:cxnSp>
        <p:nvCxnSpPr>
          <p:cNvPr id="13" name="edge:direct:hub">
            <a:extLst>
              <a:ext uri="{FF2B5EF4-FFF2-40B4-BE49-F238E27FC236}">
                <a16:creationId xmlns:a16="http://schemas.microsoft.com/office/drawing/2014/main" id="{59943DD7-029A-47E5-7DC2-EA4A2B5CF6E7}"/>
              </a:ext>
            </a:extLst>
          </p:cNvPr>
          <p:cNvCxnSpPr>
            <a:cxnSpLocks/>
            <a:stCxn id="8" idx="3"/>
            <a:endCxn id="9" idx="1"/>
          </p:cNvCxnSpPr>
          <p:nvPr/>
        </p:nvCxnSpPr>
        <p:spPr>
          <a:xfrm>
            <a:off x="3556000" y="2108200"/>
            <a:ext cx="13335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4" name="edge:equipment:operations">
            <a:extLst>
              <a:ext uri="{FF2B5EF4-FFF2-40B4-BE49-F238E27FC236}">
                <a16:creationId xmlns:a16="http://schemas.microsoft.com/office/drawing/2014/main" id="{9FB96C23-3629-789D-831D-92BFB3CCDD25}"/>
              </a:ext>
            </a:extLst>
          </p:cNvPr>
          <p:cNvCxnSpPr>
            <a:cxnSpLocks/>
            <a:stCxn id="10" idx="3"/>
            <a:endCxn id="11" idx="1"/>
          </p:cNvCxnSpPr>
          <p:nvPr/>
        </p:nvCxnSpPr>
        <p:spPr>
          <a:xfrm>
            <a:off x="3556000" y="3276600"/>
            <a:ext cx="13335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5" name="edge:hub:downstream">
            <a:extLst>
              <a:ext uri="{FF2B5EF4-FFF2-40B4-BE49-F238E27FC236}">
                <a16:creationId xmlns:a16="http://schemas.microsoft.com/office/drawing/2014/main" id="{F24200B4-1C4D-2BA4-6D0B-8FC1A25E5BC7}"/>
              </a:ext>
            </a:extLst>
          </p:cNvPr>
          <p:cNvCxnSpPr>
            <a:cxnSpLocks/>
            <a:stCxn id="9" idx="3"/>
            <a:endCxn id="12" idx="1"/>
          </p:cNvCxnSpPr>
          <p:nvPr/>
        </p:nvCxnSpPr>
        <p:spPr>
          <a:xfrm>
            <a:off x="7404100" y="2108200"/>
            <a:ext cx="1727200" cy="6223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 name="edge:operations:downstream">
            <a:extLst>
              <a:ext uri="{FF2B5EF4-FFF2-40B4-BE49-F238E27FC236}">
                <a16:creationId xmlns:a16="http://schemas.microsoft.com/office/drawing/2014/main" id="{A5861C74-2B38-5E1E-C82B-91D9D9514E79}"/>
              </a:ext>
            </a:extLst>
          </p:cNvPr>
          <p:cNvCxnSpPr>
            <a:cxnSpLocks/>
            <a:stCxn id="11" idx="3"/>
            <a:endCxn id="12" idx="1"/>
          </p:cNvCxnSpPr>
          <p:nvPr/>
        </p:nvCxnSpPr>
        <p:spPr>
          <a:xfrm flipV="1">
            <a:off x="7404100" y="2730500"/>
            <a:ext cx="1727200" cy="5461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7" name="scope:device">
            <a:extLst>
              <a:ext uri="{FF2B5EF4-FFF2-40B4-BE49-F238E27FC236}">
                <a16:creationId xmlns:a16="http://schemas.microsoft.com/office/drawing/2014/main" id="{4DFAE7EC-877F-9FA6-33E4-D834674B3960}"/>
              </a:ext>
            </a:extLst>
          </p:cNvPr>
          <p:cNvSpPr txBox="1"/>
          <p:nvPr/>
        </p:nvSpPr>
        <p:spPr>
          <a:xfrm>
            <a:off x="762000" y="1473199"/>
            <a:ext cx="2794000" cy="228600"/>
          </a:xfrm>
          <a:prstGeom prst="rect">
            <a:avLst/>
          </a:prstGeom>
          <a:noFill/>
        </p:spPr>
        <p:txBody>
          <a:bodyPr vert="horz" wrap="square" lIns="0" tIns="0" rIns="0" bIns="0" rtlCol="0" anchor="t">
            <a:noAutofit/>
          </a:bodyPr>
          <a:lstStyle/>
          <a:p>
            <a:r>
              <a:rPr lang="ja-JP" altLang="en-US" sz="1100">
                <a:solidFill>
                  <a:srgbClr val="0078D4"/>
                </a:solidFill>
                <a:latin typeface="Yu Gothic UI" panose="020B0500000000000000" pitchFamily="34" charset="-128"/>
                <a:ea typeface="Yu Gothic UI" panose="020B0500000000000000" pitchFamily="34" charset="-128"/>
              </a:rPr>
              <a:t>今回の対象</a:t>
            </a:r>
            <a:endParaRPr lang="en-US" sz="1100">
              <a:solidFill>
                <a:srgbClr val="0078D4"/>
              </a:solidFill>
              <a:latin typeface="Yu Gothic UI" panose="020B0500000000000000" pitchFamily="34" charset="-128"/>
              <a:ea typeface="Yu Gothic UI" panose="020B0500000000000000" pitchFamily="34" charset="-128"/>
            </a:endParaRPr>
          </a:p>
        </p:txBody>
      </p:sp>
      <p:graphicFrame>
        <p:nvGraphicFramePr>
          <p:cNvPr id="18" name="source:table">
            <a:extLst>
              <a:ext uri="{FF2B5EF4-FFF2-40B4-BE49-F238E27FC236}">
                <a16:creationId xmlns:a16="http://schemas.microsoft.com/office/drawing/2014/main" id="{8951B5AB-974C-BBB5-785C-45F28764EEEB}"/>
              </a:ext>
            </a:extLst>
          </p:cNvPr>
          <p:cNvGraphicFramePr>
            <a:graphicFrameLocks noGrp="1"/>
          </p:cNvGraphicFramePr>
          <p:nvPr>
            <p:extLst>
              <p:ext uri="{D42A27DB-BD31-4B8C-83A1-F6EECF244321}">
                <p14:modId xmlns:p14="http://schemas.microsoft.com/office/powerpoint/2010/main" val="3818186799"/>
              </p:ext>
            </p:extLst>
          </p:nvPr>
        </p:nvGraphicFramePr>
        <p:xfrm>
          <a:off x="584200" y="3810000"/>
          <a:ext cx="11023600" cy="2070100"/>
        </p:xfrm>
        <a:graphic>
          <a:graphicData uri="http://schemas.openxmlformats.org/drawingml/2006/table">
            <a:tbl>
              <a:tblPr firstRow="1" bandRow="1">
                <a:tableStyleId>{5C22544A-7EE6-4342-B048-85BDC9FD1C3A}</a:tableStyleId>
              </a:tblPr>
              <a:tblGrid>
                <a:gridCol w="5181600">
                  <a:extLst>
                    <a:ext uri="{9D8B030D-6E8A-4147-A177-3AD203B41FA5}">
                      <a16:colId xmlns:a16="http://schemas.microsoft.com/office/drawing/2014/main" val="4155027988"/>
                    </a:ext>
                  </a:extLst>
                </a:gridCol>
                <a:gridCol w="2603500">
                  <a:extLst>
                    <a:ext uri="{9D8B030D-6E8A-4147-A177-3AD203B41FA5}">
                      <a16:colId xmlns:a16="http://schemas.microsoft.com/office/drawing/2014/main" val="3197484072"/>
                    </a:ext>
                  </a:extLst>
                </a:gridCol>
                <a:gridCol w="3238500">
                  <a:extLst>
                    <a:ext uri="{9D8B030D-6E8A-4147-A177-3AD203B41FA5}">
                      <a16:colId xmlns:a16="http://schemas.microsoft.com/office/drawing/2014/main" val="952565929"/>
                    </a:ext>
                  </a:extLst>
                </a:gridCol>
              </a:tblGrid>
              <a:tr h="342900">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現場の要件</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接続パターン</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中心となるサービス</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1844486285"/>
                  </a:ext>
                </a:extLst>
              </a:tr>
              <a:tr h="431800">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デバイスが直接クラウドへ接続できる</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クラウド直接接続</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en-US" sz="1250" b="0">
                          <a:solidFill>
                            <a:srgbClr val="0B2430"/>
                          </a:solidFill>
                          <a:latin typeface="Yu Gothic UI" panose="020B0500000000000000" pitchFamily="34" charset="-128"/>
                          <a:ea typeface="Yu Gothic UI" panose="020B0500000000000000" pitchFamily="34" charset="-128"/>
                        </a:rPr>
                        <a:t>Azure IoT Hub</a:t>
                      </a: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502561860"/>
                  </a:ext>
                </a:extLst>
              </a:tr>
              <a:tr h="431800">
                <a:tc>
                  <a:txBody>
                    <a:bodyPr/>
                    <a:lstStyle/>
                    <a:p>
                      <a:pPr algn="l">
                        <a:spcBef>
                          <a:spcPts val="0"/>
                        </a:spcBef>
                        <a:spcAft>
                          <a:spcPts val="0"/>
                        </a:spcAft>
                      </a:pPr>
                      <a:r>
                        <a:rPr lang="en-US" altLang="ja-JP" sz="1250" b="1">
                          <a:solidFill>
                            <a:srgbClr val="0B2430"/>
                          </a:solidFill>
                          <a:latin typeface="Yu Gothic UI" panose="020B0500000000000000" pitchFamily="34" charset="-128"/>
                          <a:ea typeface="Yu Gothic UI" panose="020B0500000000000000" pitchFamily="34" charset="-128"/>
                        </a:rPr>
                        <a:t>OPC UA </a:t>
                      </a:r>
                      <a:r>
                        <a:rPr lang="ja-JP" altLang="en-US" sz="1250" b="1">
                          <a:solidFill>
                            <a:srgbClr val="0B2430"/>
                          </a:solidFill>
                          <a:latin typeface="Yu Gothic UI" panose="020B0500000000000000" pitchFamily="34" charset="-128"/>
                          <a:ea typeface="Yu Gothic UI" panose="020B0500000000000000" pitchFamily="34" charset="-128"/>
                        </a:rPr>
                        <a:t>などで設備に接続し、現場側で処理する</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エッジ経由接続</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en-US" sz="1250" b="0">
                          <a:solidFill>
                            <a:srgbClr val="0B2430"/>
                          </a:solidFill>
                          <a:latin typeface="Yu Gothic UI" panose="020B0500000000000000" pitchFamily="34" charset="-128"/>
                          <a:ea typeface="Yu Gothic UI" panose="020B0500000000000000" pitchFamily="34" charset="-128"/>
                        </a:rPr>
                        <a:t>Azure IoT Operations</a:t>
                      </a: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143802534"/>
                  </a:ext>
                </a:extLst>
              </a:tr>
              <a:tr h="431800">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デバイス上でコンテナー処理を行い、</a:t>
                      </a:r>
                      <a:r>
                        <a:rPr lang="en-US" altLang="ja-JP" sz="1250" b="1">
                          <a:solidFill>
                            <a:srgbClr val="0B2430"/>
                          </a:solidFill>
                          <a:latin typeface="Yu Gothic UI" panose="020B0500000000000000" pitchFamily="34" charset="-128"/>
                          <a:ea typeface="Yu Gothic UI" panose="020B0500000000000000" pitchFamily="34" charset="-128"/>
                        </a:rPr>
                        <a:t>IoT Hub </a:t>
                      </a:r>
                      <a:r>
                        <a:rPr lang="ja-JP" altLang="en-US" sz="1250" b="1">
                          <a:solidFill>
                            <a:srgbClr val="0B2430"/>
                          </a:solidFill>
                          <a:latin typeface="Yu Gothic UI" panose="020B0500000000000000" pitchFamily="34" charset="-128"/>
                          <a:ea typeface="Yu Gothic UI" panose="020B0500000000000000" pitchFamily="34" charset="-128"/>
                        </a:rPr>
                        <a:t>へ接続する</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エッジ経由接続</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en-US" sz="1250" b="0">
                          <a:solidFill>
                            <a:srgbClr val="0B2430"/>
                          </a:solidFill>
                          <a:latin typeface="Yu Gothic UI" panose="020B0500000000000000" pitchFamily="34" charset="-128"/>
                          <a:ea typeface="Yu Gothic UI" panose="020B0500000000000000" pitchFamily="34" charset="-128"/>
                        </a:rPr>
                        <a:t>Azure IoT Edge + IoT Hub</a:t>
                      </a: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531136656"/>
                  </a:ext>
                </a:extLst>
              </a:tr>
              <a:tr h="431800">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直接接続とエッジ経由の要件が混在する</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ハイブリッド</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要件に応じて組み合わせる</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739314760"/>
                  </a:ext>
                </a:extLst>
              </a:tr>
            </a:tbl>
          </a:graphicData>
        </a:graphic>
      </p:graphicFrame>
      <p:sp>
        <p:nvSpPr>
          <p:cNvPr id="19" name="source:body:1">
            <a:extLst>
              <a:ext uri="{FF2B5EF4-FFF2-40B4-BE49-F238E27FC236}">
                <a16:creationId xmlns:a16="http://schemas.microsoft.com/office/drawing/2014/main" id="{91D46D11-E2D9-3FF9-2FF1-3FB55A582711}"/>
              </a:ext>
            </a:extLst>
          </p:cNvPr>
          <p:cNvSpPr txBox="1"/>
          <p:nvPr/>
        </p:nvSpPr>
        <p:spPr>
          <a:xfrm>
            <a:off x="584200" y="5969000"/>
            <a:ext cx="11023600" cy="292100"/>
          </a:xfrm>
          <a:prstGeom prst="rect">
            <a:avLst/>
          </a:prstGeom>
          <a:noFill/>
        </p:spPr>
        <p:txBody>
          <a:bodyPr vert="horz" wrap="square" lIns="0" tIns="0" rIns="0" bIns="0" rtlCol="0" anchor="t">
            <a:noAutofit/>
          </a:bodyPr>
          <a:lstStyle/>
          <a:p>
            <a:r>
              <a:rPr lang="ja-JP" altLang="en-US" sz="1200">
                <a:solidFill>
                  <a:srgbClr val="0B2430"/>
                </a:solidFill>
                <a:latin typeface="Yu Gothic UI" panose="020B0500000000000000" pitchFamily="34" charset="-128"/>
                <a:ea typeface="Yu Gothic UI" panose="020B0500000000000000" pitchFamily="34" charset="-128"/>
              </a:rPr>
              <a:t>表は選択肢の例であり、採用を確定する選定表ではない（</a:t>
            </a:r>
            <a:r>
              <a:rPr lang="ja-JP" altLang="en-US" sz="1000">
                <a:solidFill>
                  <a:srgbClr val="566473"/>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サービスの選択</a:t>
            </a:r>
            <a:r>
              <a:rPr lang="ja-JP" altLang="en-US" sz="1200">
                <a:solidFill>
                  <a:srgbClr val="0B2430"/>
                </a:solidFill>
                <a:latin typeface="Yu Gothic UI" panose="020B0500000000000000" pitchFamily="34" charset="-128"/>
                <a:ea typeface="Yu Gothic UI" panose="020B0500000000000000" pitchFamily="34" charset="-128"/>
              </a:rPr>
              <a:t>、</a:t>
            </a:r>
            <a:r>
              <a:rPr lang="en-US" altLang="ja-JP" sz="1000">
                <a:solidFill>
                  <a:srgbClr val="0000FF"/>
                </a:solidFill>
                <a:latin typeface="Yu Gothic UI" panose="020B0500000000000000" pitchFamily="34" charset="-128"/>
                <a:ea typeface="Yu Gothic UI" panose="020B0500000000000000" pitchFamily="34" charset="-128"/>
                <a:hlinkClick r:id="rId5">
                  <a:extLst>
                    <a:ext uri="{A12FA001-AC4F-418D-AE19-62706E023703}">
                      <ahyp:hlinkClr xmlns:ahyp="http://schemas.microsoft.com/office/drawing/2018/hyperlinkcolor" val="tx"/>
                    </a:ext>
                  </a:extLst>
                </a:hlinkClick>
              </a:rPr>
              <a:t>IoT Edge </a:t>
            </a:r>
            <a:r>
              <a:rPr lang="ja-JP" altLang="en-US" sz="1000">
                <a:solidFill>
                  <a:srgbClr val="566473"/>
                </a:solidFill>
                <a:latin typeface="Yu Gothic UI" panose="020B0500000000000000" pitchFamily="34" charset="-128"/>
                <a:ea typeface="Yu Gothic UI" panose="020B0500000000000000" pitchFamily="34" charset="-128"/>
                <a:hlinkClick r:id="rId5">
                  <a:extLst>
                    <a:ext uri="{A12FA001-AC4F-418D-AE19-62706E023703}">
                      <ahyp:hlinkClr xmlns:ahyp="http://schemas.microsoft.com/office/drawing/2018/hyperlinkcolor" val="tx"/>
                    </a:ext>
                  </a:extLst>
                </a:hlinkClick>
              </a:rPr>
              <a:t>の概要</a:t>
            </a:r>
            <a:r>
              <a:rPr lang="ja-JP" altLang="en-US" sz="1200">
                <a:solidFill>
                  <a:srgbClr val="0B2430"/>
                </a:solidFill>
                <a:latin typeface="Yu Gothic UI" panose="020B0500000000000000" pitchFamily="34" charset="-128"/>
                <a:ea typeface="Yu Gothic UI" panose="020B0500000000000000" pitchFamily="34" charset="-128"/>
              </a:rPr>
              <a:t>）。</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20" name="source:conclusion">
            <a:extLst>
              <a:ext uri="{FF2B5EF4-FFF2-40B4-BE49-F238E27FC236}">
                <a16:creationId xmlns:a16="http://schemas.microsoft.com/office/drawing/2014/main" id="{0EF1BE32-E011-A192-3688-09275FE298CF}"/>
              </a:ext>
            </a:extLst>
          </p:cNvPr>
          <p:cNvSpPr txBox="1"/>
          <p:nvPr/>
        </p:nvSpPr>
        <p:spPr>
          <a:xfrm>
            <a:off x="584200" y="6299200"/>
            <a:ext cx="11023600" cy="3556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今回扱う範囲</a:t>
            </a:r>
            <a:r>
              <a:rPr lang="en-US" altLang="ja-JP" sz="1500" b="1">
                <a:solidFill>
                  <a:srgbClr val="0078D4"/>
                </a:solidFill>
                <a:latin typeface="Yu Gothic UI" panose="020B0500000000000000" pitchFamily="34" charset="-128"/>
                <a:ea typeface="Yu Gothic UI" panose="020B0500000000000000" pitchFamily="34" charset="-128"/>
              </a:rPr>
              <a:t>: </a:t>
            </a:r>
            <a:r>
              <a:rPr lang="ja-JP" altLang="en-US" sz="1500" b="1">
                <a:solidFill>
                  <a:srgbClr val="0078D4"/>
                </a:solidFill>
                <a:latin typeface="Yu Gothic UI" panose="020B0500000000000000" pitchFamily="34" charset="-128"/>
                <a:ea typeface="Yu Gothic UI" panose="020B0500000000000000" pitchFamily="34" charset="-128"/>
              </a:rPr>
              <a:t>デバイスアプリ → </a:t>
            </a:r>
            <a:r>
              <a:rPr lang="en-US" altLang="ja-JP" sz="1500" b="1">
                <a:solidFill>
                  <a:srgbClr val="0078D4"/>
                </a:solidFill>
                <a:latin typeface="Yu Gothic UI" panose="020B0500000000000000" pitchFamily="34" charset="-128"/>
                <a:ea typeface="Yu Gothic UI" panose="020B0500000000000000" pitchFamily="34" charset="-128"/>
              </a:rPr>
              <a:t>IoT Hub → </a:t>
            </a:r>
            <a:r>
              <a:rPr lang="ja-JP" altLang="en-US" sz="1500" b="1">
                <a:solidFill>
                  <a:srgbClr val="0078D4"/>
                </a:solidFill>
                <a:latin typeface="Yu Gothic UI" panose="020B0500000000000000" pitchFamily="34" charset="-128"/>
                <a:ea typeface="Yu Gothic UI" panose="020B0500000000000000" pitchFamily="34" charset="-128"/>
              </a:rPr>
              <a:t>データの受信・デバイス操作。</a:t>
            </a:r>
            <a:endParaRPr lang="en-US" sz="1500" b="1">
              <a:solidFill>
                <a:srgbClr val="0078D4"/>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0943583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RENT" val="deviceSide"/>
</p:tagLst>
</file>

<file path=ppt/tags/tag2.xml><?xml version="1.0" encoding="utf-8"?>
<p:tagLst xmlns:a="http://schemas.openxmlformats.org/drawingml/2006/main" xmlns:r="http://schemas.openxmlformats.org/officeDocument/2006/relationships" xmlns:p="http://schemas.openxmlformats.org/presentationml/2006/main">
  <p:tag name="PARENT" val="azureSide"/>
</p:tagLst>
</file>

<file path=ppt/tags/tag3.xml><?xml version="1.0" encoding="utf-8"?>
<p:tagLst xmlns:a="http://schemas.openxmlformats.org/drawingml/2006/main" xmlns:r="http://schemas.openxmlformats.org/officeDocument/2006/relationships" xmlns:p="http://schemas.openxmlformats.org/presentationml/2006/main">
  <p:tag name="PARENT" val="azureSide"/>
</p:tagLst>
</file>

<file path=ppt/tags/tag4.xml><?xml version="1.0" encoding="utf-8"?>
<p:tagLst xmlns:a="http://schemas.openxmlformats.org/drawingml/2006/main" xmlns:r="http://schemas.openxmlformats.org/officeDocument/2006/relationships" xmlns:p="http://schemas.openxmlformats.org/presentationml/2006/main">
  <p:tag name="PARENT" val="site"/>
</p:tagLst>
</file>

<file path=ppt/tags/tag5.xml><?xml version="1.0" encoding="utf-8"?>
<p:tagLst xmlns:a="http://schemas.openxmlformats.org/drawingml/2006/main" xmlns:r="http://schemas.openxmlformats.org/officeDocument/2006/relationships" xmlns:p="http://schemas.openxmlformats.org/presentationml/2006/main">
  <p:tag name="PARENT" val="site"/>
</p:tagLst>
</file>

<file path=ppt/tags/tag6.xml><?xml version="1.0" encoding="utf-8"?>
<p:tagLst xmlns:a="http://schemas.openxmlformats.org/drawingml/2006/main" xmlns:r="http://schemas.openxmlformats.org/officeDocument/2006/relationships" xmlns:p="http://schemas.openxmlformats.org/presentationml/2006/main">
  <p:tag name="PARENT" val="runtime"/>
</p:tagLst>
</file>

<file path=ppt/tags/tag7.xml><?xml version="1.0" encoding="utf-8"?>
<p:tagLst xmlns:a="http://schemas.openxmlformats.org/drawingml/2006/main" xmlns:r="http://schemas.openxmlformats.org/officeDocument/2006/relationships" xmlns:p="http://schemas.openxmlformats.org/presentationml/2006/main">
  <p:tag name="PARENT" val="runtime"/>
</p:tagLst>
</file>

<file path=ppt/tags/tag8.xml><?xml version="1.0" encoding="utf-8"?>
<p:tagLst xmlns:a="http://schemas.openxmlformats.org/drawingml/2006/main" xmlns:r="http://schemas.openxmlformats.org/officeDocument/2006/relationships" xmlns:p="http://schemas.openxmlformats.org/presentationml/2006/main">
  <p:tag name="PARENT" val="runtime"/>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TotalTime>
  <Words>6015</Words>
  <Application>Microsoft Office PowerPoint</Application>
  <PresentationFormat>Widescreen</PresentationFormat>
  <Paragraphs>293</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Yu Gothic UI</vt:lpstr>
      <vt:lpstr>Aptos</vt:lpstr>
      <vt:lpstr>Arial</vt:lpstr>
      <vt:lpstr>Calibri</vt:lpstr>
      <vt:lpstr>2_Office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Koki Ishizuka</dc:creator>
  <cp:lastModifiedBy>Koki Ishizuka</cp:lastModifiedBy>
  <cp:revision>2</cp:revision>
  <dcterms:created xsi:type="dcterms:W3CDTF">2026-09-08T05:55:08Z</dcterms:created>
  <dcterms:modified xsi:type="dcterms:W3CDTF">2026-09-08T13:20:15Z</dcterms:modified>
</cp:coreProperties>
</file>