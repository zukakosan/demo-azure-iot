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learn.microsoft.com/ja-jp/azure/iot/iot-introduction" TargetMode="External"/><Relationship Id="rId2" Type="http://schemas.openxmlformats.org/officeDocument/2006/relationships/hyperlink" Target="https://learn.microsoft.com/ja-jp/azure/iot-edge/about-iot-edge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learn.microsoft.com/ja-jp/azure/iot-hub/iot-hub-devguide-protocols" TargetMode="External"/><Relationship Id="rId2" Type="http://schemas.openxmlformats.org/officeDocument/2006/relationships/hyperlink" Target="https://learn.microsoft.com/ja-jp/azure/iot/iot-introduction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learn.microsoft.com/ja-jp/azure/iot-operations/overview-iot-operations" TargetMode="External"/><Relationship Id="rId2" Type="http://schemas.openxmlformats.org/officeDocument/2006/relationships/hyperlink" Target="https://learn.microsoft.com/ja-jp/azure/iot-operations/discover-manage-assets/overview-opc-ua-connector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learn.microsoft.com/ja-jp/azure/iot-edge/about-iot-edge" TargetMode="External"/><Relationship Id="rId2" Type="http://schemas.openxmlformats.org/officeDocument/2006/relationships/hyperlink" Target="https://learn.microsoft.com/ja-jp/azure/iot-edge/iot-edge-as-gateway" TargetMode="External"/><Relationship Id="rId3" Type="http://schemas.openxmlformats.org/officeDocument/2006/relationships/hyperlink" Target="https://learn.microsoft.com/ja-jp/azure/iot-edge/version-history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learn.microsoft.com/ja-jp/azure/iot/iot-services-and-technologies" TargetMode="External"/><Relationship Id="rId2" Type="http://schemas.openxmlformats.org/officeDocument/2006/relationships/hyperlink" Target="https://learn.microsoft.com/ja-jp/azure/iot-operations/overview-iot-operations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4C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4FA3E3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4FA3E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 2 章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接続パターンとサービスの選択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2971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FE6E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クラウド直接接続とエッジ経由接続を要件から選び、今回は IoT Hub への直接接続を扱う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41248" y="3611880"/>
            <a:ext cx="2926080" cy="0"/>
          </a:xfrm>
          <a:prstGeom prst="line">
            <a:avLst/>
          </a:prstGeom>
          <a:noFill/>
          <a:ln w="31750">
            <a:solidFill>
              <a:srgbClr val="4FA3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977640"/>
            <a:ext cx="2176272" cy="457200"/>
          </a:xfrm>
          <a:prstGeom prst="roundRect">
            <a:avLst>
              <a:gd name="adj" fmla="val 50000"/>
            </a:avLst>
          </a:prstGeom>
          <a:solidFill>
            <a:srgbClr val="12508C"/>
          </a:solidFill>
          <a:ln w="12700">
            <a:solidFill>
              <a:srgbClr val="4FA3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97764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クラウド直接接続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27832" y="3977640"/>
            <a:ext cx="1961388" cy="457200"/>
          </a:xfrm>
          <a:prstGeom prst="roundRect">
            <a:avLst>
              <a:gd name="adj" fmla="val 50000"/>
            </a:avLst>
          </a:prstGeom>
          <a:solidFill>
            <a:srgbClr val="12508C"/>
          </a:solidFill>
          <a:ln w="12700">
            <a:solidFill>
              <a:srgbClr val="4FA3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27832" y="3977640"/>
            <a:ext cx="19613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エッジ経由接続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17820" y="3977640"/>
            <a:ext cx="1746504" cy="457200"/>
          </a:xfrm>
          <a:prstGeom prst="roundRect">
            <a:avLst>
              <a:gd name="adj" fmla="val 50000"/>
            </a:avLst>
          </a:prstGeom>
          <a:solidFill>
            <a:srgbClr val="12508C"/>
          </a:solidFill>
          <a:ln w="12700">
            <a:solidFill>
              <a:srgbClr val="4FA3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17820" y="3977640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ハイブリッド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92924" y="3977640"/>
            <a:ext cx="2820924" cy="457200"/>
          </a:xfrm>
          <a:prstGeom prst="roundRect">
            <a:avLst>
              <a:gd name="adj" fmla="val 50000"/>
            </a:avLst>
          </a:prstGeom>
          <a:solidFill>
            <a:srgbClr val="12508C"/>
          </a:solidFill>
          <a:ln w="12700">
            <a:solidFill>
              <a:srgbClr val="4FA3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92924" y="3977640"/>
            <a:ext cx="28209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今回: IoT Hub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7D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Azure IoT ワークショップ ／ 本編 8 分・5 枚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solidFill>
            <a:srgbClr val="0B4C8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16736" y="420624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A3E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接続先を決める前提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16736" y="621792"/>
            <a:ext cx="10232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接続パターンを決める3つの要件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55096" cy="0"/>
          </a:xfrm>
          <a:prstGeom prst="line">
            <a:avLst/>
          </a:prstGeom>
          <a:noFill/>
          <a:ln w="15875">
            <a:solidFill>
              <a:srgbClr val="D6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8132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同じ温度データでも、現場の条件によって接続先が変わる。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148840"/>
          <a:ext cx="63093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7548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確認する要件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具体的な問い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通信方式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デバイスはクラウド向けに通信できるか。設備との通信に OPC UA（設備間でデータをやり取りする共通規格）などを使うか。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ネットワーク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デバイスからクラウドへの接続を許可できるか。現場のネットワーク内に限定する必要があるか。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処理する場所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クラウドで処理できるか。通信遅延や切断に備えて、現場側で処理する必要があるか。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196328" y="2148840"/>
            <a:ext cx="4425696" cy="713232"/>
          </a:xfrm>
          <a:prstGeom prst="roundRect">
            <a:avLst>
              <a:gd name="adj" fmla="val 10256"/>
            </a:avLst>
          </a:prstGeom>
          <a:solidFill>
            <a:srgbClr val="EAF2FB"/>
          </a:solidFill>
          <a:ln w="15875">
            <a:solidFill>
              <a:srgbClr val="1470C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06056" y="2148840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通信・ネットワーク・処理場所の要件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9409176" y="2862072"/>
            <a:ext cx="0" cy="630936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7196328" y="3493008"/>
            <a:ext cx="4425696" cy="841248"/>
          </a:xfrm>
          <a:prstGeom prst="roundRect">
            <a:avLst>
              <a:gd name="adj" fmla="val 8696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06056" y="35844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クラウド直接接続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306056" y="389534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Azure IoT Hub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196328" y="4443984"/>
            <a:ext cx="4425696" cy="987552"/>
          </a:xfrm>
          <a:prstGeom prst="roundRect">
            <a:avLst>
              <a:gd name="adj" fmla="val 7407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06056" y="4535424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エッジ経由接続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7306056" y="4919472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Azure IoT Operations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Azure IoT Edge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66928" y="554126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エッジ = デバイスや設備に近い現場側の実行環境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66928" y="4956048"/>
            <a:ext cx="6309360" cy="566928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20" name="Shape 17"/>
          <p:cNvSpPr/>
          <p:nvPr/>
        </p:nvSpPr>
        <p:spPr>
          <a:xfrm>
            <a:off x="566928" y="4956048"/>
            <a:ext cx="82296" cy="56692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21" name="Text 18"/>
          <p:cNvSpPr/>
          <p:nvPr/>
        </p:nvSpPr>
        <p:spPr>
          <a:xfrm>
            <a:off x="786384" y="4956048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接続パターンは、サービス名ではなく通信・ネットワーク・処理場所の要件から考える。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66928" y="6035040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[1]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https://learn.microsoft.com/ja-jp/azure/iot/iot-introduction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</a:t>
            </a:r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[2]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https://learn.microsoft.com/ja-jp/azure/iot-edge/about-iot-edge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6E1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第2章  接続パターンとサービスの選択 — 要件から接続先を選ぶ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073384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solidFill>
            <a:srgbClr val="0B4C8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16736" y="420624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A3E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クラウド直接接続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16736" y="621792"/>
            <a:ext cx="10232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IoT Hub へのクラウド直接接続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55096" cy="0"/>
          </a:xfrm>
          <a:prstGeom prst="line">
            <a:avLst/>
          </a:prstGeom>
          <a:noFill/>
          <a:ln w="15875">
            <a:solidFill>
              <a:srgbClr val="D6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8132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デバイスアプリがクラウドへ直接接続し、IoT Hub を通じてデータを送受信する。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" y="197510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デバイス側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494276" y="1975104"/>
            <a:ext cx="71277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Azure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6928" y="228600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" y="2377440"/>
            <a:ext cx="25237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温度センサー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6656" y="2816352"/>
            <a:ext cx="25237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デバイスアプリ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494276" y="228600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0B4C8C"/>
          </a:solidFill>
          <a:ln/>
        </p:spPr>
      </p:sp>
      <p:sp>
        <p:nvSpPr>
          <p:cNvPr id="14" name="Text 12"/>
          <p:cNvSpPr/>
          <p:nvPr/>
        </p:nvSpPr>
        <p:spPr>
          <a:xfrm>
            <a:off x="4604004" y="246888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Azure IoT Hub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04004" y="2871216"/>
            <a:ext cx="2980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3F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デバイス接続 / 認証 / 双方向通信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878824" y="228600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88552" y="2377440"/>
            <a:ext cx="25237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後続サービス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988552" y="2816352"/>
            <a:ext cx="25237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蓄積・分析・可視化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364992" y="2834640"/>
            <a:ext cx="1074420" cy="0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3273552" y="2523744"/>
            <a:ext cx="12573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温度データ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MQTT・AMQP・HTTPS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749540" y="2834640"/>
            <a:ext cx="1074420" cy="0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7658100" y="2523744"/>
            <a:ext cx="12573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データを配送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6928" y="3794760"/>
            <a:ext cx="3532632" cy="1371600"/>
          </a:xfrm>
          <a:prstGeom prst="roundRect">
            <a:avLst>
              <a:gd name="adj" fmla="val 5333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9808" y="3995928"/>
            <a:ext cx="146304" cy="146304"/>
          </a:xfrm>
          <a:prstGeom prst="ellipse">
            <a:avLst/>
          </a:prstGeom>
          <a:solidFill>
            <a:srgbClr val="4FA3E3"/>
          </a:solidFill>
          <a:ln/>
        </p:spPr>
      </p:sp>
      <p:sp>
        <p:nvSpPr>
          <p:cNvPr id="25" name="Text 23"/>
          <p:cNvSpPr/>
          <p:nvPr/>
        </p:nvSpPr>
        <p:spPr>
          <a:xfrm>
            <a:off x="987552" y="3904488"/>
            <a:ext cx="2983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接続するもの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86384" y="4325112"/>
            <a:ext cx="31120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温度センサーなどのデバイス上で動くアプリ。IoT Hub は MQTT・AMQP・HTTPS によるデバイス接続をサポートする。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328160" y="3794760"/>
            <a:ext cx="3532632" cy="1371600"/>
          </a:xfrm>
          <a:prstGeom prst="roundRect">
            <a:avLst>
              <a:gd name="adj" fmla="val 5333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11040" y="3995928"/>
            <a:ext cx="146304" cy="146304"/>
          </a:xfrm>
          <a:prstGeom prst="ellipse">
            <a:avLst/>
          </a:prstGeom>
          <a:solidFill>
            <a:srgbClr val="1470C4"/>
          </a:solidFill>
          <a:ln/>
        </p:spPr>
      </p:sp>
      <p:sp>
        <p:nvSpPr>
          <p:cNvPr id="29" name="Text 27"/>
          <p:cNvSpPr/>
          <p:nvPr/>
        </p:nvSpPr>
        <p:spPr>
          <a:xfrm>
            <a:off x="4748784" y="3904488"/>
            <a:ext cx="2983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適する条件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47616" y="4325112"/>
            <a:ext cx="31120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デバイスからクラウドへ通信でき、分散したデバイスのデータをクラウド側へ集めたい場合に向く。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089392" y="3794760"/>
            <a:ext cx="3532632" cy="1371600"/>
          </a:xfrm>
          <a:prstGeom prst="roundRect">
            <a:avLst>
              <a:gd name="adj" fmla="val 5333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72272" y="3995928"/>
            <a:ext cx="146304" cy="146304"/>
          </a:xfrm>
          <a:prstGeom prst="ellipse">
            <a:avLst/>
          </a:prstGeom>
          <a:solidFill>
            <a:srgbClr val="E0873A"/>
          </a:solidFill>
          <a:ln/>
        </p:spPr>
      </p:sp>
      <p:sp>
        <p:nvSpPr>
          <p:cNvPr id="33" name="Text 31"/>
          <p:cNvSpPr/>
          <p:nvPr/>
        </p:nvSpPr>
        <p:spPr>
          <a:xfrm>
            <a:off x="8510016" y="3904488"/>
            <a:ext cx="2983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役割の分担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308848" y="4325112"/>
            <a:ext cx="31120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IoT Hub はデバイスとの通信を担い、蓄積・分析・可視化は後続のサービスで行う。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66928" y="5358384"/>
            <a:ext cx="11055096" cy="566928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36" name="Shape 34"/>
          <p:cNvSpPr/>
          <p:nvPr/>
        </p:nvSpPr>
        <p:spPr>
          <a:xfrm>
            <a:off x="566928" y="5358384"/>
            <a:ext cx="82296" cy="56692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37" name="Text 35"/>
          <p:cNvSpPr/>
          <p:nvPr/>
        </p:nvSpPr>
        <p:spPr>
          <a:xfrm>
            <a:off x="786384" y="5358384"/>
            <a:ext cx="10689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今回の想定: ローカル PC のプログラムを温度センサーに見立て、IoT Hub に直接接続する。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66928" y="6035040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[1]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https://learn.microsoft.com/ja-jp/azure/iot-hub/iot-hub-devguide-protocols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</a:t>
            </a:r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[2]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https://learn.microsoft.com/ja-jp/azure/iot/iot-introduction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6E1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第2章  接続パターンとサービスの選択 — 要件から接続先を選ぶ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073384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solidFill>
            <a:srgbClr val="0B4C8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16736" y="420624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A3E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エッジ経由接続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16736" y="621792"/>
            <a:ext cx="10232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エッジ経由接続（中心は IoT Operations）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55096" cy="0"/>
          </a:xfrm>
          <a:prstGeom prst="line">
            <a:avLst/>
          </a:prstGeom>
          <a:noFill/>
          <a:ln w="15875">
            <a:solidFill>
              <a:srgbClr val="D6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8132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IoT Operations の構成例: 設備のデータを現場で収集・加工し、クラウドへ送る。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" y="186537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この章は「エッジ経由という道がある」ことを押さえれば十分。個々の部品名は覚えなくてよい。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96896" y="2084832"/>
            <a:ext cx="5989320" cy="1307592"/>
          </a:xfrm>
          <a:prstGeom prst="roundRect">
            <a:avLst>
              <a:gd name="adj" fmla="val 5594"/>
            </a:avLst>
          </a:prstGeom>
          <a:solidFill>
            <a:srgbClr val="EEF6FE"/>
          </a:solidFill>
          <a:ln w="15875">
            <a:solidFill>
              <a:srgbClr val="1470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96896" y="2112264"/>
            <a:ext cx="5989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工場・現場 ／ Azure IoT Operations（Azure Arc 対応 Kubernetes）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" y="2395728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" y="2487168"/>
            <a:ext cx="160934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設備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76656" y="2766060"/>
            <a:ext cx="160934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OPC UA サーバー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61488" y="2395728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71216" y="2395728"/>
            <a:ext cx="14721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OPC UA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コネクタ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45736" y="2395728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55464" y="2395728"/>
            <a:ext cx="14721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MQTT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ブローカー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729984" y="2395728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39712" y="2395728"/>
            <a:ext cx="14721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データフロー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951976" y="2395728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EAF2FB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61704" y="2487168"/>
            <a:ext cx="215798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クラウド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061704" y="2766060"/>
            <a:ext cx="215798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例: Microsoft Fabric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432304" y="2784348"/>
            <a:ext cx="292608" cy="0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2231136" y="2473452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OPC UA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480560" y="2784348"/>
            <a:ext cx="237744" cy="0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464808" y="2784348"/>
            <a:ext cx="237744" cy="0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458200" y="2784348"/>
            <a:ext cx="457200" cy="0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8284464" y="2491740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加工したデータ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66928" y="3639312"/>
            <a:ext cx="3532632" cy="932688"/>
          </a:xfrm>
          <a:prstGeom prst="roundRect">
            <a:avLst>
              <a:gd name="adj" fmla="val 7843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9808" y="3840480"/>
            <a:ext cx="146304" cy="146304"/>
          </a:xfrm>
          <a:prstGeom prst="ellipse">
            <a:avLst/>
          </a:prstGeom>
          <a:solidFill>
            <a:srgbClr val="4FA3E3"/>
          </a:solidFill>
          <a:ln/>
        </p:spPr>
      </p:sp>
      <p:sp>
        <p:nvSpPr>
          <p:cNvPr id="31" name="Text 29"/>
          <p:cNvSpPr/>
          <p:nvPr/>
        </p:nvSpPr>
        <p:spPr>
          <a:xfrm>
            <a:off x="987552" y="3749040"/>
            <a:ext cx="2983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設備との接続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86384" y="4169664"/>
            <a:ext cx="3112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OPC UA は産業機器のデータ交換の標準。コネクタが設備のデータを取得し、ブローカーへ発行する。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328160" y="3639312"/>
            <a:ext cx="3532632" cy="932688"/>
          </a:xfrm>
          <a:prstGeom prst="roundRect">
            <a:avLst>
              <a:gd name="adj" fmla="val 7843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11040" y="3840480"/>
            <a:ext cx="146304" cy="146304"/>
          </a:xfrm>
          <a:prstGeom prst="ellipse">
            <a:avLst/>
          </a:prstGeom>
          <a:solidFill>
            <a:srgbClr val="1470C4"/>
          </a:solidFill>
          <a:ln/>
        </p:spPr>
      </p:sp>
      <p:sp>
        <p:nvSpPr>
          <p:cNvPr id="35" name="Text 33"/>
          <p:cNvSpPr/>
          <p:nvPr/>
        </p:nvSpPr>
        <p:spPr>
          <a:xfrm>
            <a:off x="4748784" y="3749040"/>
            <a:ext cx="2983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現場での処理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547616" y="4169664"/>
            <a:ext cx="3112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MQTT ブローカー（仲介役）で受け渡し、データフローで加工・配送。基盤は Kubernetes（土台）。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089392" y="3639312"/>
            <a:ext cx="3532632" cy="932688"/>
          </a:xfrm>
          <a:prstGeom prst="roundRect">
            <a:avLst>
              <a:gd name="adj" fmla="val 7843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72272" y="3840480"/>
            <a:ext cx="146304" cy="146304"/>
          </a:xfrm>
          <a:prstGeom prst="ellipse">
            <a:avLst/>
          </a:prstGeom>
          <a:solidFill>
            <a:srgbClr val="E0873A"/>
          </a:solidFill>
          <a:ln/>
        </p:spPr>
      </p:sp>
      <p:sp>
        <p:nvSpPr>
          <p:cNvPr id="39" name="Text 37"/>
          <p:cNvSpPr/>
          <p:nvPr/>
        </p:nvSpPr>
        <p:spPr>
          <a:xfrm>
            <a:off x="8510016" y="3749040"/>
            <a:ext cx="2983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検討する条件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308848" y="4169664"/>
            <a:ext cx="3112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産業プロトコル対応、現場での低遅延処理、設備の直接インターネット接続の制限がある場合。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66928" y="4791456"/>
            <a:ext cx="11055096" cy="566928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42" name="Shape 40"/>
          <p:cNvSpPr/>
          <p:nvPr/>
        </p:nvSpPr>
        <p:spPr>
          <a:xfrm>
            <a:off x="566928" y="4791456"/>
            <a:ext cx="82296" cy="56692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43" name="Text 41"/>
          <p:cNvSpPr/>
          <p:nvPr/>
        </p:nvSpPr>
        <p:spPr>
          <a:xfrm>
            <a:off x="786384" y="4791456"/>
            <a:ext cx="10689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IoT Operations の注意: オフライン動作は最大72時間で、機能が低下する可能性がある。完全閉域での無期限運用を前提にしない。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66928" y="6035040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[1]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https://learn.microsoft.com/ja-jp/azure/iot-operations/overview-iot-operations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</a:t>
            </a:r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[2]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https://learn.microsoft.com/ja-jp/azure/iot-operations/discover-manage-assets/overview-opc-ua-connector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6E1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第2章  接続パターンとサービスの選択 — 要件から接続先を選ぶ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073384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solidFill>
            <a:srgbClr val="0B4C8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16736" y="420624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A3E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エッジ経由の選択肢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16736" y="621792"/>
            <a:ext cx="10232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エッジ経由のもう一つの選択肢: Azure IoT Edge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55096" cy="0"/>
          </a:xfrm>
          <a:prstGeom prst="line">
            <a:avLst/>
          </a:prstGeom>
          <a:noFill/>
          <a:ln w="15875">
            <a:solidFill>
              <a:srgbClr val="D6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8132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エッジ経由には、IoT Operations のほかに Azure IoT Edge という選択肢もある。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228600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2377440"/>
            <a:ext cx="2066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下位デバイス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76656" y="2724912"/>
            <a:ext cx="2066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現場のセンサー・機器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39996" y="2286000"/>
            <a:ext cx="3108960" cy="91440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 w="19050">
            <a:solidFill>
              <a:srgbClr val="E087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49724" y="2377440"/>
            <a:ext cx="2889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Azure IoT Edge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49724" y="2724912"/>
            <a:ext cx="2889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873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コンテナー実行 ／ ゲートウェイ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336024" y="228600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45752" y="2377440"/>
            <a:ext cx="2066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Azure IoT Hub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445752" y="2724912"/>
            <a:ext cx="2066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クラウド側の接続先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898648" y="2743200"/>
            <a:ext cx="1595628" cy="0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2807208" y="2432304"/>
            <a:ext cx="17785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メッセージ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694676" y="2743200"/>
            <a:ext cx="1595628" cy="0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7603236" y="2432304"/>
            <a:ext cx="17785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中継して接続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6928" y="3611880"/>
            <a:ext cx="3532632" cy="1371600"/>
          </a:xfrm>
          <a:prstGeom prst="roundRect">
            <a:avLst>
              <a:gd name="adj" fmla="val 5333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9808" y="3813048"/>
            <a:ext cx="146304" cy="146304"/>
          </a:xfrm>
          <a:prstGeom prst="ellipse">
            <a:avLst/>
          </a:prstGeom>
          <a:solidFill>
            <a:srgbClr val="4FA3E3"/>
          </a:solidFill>
          <a:ln/>
        </p:spPr>
      </p:sp>
      <p:sp>
        <p:nvSpPr>
          <p:cNvPr id="23" name="Text 21"/>
          <p:cNvSpPr/>
          <p:nvPr/>
        </p:nvSpPr>
        <p:spPr>
          <a:xfrm>
            <a:off x="987552" y="3721608"/>
            <a:ext cx="2983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コンテナー実行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86384" y="4142232"/>
            <a:ext cx="31120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デバイス上でコンテナー化した処理（分析・フィルタリングなど）を現場で実行する。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28160" y="3611880"/>
            <a:ext cx="3532632" cy="1371600"/>
          </a:xfrm>
          <a:prstGeom prst="roundRect">
            <a:avLst>
              <a:gd name="adj" fmla="val 5333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11040" y="3813048"/>
            <a:ext cx="146304" cy="146304"/>
          </a:xfrm>
          <a:prstGeom prst="ellipse">
            <a:avLst/>
          </a:prstGeom>
          <a:solidFill>
            <a:srgbClr val="1470C4"/>
          </a:solidFill>
          <a:ln/>
        </p:spPr>
      </p:sp>
      <p:sp>
        <p:nvSpPr>
          <p:cNvPr id="27" name="Text 25"/>
          <p:cNvSpPr/>
          <p:nvPr/>
        </p:nvSpPr>
        <p:spPr>
          <a:xfrm>
            <a:off x="4748784" y="3721608"/>
            <a:ext cx="2983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IoT Hub へのゲートウェイ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47616" y="4142232"/>
            <a:ext cx="31120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下位デバイスのメッセージを中継し、IoT Hub へ接続する経路として使える。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89392" y="3611880"/>
            <a:ext cx="3532632" cy="1371600"/>
          </a:xfrm>
          <a:prstGeom prst="roundRect">
            <a:avLst>
              <a:gd name="adj" fmla="val 5333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72272" y="3813048"/>
            <a:ext cx="146304" cy="146304"/>
          </a:xfrm>
          <a:prstGeom prst="ellipse">
            <a:avLst/>
          </a:prstGeom>
          <a:solidFill>
            <a:srgbClr val="E0873A"/>
          </a:solidFill>
          <a:ln/>
        </p:spPr>
      </p:sp>
      <p:sp>
        <p:nvSpPr>
          <p:cNvPr id="31" name="Text 29"/>
          <p:cNvSpPr/>
          <p:nvPr/>
        </p:nvSpPr>
        <p:spPr>
          <a:xfrm>
            <a:off x="8510016" y="3721608"/>
            <a:ext cx="2983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現状と本章での扱い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308848" y="4142232"/>
            <a:ext cx="31120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現在もサポートされている（2026-09-08 確認）。本章では紹介に留め、構築手順や詳細比較は扱わない。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66928" y="5175504"/>
            <a:ext cx="11055096" cy="566928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34" name="Shape 32"/>
          <p:cNvSpPr/>
          <p:nvPr/>
        </p:nvSpPr>
        <p:spPr>
          <a:xfrm>
            <a:off x="566928" y="5175504"/>
            <a:ext cx="82296" cy="56692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35" name="Text 33"/>
          <p:cNvSpPr/>
          <p:nvPr/>
        </p:nvSpPr>
        <p:spPr>
          <a:xfrm>
            <a:off x="786384" y="5175504"/>
            <a:ext cx="10689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使い分け: 産業プロトコル変換や現場処理が中心なら IoT Operations、デバイス上のコンテナー実行と IoT Hub 連携なら IoT Edge を検討する。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66928" y="6035040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[1]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https://learn.microsoft.com/ja-jp/azure/iot-edge/about-iot-edge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</a:t>
            </a:r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[2]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https://learn.microsoft.com/ja-jp/azure/iot-edge/iot-edge-as-gateway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</a:t>
            </a:r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[3]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https://learn.microsoft.com/ja-jp/azure/iot-edge/version-history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6E1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第2章  接続パターンとサービスの選択 — 要件から接続先を選ぶ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073384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solidFill>
            <a:srgbClr val="0B4C8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16736" y="420624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A3E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使い分けと対象範囲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16736" y="621792"/>
            <a:ext cx="10232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ハイブリッド構成と今回の対象範囲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55096" cy="0"/>
          </a:xfrm>
          <a:prstGeom prst="line">
            <a:avLst/>
          </a:prstGeom>
          <a:noFill/>
          <a:ln w="15875">
            <a:solidFill>
              <a:srgbClr val="D6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8132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ハイブリッドは、クラウド直接接続とエッジ経由接続を組み合わせる構成。拠点や設備の要件に合わせて使い分ける。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233172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2423160"/>
            <a:ext cx="20665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拠点A: 温度センサー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76656" y="2724912"/>
            <a:ext cx="20665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クラウドへ直接接続可能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38728" y="2331720"/>
            <a:ext cx="2331720" cy="822960"/>
          </a:xfrm>
          <a:prstGeom prst="roundRect">
            <a:avLst>
              <a:gd name="adj" fmla="val 8889"/>
            </a:avLst>
          </a:prstGeom>
          <a:solidFill>
            <a:srgbClr val="EAF2FB"/>
          </a:solidFill>
          <a:ln w="19050">
            <a:solidFill>
              <a:srgbClr val="E087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48456" y="2423160"/>
            <a:ext cx="21122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Azure IoT Hub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48456" y="2724912"/>
            <a:ext cx="21122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0873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今回の対象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" y="342900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" y="3520440"/>
            <a:ext cx="20665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拠点B: 工場設備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6656" y="3822192"/>
            <a:ext cx="20665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OPC UA で現場接続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538728" y="3429000"/>
            <a:ext cx="2331720" cy="822960"/>
          </a:xfrm>
          <a:prstGeom prst="roundRect">
            <a:avLst>
              <a:gd name="adj" fmla="val 8889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48456" y="3520440"/>
            <a:ext cx="21122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Azure IoT Operations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48456" y="3822192"/>
            <a:ext cx="21122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構成紹介のみ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10528" y="2606040"/>
            <a:ext cx="960120" cy="1371600"/>
          </a:xfrm>
          <a:prstGeom prst="roundRect">
            <a:avLst>
              <a:gd name="adj" fmla="val 7619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0256" y="2606040"/>
            <a:ext cx="7406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後続の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蓄積・分析・可視化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898648" y="2743200"/>
            <a:ext cx="594360" cy="0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898648" y="3840480"/>
            <a:ext cx="594360" cy="0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907024" y="2743200"/>
            <a:ext cx="292608" cy="0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07024" y="3840480"/>
            <a:ext cx="292608" cy="0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99632" y="2743200"/>
            <a:ext cx="0" cy="1097280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99632" y="3291840"/>
            <a:ext cx="274320" cy="0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566928" y="4443984"/>
            <a:ext cx="6903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後続サービスの連携設定は第05章以降で扱う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927848" y="2084832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要件から接続パターンと中心サービスを選ぶ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27848" y="2377440"/>
          <a:ext cx="3694176" cy="914400"/>
        </p:xfrm>
        <a:graphic>
          <a:graphicData uri="http://schemas.openxmlformats.org/drawingml/2006/table">
            <a:tbl>
              <a:tblPr/>
              <a:tblGrid>
                <a:gridCol w="1625437"/>
                <a:gridCol w="1034369"/>
                <a:gridCol w="1034369"/>
              </a:tblGrid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現場の要件</a:t>
                      </a:r>
                      <a:endParaRPr lang="en-US" sz="11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接続パターン</a:t>
                      </a:r>
                      <a:endParaRPr lang="en-US" sz="11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中心サービス</a:t>
                      </a:r>
                      <a:endParaRPr lang="en-US" sz="11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デバイスが直接クラウドへ接続できる</a:t>
                      </a:r>
                      <a:endParaRPr lang="en-US" sz="10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クラウド直接接続</a:t>
                      </a:r>
                      <a:endParaRPr lang="en-US" sz="10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Azure IoT Hub</a:t>
                      </a:r>
                      <a:endParaRPr lang="en-US" sz="10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OPC UA などで設備に接続し、現場側で処理する</a:t>
                      </a:r>
                      <a:endParaRPr lang="en-US" sz="10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エッジ経由接続</a:t>
                      </a:r>
                      <a:endParaRPr lang="en-US" sz="10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Azure IoT Operations</a:t>
                      </a:r>
                      <a:endParaRPr lang="en-US" sz="10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デバイス上でコンテナー処理を行い、IoT Hub へ接続する</a:t>
                      </a:r>
                      <a:endParaRPr lang="en-US" sz="10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エッジ経由接続</a:t>
                      </a:r>
                      <a:endParaRPr lang="en-US" sz="10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Azure IoT Edge + IoT Hub</a:t>
                      </a:r>
                      <a:endParaRPr lang="en-US" sz="10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直接接続とエッジ経由の要件が混在する</a:t>
                      </a:r>
                      <a:endParaRPr lang="en-US" sz="10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ハイブリッド</a:t>
                      </a:r>
                      <a:endParaRPr lang="en-US" sz="10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要件に応じて組み合わせ</a:t>
                      </a:r>
                      <a:endParaRPr lang="en-US" sz="10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</a:tr>
            </a:tbl>
          </a:graphicData>
        </a:graphic>
      </p:graphicFrame>
      <p:sp>
        <p:nvSpPr>
          <p:cNvPr id="31" name="Shape 28"/>
          <p:cNvSpPr/>
          <p:nvPr/>
        </p:nvSpPr>
        <p:spPr>
          <a:xfrm>
            <a:off x="566928" y="5358384"/>
            <a:ext cx="11055096" cy="566928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32" name="Shape 29"/>
          <p:cNvSpPr/>
          <p:nvPr/>
        </p:nvSpPr>
        <p:spPr>
          <a:xfrm>
            <a:off x="566928" y="5358384"/>
            <a:ext cx="82296" cy="566928"/>
          </a:xfrm>
          <a:prstGeom prst="rect">
            <a:avLst/>
          </a:prstGeom>
          <a:solidFill>
            <a:srgbClr val="1470C4"/>
          </a:solidFill>
          <a:ln/>
        </p:spPr>
      </p:sp>
      <p:sp>
        <p:nvSpPr>
          <p:cNvPr id="33" name="Text 30"/>
          <p:cNvSpPr/>
          <p:nvPr/>
        </p:nvSpPr>
        <p:spPr>
          <a:xfrm>
            <a:off x="786384" y="5358384"/>
            <a:ext cx="10689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今回扱う範囲: デバイスアプリ → IoT Hub → データの受信・デバイス操作。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566928" y="6035040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[1]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https://learn.microsoft.com/ja-jp/azure/iot/iot-services-and-technologies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</a:t>
            </a:r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[2]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https://learn.microsoft.com/ja-jp/azure/iot-operations/overview-iot-operations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6E1E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第2章  接続パターンとサービスの選択 — 要件から接続先を選ぶ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1073384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第2章 接続パターンとサービスの選択（v2）</dc:title>
  <dc:subject>PptxGenJS Presentation</dc:subject>
  <dc:creator>Azure IoT Workshop</dc:creator>
  <cp:lastModifiedBy>Azure IoT Workshop</cp:lastModifiedBy>
  <cp:revision>1</cp:revision>
  <dcterms:created xsi:type="dcterms:W3CDTF">2026-09-10T02:17:59Z</dcterms:created>
  <dcterms:modified xsi:type="dcterms:W3CDTF">2026-09-10T02:17:59Z</dcterms:modified>
</cp:coreProperties>
</file>