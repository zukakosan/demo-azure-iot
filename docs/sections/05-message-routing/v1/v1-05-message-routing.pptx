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d2c#routing-endpoint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how-to-routing-portal?tabs=storage" TargetMode="External"/><Relationship Id="rId2" Type="http://schemas.openxmlformats.org/officeDocument/2006/relationships/hyperlink" Target="https://learn.microsoft.com/ja-jp/azure/iot-hub/iot-hub-devguide-messages-d2c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endpoints#custom-endpoints-for-message-routing" TargetMode="External"/><Relationship Id="rId2" Type="http://schemas.openxmlformats.org/officeDocument/2006/relationships/hyperlink" Target="https://learn.microsoft.com/ja-jp/azure/iot-hub/iot-hub-devguide-messages-read-builti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architecture/databases/guide/big-data-architectures" TargetMode="External"/><Relationship Id="rId2" Type="http://schemas.openxmlformats.org/officeDocument/2006/relationships/hyperlink" Target="https://learn.microsoft.com/ja-jp/azure/iot-hub/iot-hub-devguide-messages-d2c#routing-endpoint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routing-query-syntax#query-based-on-message-bod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endpoints#azure-storage-as-a-routing-endpoint" TargetMode="External"/><Relationship Id="rId2" Type="http://schemas.openxmlformats.org/officeDocument/2006/relationships/hyperlink" Target="https://learn.microsoft.com/ja-jp/azure/templates/microsoft.devices/2019-11-04/iothub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ja-jp/azure/iot-hub/iot-hub-devguide-messages-d2c#fallback-route" TargetMode="External"/><Relationship Id="rId2" Type="http://schemas.openxmlformats.org/officeDocument/2006/relationships/hyperlink" Target="https://learn.microsoft.com/ja-jp/azure/iot-hub/troubleshoot-message-routi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5 章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メッセージルーティング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が受け取った D2C メッセージを、条件に応じて後続サービスへ配送する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3611880"/>
            <a:ext cx="2926080" cy="0"/>
          </a:xfrm>
          <a:prstGeom prst="line">
            <a:avLst/>
          </a:prstGeom>
          <a:noFill/>
          <a:ln w="31750">
            <a:solidFill>
              <a:srgbClr val="4FA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97764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ルート / エンドポイント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3977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配送先の選択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397764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977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ホット / コールドパス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39776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12508C"/>
          </a:solidFill>
          <a:ln w="12700">
            <a:solidFill>
              <a:srgbClr val="4FA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到達確認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7D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IoT ワークショップ ／ 本編 15 分・8 枚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ルーティングの役割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の後ろに何をつなぐか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 は取り込み口であり、保存・分析・可視化は後続サービスと組み合わせる。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825496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B4C8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081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取り込み口（D2C 受信）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18688" y="3511296"/>
            <a:ext cx="1993392" cy="0"/>
          </a:xfrm>
          <a:prstGeom prst="line">
            <a:avLst/>
          </a:prstGeom>
          <a:noFill/>
          <a:ln w="19050">
            <a:solidFill>
              <a:srgbClr val="D6E1EC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5212080" y="2377440"/>
            <a:ext cx="1463040" cy="1133856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2148840"/>
            <a:ext cx="4946904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322576"/>
            <a:ext cx="109728" cy="109728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5" name="Text 13"/>
          <p:cNvSpPr/>
          <p:nvPr/>
        </p:nvSpPr>
        <p:spPr>
          <a:xfrm>
            <a:off x="7077456" y="2148840"/>
            <a:ext cx="4398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Storage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 flipV="1">
            <a:off x="5212080" y="2944368"/>
            <a:ext cx="1463040" cy="566928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75120" y="2715768"/>
            <a:ext cx="4946904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889504"/>
            <a:ext cx="109728" cy="109728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19" name="Text 17"/>
          <p:cNvSpPr/>
          <p:nvPr/>
        </p:nvSpPr>
        <p:spPr>
          <a:xfrm>
            <a:off x="7077456" y="2715768"/>
            <a:ext cx="4398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Event Hubs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12080" y="3511296"/>
            <a:ext cx="14630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3282696"/>
            <a:ext cx="4946904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3456432"/>
            <a:ext cx="109728" cy="109728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3" name="Text 21"/>
          <p:cNvSpPr/>
          <p:nvPr/>
        </p:nvSpPr>
        <p:spPr>
          <a:xfrm>
            <a:off x="7077456" y="3282696"/>
            <a:ext cx="4398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Service Bus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212080" y="3511296"/>
            <a:ext cx="1463040" cy="566928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0" y="3849624"/>
            <a:ext cx="4946904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4023360"/>
            <a:ext cx="109728" cy="109728"/>
          </a:xfrm>
          <a:prstGeom prst="ellipse">
            <a:avLst/>
          </a:prstGeom>
          <a:solidFill>
            <a:srgbClr val="1470C4"/>
          </a:solidFill>
          <a:ln/>
        </p:spPr>
      </p:sp>
      <p:sp>
        <p:nvSpPr>
          <p:cNvPr id="27" name="Text 25"/>
          <p:cNvSpPr/>
          <p:nvPr/>
        </p:nvSpPr>
        <p:spPr>
          <a:xfrm>
            <a:off x="7077456" y="3849624"/>
            <a:ext cx="4398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Azure Cosmos DB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212080" y="3511296"/>
            <a:ext cx="1463040" cy="1133856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75120" y="4416552"/>
            <a:ext cx="4946904" cy="457200"/>
          </a:xfrm>
          <a:prstGeom prst="roundRect">
            <a:avLst>
              <a:gd name="adj" fmla="val 12000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4590288"/>
            <a:ext cx="109728" cy="109728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1" name="Text 29"/>
          <p:cNvSpPr/>
          <p:nvPr/>
        </p:nvSpPr>
        <p:spPr>
          <a:xfrm>
            <a:off x="7077456" y="4416552"/>
            <a:ext cx="4398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 Fabric Eventstreams（プレビュー）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1206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512064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51206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一つのメッセージは、条件に一致する複数の配送先へ送れる。1つの配送先だけに振り分ける仕組みではない。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https://learn.microsoft.com/ja-jp/azure/iot-hub/iot-hub-devguide-messages-d2c#routing-endpoints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設定の3要素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データソース・ルート・エンドポイント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ルートは配送ルール、エンドポイントは配送先の設定。データソースは配送対象の種類を選ぶ。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97096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用語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決めること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今回の例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データソース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何を配送対象にするか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デバイスのテレメトリ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エンドポイント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どこへ送るか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Blob Storage のコンテナーを指す設定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ルート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対象・条件・配送先を結び付けるルール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温度28度以上のテレメトリを保存先へ送る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1148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データソースは「何を送ったか」で決まる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4434840"/>
            <a:ext cx="5344668" cy="566928"/>
          </a:xfrm>
          <a:prstGeom prst="roundRect">
            <a:avLst>
              <a:gd name="adj" fmla="val 9677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4507992"/>
            <a:ext cx="5125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send_message() の温度・湿度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6656" y="4764024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デバイス テレメトリ メッセージ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77356" y="4434840"/>
            <a:ext cx="5344668" cy="566928"/>
          </a:xfrm>
          <a:prstGeom prst="roundRect">
            <a:avLst>
              <a:gd name="adj" fmla="val 9677"/>
            </a:avLst>
          </a:prstGeom>
          <a:solidFill>
            <a:srgbClr val="F4F9FE"/>
          </a:solidFill>
          <a:ln w="15875">
            <a:solidFill>
              <a:srgbClr val="4FA3E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7084" y="4507992"/>
            <a:ext cx="5125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Reported プロパティの更新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87084" y="4764024"/>
            <a:ext cx="5125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デバイス ツイン変更イベント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" y="521208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" y="521208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52120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エンドポイント名とストレージアカウント名は別で、同じ名前にする必要はない。設定は Portal の「メッセージ ルーティング」で行う。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https://learn.microsoft.com/ja-jp/azure/iot-hub/how-to-routing-portal?tabs=storage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https://learn.microsoft.com/ja-jp/azure/iot-hub/iot-hub-devguide-messages-d2c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配送先の使い分け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目的から配送先を選ぶ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配送先は、アプリでの受信・履歴保存・検索・ストリーム分析・業務処理という目的で選ぶ。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55096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383280"/>
                <a:gridCol w="483717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配送先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主な目的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温度・湿度データでの利用例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組み込みエンドポイント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アプリがメッセージを読み取る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IoT Explorer 受信確認（保持: 既定1日・最大7日）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Blob Storage / ADLS Gen2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ファイルとして履歴を保存し後で分析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全測定データを残し後日まとめて集計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Cosmos DB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DB に保存し条件を指定して取り出す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特定デバイスの測定履歴を画面に表示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Event Hubs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大量の連続データをストリーム処理へ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多数デバイスの温度を継続的に集計・分析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Service Bus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業務処理へメッセージを渡す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高温通知から保守チケットを作成</a:t>
                      </a:r>
                      <a:endParaRPr lang="en-US" sz="11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51206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51206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51206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組み込みは期限付きの読み取り口で、長期保存は別の配送先が必要。目的に応じて複数の配送先へ同時に送れる。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https://learn.microsoft.com/ja-jp/azure/iot-hub/iot-hub-devguide-endpoints#custom-endpoints-for-message-routing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https://learn.microsoft.com/ja-jp/azure/iot-hub/iot-hub-devguide-messages-read-builtin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2経路への同時配送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ホットパスとコールドパスに同時配送する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同じテレメトリを、低遅延で活用するホットパスと、蓄積して後から分析するコールドパスへ配送できる。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0B4C8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93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66928" y="39502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E6E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D2C を2ルートへ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3794760"/>
            <a:ext cx="621792" cy="0"/>
          </a:xfrm>
          <a:prstGeom prst="line">
            <a:avLst/>
          </a:prstGeom>
          <a:noFill/>
          <a:ln w="19050">
            <a:solidFill>
              <a:srgbClr val="D6E1EC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411480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ホットパス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3657600" y="2578608"/>
            <a:ext cx="457200" cy="121615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66160" y="29306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286000"/>
            <a:ext cx="2834640" cy="585216"/>
          </a:xfrm>
          <a:prstGeom prst="roundRect">
            <a:avLst>
              <a:gd name="adj" fmla="val 9375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2286000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 Hubs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49440" y="2578608"/>
            <a:ext cx="3657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286000"/>
            <a:ext cx="4306824" cy="585216"/>
          </a:xfrm>
          <a:prstGeom prst="roundRect">
            <a:avLst>
              <a:gd name="adj" fmla="val 9375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24928" y="2286000"/>
            <a:ext cx="4087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ストリーム処理・通知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4151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コールドパス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794760"/>
            <a:ext cx="457200" cy="978408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566160" y="42656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4480560"/>
            <a:ext cx="2834640" cy="585216"/>
          </a:xfrm>
          <a:prstGeom prst="roundRect">
            <a:avLst>
              <a:gd name="adj" fmla="val 9375"/>
            </a:avLst>
          </a:prstGeom>
          <a:solidFill>
            <a:srgbClr val="F4F9FE"/>
          </a:solidFill>
          <a:ln w="15875">
            <a:solidFill>
              <a:srgbClr val="0B4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4480560"/>
            <a:ext cx="2615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Blob Storage / ADLS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4773168"/>
            <a:ext cx="36576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0" y="4480560"/>
            <a:ext cx="4306824" cy="585216"/>
          </a:xfrm>
          <a:prstGeom prst="roundRect">
            <a:avLst>
              <a:gd name="adj" fmla="val 9375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4480560"/>
            <a:ext cx="4087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バッチ分析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53492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3492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3492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ホット／コールドは処理経路の呼び方で IoT Hub の専用モードではない。配送だけで KPI 計算やアラートは完成しない。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https://learn.microsoft.com/ja-jp/azure/architecture/databases/guide/big-data-architectures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https://learn.microsoft.com/ja-jp/azure/iot-hub/iot-hub-devguide-messages-d2c#routing-endpoints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本文に基づくクエリ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本文を使う条件で対象を絞る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ルーティングクエリは各メッセージを評価し、結果が true のメッセージが配送対象になる。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057400"/>
            <a:ext cx="11055096" cy="457200"/>
          </a:xfrm>
          <a:prstGeom prst="rect">
            <a:avLst/>
          </a:prstGeom>
          <a:solidFill>
            <a:srgbClr val="0A2A4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130552"/>
            <a:ext cx="10780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ルート条件の例:    true    /    $body.temperature &gt;= 28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11055096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94560"/>
                <a:gridCol w="4105656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メッセージ本文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条件 true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条件 $body.temperature &gt;= 28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{"temperature":25,"humidity":45}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対象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対象外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{"temperature":29,"humidity":45}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対象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対象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66928" y="45720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一致時に配送するのは、湿度も含むメッセージ全体。列を抽出する SELECT ではなく、対象を絞る WHERE に相当する。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50749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66928" y="507492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50749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これは IoT Hub が評価する条件式で、デバイス側 Python の分岐ではない。contentType・contentEncoding が無いと本文が Base64 になり、条件で温度を読めない。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https://learn.microsoft.com/ja-jp/azure/iot-hub/iot-hub-devguide-routing-query-syntax#query-based-on-message-body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バッチ書き込みと形式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Storage にいつ、どう保存されるか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Storage へは一件ずつ即時保存せず、時間経過かサイズ到達の、どちらか先に満たした方で書き出す。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11055096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486400"/>
                <a:gridCol w="29169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設定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意味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設定範囲</a:t>
                      </a:r>
                      <a:endParaRPr lang="en-US" sz="125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C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バッチ頻度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たまったデータを書き出す時間間隔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60〜720秒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4C8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チャンクサイズ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書き出しの基準となるデータ量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10〜500 MB</a:t>
                      </a:r>
                      <a:endParaRPr lang="en-US" sz="12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3611880"/>
            <a:ext cx="3108960" cy="603504"/>
          </a:xfrm>
          <a:prstGeom prst="roundRect">
            <a:avLst>
              <a:gd name="adj" fmla="val 9091"/>
            </a:avLst>
          </a:prstGeom>
          <a:solidFill>
            <a:srgbClr val="F4F9FE"/>
          </a:solidFill>
          <a:ln w="15875">
            <a:solidFill>
              <a:srgbClr val="D6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3611880"/>
            <a:ext cx="2889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メッセージが蓄積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75888" y="3913632"/>
            <a:ext cx="5486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224528" y="361188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34256" y="3611880"/>
            <a:ext cx="3621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時間経過 または サイズ到達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65008" y="3913632"/>
            <a:ext cx="548640" cy="0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8613648" y="3611880"/>
            <a:ext cx="3008376" cy="603504"/>
          </a:xfrm>
          <a:prstGeom prst="roundRect">
            <a:avLst>
              <a:gd name="adj" fmla="val 9091"/>
            </a:avLst>
          </a:prstGeom>
          <a:solidFill>
            <a:srgbClr val="F4F9FE"/>
          </a:solidFill>
          <a:ln w="15875">
            <a:solidFill>
              <a:srgbClr val="0B4C8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23376" y="361188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Blob へ書き出し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" y="4434840"/>
            <a:ext cx="5344668" cy="530352"/>
          </a:xfrm>
          <a:prstGeom prst="roundRect">
            <a:avLst>
              <a:gd name="adj" fmla="val 10345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" y="4507992"/>
            <a:ext cx="5125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JSON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" y="4764024"/>
            <a:ext cx="51252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内容を確認しやすい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77356" y="4434840"/>
            <a:ext cx="5344668" cy="530352"/>
          </a:xfrm>
          <a:prstGeom prst="roundRect">
            <a:avLst>
              <a:gd name="adj" fmla="val 10345"/>
            </a:avLst>
          </a:prstGeom>
          <a:solidFill>
            <a:srgbClr val="F4F9FE"/>
          </a:solidFill>
          <a:ln w="15875">
            <a:solidFill>
              <a:srgbClr val="4FA3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87084" y="4507992"/>
            <a:ext cx="5125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Avro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87084" y="4764024"/>
            <a:ext cx="51252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対応ツール前提のコンパクトなバイナリ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66928" y="51206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" y="51206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" y="51206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既存エンドポイントの保存形式は後から変更できない。JSON では contentType・contentEncoding を指定する（未指定だと Base64）。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https://learn.microsoft.com/ja-jp/azure/iot-hub/iot-hub-devguide-endpoints#azure-storage-as-a-routing-endpoint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https://learn.microsoft.com/ja-jp/azure/templates/microsoft.devices/2019-11-04/iothubs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経路の明示と検証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配送経路の明示と到達確認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必要な配送経路は、組み込みエンドポイントも含めて通常ルートで明示し、フォールバックだけに依存しない。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5344668" cy="2743200"/>
          </a:xfrm>
          <a:prstGeom prst="roundRect">
            <a:avLst>
              <a:gd name="adj" fmla="val 2667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48840"/>
            <a:ext cx="5344668" cy="402336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148840"/>
            <a:ext cx="5344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明示ルート（推奨）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33422" y="271576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4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3150" y="271576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flipH="1">
            <a:off x="1971675" y="3172968"/>
            <a:ext cx="1267587" cy="48463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39262" y="3172968"/>
            <a:ext cx="1267587" cy="484632"/>
          </a:xfrm>
          <a:prstGeom prst="line">
            <a:avLst/>
          </a:prstGeom>
          <a:noFill/>
          <a:ln w="25400">
            <a:solidFill>
              <a:srgbClr val="1470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5528" y="3657600"/>
            <a:ext cx="2352294" cy="658368"/>
          </a:xfrm>
          <a:prstGeom prst="roundRect">
            <a:avLst>
              <a:gd name="adj" fmla="val 8333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730752"/>
            <a:ext cx="21328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Storage 宛て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05256" y="3986784"/>
            <a:ext cx="2132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 true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0702" y="3657600"/>
            <a:ext cx="2352294" cy="658368"/>
          </a:xfrm>
          <a:prstGeom prst="roundRect">
            <a:avLst>
              <a:gd name="adj" fmla="val 8333"/>
            </a:avLst>
          </a:prstGeom>
          <a:solidFill>
            <a:srgbClr val="F4F9FE"/>
          </a:solidFill>
          <a:ln w="15875">
            <a:solidFill>
              <a:srgbClr val="147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0430" y="3730752"/>
            <a:ext cx="21328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events 宛て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40430" y="3986784"/>
            <a:ext cx="21328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 true（組み込み）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9808" y="4434840"/>
            <a:ext cx="4978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同じメッセージが両方へ同時配送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77356" y="2148840"/>
            <a:ext cx="5344668" cy="2743200"/>
          </a:xfrm>
          <a:prstGeom prst="roundRect">
            <a:avLst>
              <a:gd name="adj" fmla="val 2667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7356" y="2148840"/>
            <a:ext cx="5344668" cy="402336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24" name="Text 22"/>
          <p:cNvSpPr/>
          <p:nvPr/>
        </p:nvSpPr>
        <p:spPr>
          <a:xfrm>
            <a:off x="6277356" y="2148840"/>
            <a:ext cx="5344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フォールバック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943850" y="2715768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4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3578" y="271576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IoT Hub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949690" y="3172968"/>
            <a:ext cx="0" cy="576072"/>
          </a:xfrm>
          <a:prstGeom prst="line">
            <a:avLst/>
          </a:prstGeom>
          <a:noFill/>
          <a:ln w="25400">
            <a:solidFill>
              <a:srgbClr val="E0873A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460236" y="3246120"/>
            <a:ext cx="4978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どのルートにも不一致のときだけ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34556" y="3749040"/>
            <a:ext cx="4430268" cy="566928"/>
          </a:xfrm>
          <a:prstGeom prst="roundRect">
            <a:avLst>
              <a:gd name="adj" fmla="val 9677"/>
            </a:avLst>
          </a:prstGeom>
          <a:solidFill>
            <a:srgbClr val="F4F9FE"/>
          </a:solidFill>
          <a:ln w="15875">
            <a:solidFill>
              <a:srgbClr val="E087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4284" y="3749040"/>
            <a:ext cx="42108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組み込みエンドポイント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60236" y="4434840"/>
            <a:ext cx="4978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配送先障害時の代替保存先ではない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12064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5120640"/>
            <a:ext cx="82296" cy="56692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512064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送信成功だけで完了とせず各宛先で到達確認。配送先の障害・遅延はメトリック・リソースログ・エンドポイントの正常性で監視。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05332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[1]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https://learn.microsoft.com/ja-jp/azure/iot-hub/iot-hub-devguide-messages-d2c#fallback-route</a:t>
            </a:r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</a:t>
            </a:r>
            <a:pPr indent="0" marL="0">
              <a:buNone/>
            </a:pPr>
            <a:r>
              <a:rPr lang="en-US" sz="800" b="1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[2] </a:t>
            </a:r>
            <a:pPr indent="0" marL="0">
              <a:buNone/>
            </a:pPr>
            <a:r>
              <a:rPr lang="en-US" sz="800" u="sng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https://learn.microsoft.com/ja-jp/azure/iot-hub/troubleshoot-message-routing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solidFill>
            <a:srgbClr val="0B4C8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16736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A3E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理解度の確認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6736" y="621792"/>
            <a:ext cx="10232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4C8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配送先とルートの設計を事例で選び分ける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55096" cy="0"/>
          </a:xfrm>
          <a:prstGeom prst="line">
            <a:avLst/>
          </a:prstGeom>
          <a:noFill/>
          <a:ln w="15875">
            <a:solidFill>
              <a:srgbClr val="D6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81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70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次の場面で、どう設計するか説明してください。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148840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276856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76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2148840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受信したテレメトリを長期保存したい。IoT Hub の組み込みエンドポイントだけで完結するか。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990088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990088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118104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2990088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同じ温度データをリアルタイム監視と日次集計に使う。どの2経路を用意し、どこで分析するか。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831336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831336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959352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81328" y="3831336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しきい値28度を超えたデータだけ別の処理へ流す。何を使い、湿度の項目も配送されるか。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672584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4F9FE"/>
          </a:solidFill>
          <a:ln w="12700">
            <a:solidFill>
              <a:srgbClr val="D6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672584"/>
            <a:ext cx="82296" cy="676656"/>
          </a:xfrm>
          <a:prstGeom prst="rect">
            <a:avLst/>
          </a:prstGeom>
          <a:solidFill>
            <a:srgbClr val="1470C4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0B4C8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81328" y="4672584"/>
            <a:ext cx="9866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Storage 向けルートを追加したら IoT Explorer に表示されなくなった。何を確認するか。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5532120"/>
            <a:ext cx="11055096" cy="566928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Shape 27"/>
          <p:cNvSpPr/>
          <p:nvPr/>
        </p:nvSpPr>
        <p:spPr>
          <a:xfrm>
            <a:off x="566928" y="5532120"/>
            <a:ext cx="82296" cy="566928"/>
          </a:xfrm>
          <a:prstGeom prst="rect">
            <a:avLst/>
          </a:prstGeom>
          <a:solidFill>
            <a:srgbClr val="4FA3E3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53212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次章: 実際に IoT Hub を作成し、デバイスを接続してテレメトリ送信を確認するデモへ進む。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6419088"/>
            <a:ext cx="11055096" cy="0"/>
          </a:xfrm>
          <a:prstGeom prst="line">
            <a:avLst/>
          </a:prstGeom>
          <a:noFill/>
          <a:ln w="12700">
            <a:solidFill>
              <a:srgbClr val="D6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5566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第5章  メッセージルーティング — ルート・エンドポイント・配送先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3384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メッセージルーティング</dc:title>
  <dc:subject>PptxGenJS Presentation</dc:subject>
  <dc:creator>Azure IoT Workshop</dc:creator>
  <cp:lastModifiedBy>Azure IoT Workshop</cp:lastModifiedBy>
  <cp:revision>1</cp:revision>
  <dcterms:created xsi:type="dcterms:W3CDTF">2026-09-10T06:51:23Z</dcterms:created>
  <dcterms:modified xsi:type="dcterms:W3CDTF">2026-09-10T06:51:23Z</dcterms:modified>
</cp:coreProperties>
</file>