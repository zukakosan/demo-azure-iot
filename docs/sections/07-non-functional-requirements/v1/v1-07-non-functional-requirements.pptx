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microsoft.com/ja-jp/azure/well-architected/what-is-well-architected-framework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microsoft.com/ja-jp/azure/reliability/reliability-iot-hub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microsoft.com/ja-jp/azure/iot-hub/secure-azure-iot-hub" TargetMode="External"/><Relationship Id="rId2" Type="http://schemas.openxmlformats.org/officeDocument/2006/relationships/hyperlink" Target="https://learn.microsoft.com/ja-jp/azure/iot-dps/concepts-service#attestation-mechanism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microsoft.com/ja-jp/azure/iot-hub/iot-hub-managed-identity#configure-message-routing-with-managed-identities" TargetMode="External"/><Relationship Id="rId2" Type="http://schemas.openxmlformats.org/officeDocument/2006/relationships/hyperlink" Target="https://learn.microsoft.com/ja-jp/azure/iot-hub/virtual-network-support#egress-connectivity-from-iot-hub-to-other-azure-resources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microsoft.com/ja-jp/azure/iot-hub/virtual-network-support#ingress-connectivity-to-iot-hub-using-azure-private-link" TargetMode="External"/><Relationship Id="rId2" Type="http://schemas.openxmlformats.org/officeDocument/2006/relationships/hyperlink" Target="https://learn.microsoft.com/ja-jp/azure/iot-hub/virtual-network-support#egress-connectivity-from-iot-hub-to-other-azure-resources" TargetMode="External"/><Relationship Id="rId3" Type="http://schemas.openxmlformats.org/officeDocument/2006/relationships/hyperlink" Target="https://learn.microsoft.com/ja-jp/azure/private-link/private-link-overview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microsoft.com/ja-jp/azure/reliability/reliability-iot-hub" TargetMode="External"/><Relationship Id="rId2" Type="http://schemas.openxmlformats.org/officeDocument/2006/relationships/hyperlink" Target="https://learn.microsoft.com/ja-jp/azure/iot/concepts-manage-device-reconnections#retry-patterns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microsoft.com/ja-jp/azure/iot-dps/about-iot-dps#how-device-provisioning-service-works" TargetMode="External"/><Relationship Id="rId2" Type="http://schemas.openxmlformats.org/officeDocument/2006/relationships/hyperlink" Target="https://learn.microsoft.com/ja-jp/azure/iot-dps/concepts-service#enrollment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microsoft.com/ja-jp/azure/iot-dps/concepts-service#enrollment" TargetMode="External"/><Relationship Id="rId2" Type="http://schemas.openxmlformats.org/officeDocument/2006/relationships/hyperlink" Target="https://learn.microsoft.com/ja-jp/azure/iot-dps/concepts-service#enrollment-group" TargetMode="External"/><Relationship Id="rId3" Type="http://schemas.openxmlformats.org/officeDocument/2006/relationships/hyperlink" Target="https://learn.microsoft.com/ja-jp/azure/iot-dps/concepts-device-reprovision#reprovisioning-policies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microsoft.com/ja-jp/azure/iot-dps/concepts-deploy-at-scal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microsoft.com/ja-jp/azure/iot-hub/iot-hub-scaling" TargetMode="External"/><Relationship Id="rId2" Type="http://schemas.openxmlformats.org/officeDocument/2006/relationships/hyperlink" Target="https://learn.microsoft.com/ja-jp/azure/iot-hub/monitor-iot-hub" TargetMode="External"/><Relationship Id="rId3" Type="http://schemas.openxmlformats.org/officeDocument/2006/relationships/hyperlink" Target="https://learn.microsoft.com/ja-jp/azure/iot-dps/concepts-deploy-at-scale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4C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4FA3E3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4FA3E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 7 章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非機能要件と本番化ベストプラクティス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99923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FE6E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デモ構成を本番へ移す前に、セキュリティ・信頼性・性能・運用・コストで決めることを整理する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41248" y="3639312"/>
            <a:ext cx="2926080" cy="0"/>
          </a:xfrm>
          <a:prstGeom prst="line">
            <a:avLst/>
          </a:prstGeom>
          <a:noFill/>
          <a:ln w="31750">
            <a:solidFill>
              <a:srgbClr val="4FA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4005072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12508C"/>
          </a:solidFill>
          <a:ln w="12700">
            <a:solidFill>
              <a:srgbClr val="4FA3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0050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優先度の考え方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88920" y="4005072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12508C"/>
          </a:solidFill>
          <a:ln w="12700">
            <a:solidFill>
              <a:srgbClr val="4FA3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88920" y="400507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資格情報とアクセス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120640" y="4005072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12508C"/>
          </a:solidFill>
          <a:ln w="12700">
            <a:solidFill>
              <a:srgbClr val="4FA3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0" y="40050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DPS と大規模展開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635240" y="4005072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12508C"/>
          </a:solidFill>
          <a:ln w="12700">
            <a:solidFill>
              <a:srgbClr val="4FA3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35240" y="40050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監視と本番判定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7D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Azure IoT ワークショップ ／ 本編 16 分・12 枚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solidFill>
            <a:srgbClr val="0B4C8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16736" y="42062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A3E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優先度の考え方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16736" y="621792"/>
            <a:ext cx="10232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非機能要件は本番リスクから優先する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55096" cy="0"/>
          </a:xfrm>
          <a:prstGeom prst="line">
            <a:avLst/>
          </a:prstGeom>
          <a:noFill/>
          <a:ln w="15875">
            <a:solidFill>
              <a:srgbClr val="D6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8132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非機能要件は、未定義のまま本番へ進んだときの影響から優先する。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965960"/>
            <a:ext cx="6583680" cy="841248"/>
          </a:xfrm>
          <a:prstGeom prst="roundRect">
            <a:avLst>
              <a:gd name="adj" fmla="val 6522"/>
            </a:avLst>
          </a:prstGeom>
          <a:solidFill>
            <a:srgbClr val="0B4C8C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2075688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必須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029968" y="2057400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本番移行前に決定・検証する。侵害・データ損失・長時間停止・復旧不能に直結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024128" y="3063240"/>
            <a:ext cx="6126480" cy="841248"/>
          </a:xfrm>
          <a:prstGeom prst="roundRect">
            <a:avLst>
              <a:gd name="adj" fmla="val 6522"/>
            </a:avLst>
          </a:prstGeom>
          <a:solidFill>
            <a:srgbClr val="1470C4"/>
          </a:solidFill>
          <a:ln/>
        </p:spPr>
      </p:sp>
      <p:sp>
        <p:nvSpPr>
          <p:cNvPr id="12" name="Text 10"/>
          <p:cNvSpPr/>
          <p:nvPr/>
        </p:nvSpPr>
        <p:spPr>
          <a:xfrm>
            <a:off x="1170432" y="3172968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推奨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487168" y="3154680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初期リリース時点で方針を決める。検知・調査・スケール・コスト管理に影響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481328" y="4160520"/>
            <a:ext cx="5669280" cy="841248"/>
          </a:xfrm>
          <a:prstGeom prst="roundRect">
            <a:avLst>
              <a:gd name="adj" fmla="val 6522"/>
            </a:avLst>
          </a:prstGeom>
          <a:solidFill>
            <a:srgbClr val="4FA3E3"/>
          </a:solidFill>
          <a:ln/>
        </p:spPr>
      </p:sp>
      <p:sp>
        <p:nvSpPr>
          <p:cNvPr id="15" name="Text 13"/>
          <p:cNvSpPr/>
          <p:nvPr/>
        </p:nvSpPr>
        <p:spPr>
          <a:xfrm>
            <a:off x="1627632" y="4270248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発展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944368" y="4251960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規模拡大に備えて計画する。複数拠点・標準化・継続的な改善に効く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452360" y="1965960"/>
            <a:ext cx="4169664" cy="3145536"/>
          </a:xfrm>
          <a:prstGeom prst="roundRect">
            <a:avLst>
              <a:gd name="adj" fmla="val 2326"/>
            </a:avLst>
          </a:prstGeom>
          <a:solidFill>
            <a:srgbClr val="F4F9FE"/>
          </a:solidFill>
          <a:ln w="15875">
            <a:solidFill>
              <a:srgbClr val="D6E1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52360" y="1965960"/>
            <a:ext cx="4169664" cy="457200"/>
          </a:xfrm>
          <a:prstGeom prst="rect">
            <a:avLst/>
          </a:prstGeom>
          <a:solidFill>
            <a:srgbClr val="0B4C8C"/>
          </a:solidFill>
          <a:ln/>
        </p:spPr>
      </p:sp>
      <p:sp>
        <p:nvSpPr>
          <p:cNvPr id="19" name="Text 17"/>
          <p:cNvSpPr/>
          <p:nvPr/>
        </p:nvSpPr>
        <p:spPr>
          <a:xfrm>
            <a:off x="7452360" y="1965960"/>
            <a:ext cx="4169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Well-Architected Framework の5つの柱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08392" y="2624328"/>
            <a:ext cx="128016" cy="128016"/>
          </a:xfrm>
          <a:prstGeom prst="ellipse">
            <a:avLst/>
          </a:prstGeom>
          <a:solidFill>
            <a:srgbClr val="1470C4"/>
          </a:solidFill>
          <a:ln/>
        </p:spPr>
      </p:sp>
      <p:sp>
        <p:nvSpPr>
          <p:cNvPr id="21" name="Text 19"/>
          <p:cNvSpPr/>
          <p:nvPr/>
        </p:nvSpPr>
        <p:spPr>
          <a:xfrm>
            <a:off x="7964424" y="2569464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信頼性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708392" y="3108960"/>
            <a:ext cx="128016" cy="128016"/>
          </a:xfrm>
          <a:prstGeom prst="ellipse">
            <a:avLst/>
          </a:prstGeom>
          <a:solidFill>
            <a:srgbClr val="1470C4"/>
          </a:solidFill>
          <a:ln/>
        </p:spPr>
      </p:sp>
      <p:sp>
        <p:nvSpPr>
          <p:cNvPr id="23" name="Text 21"/>
          <p:cNvSpPr/>
          <p:nvPr/>
        </p:nvSpPr>
        <p:spPr>
          <a:xfrm>
            <a:off x="7964424" y="3054096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セキュリティ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08392" y="3593592"/>
            <a:ext cx="128016" cy="128016"/>
          </a:xfrm>
          <a:prstGeom prst="ellipse">
            <a:avLst/>
          </a:prstGeom>
          <a:solidFill>
            <a:srgbClr val="1470C4"/>
          </a:solidFill>
          <a:ln/>
        </p:spPr>
      </p:sp>
      <p:sp>
        <p:nvSpPr>
          <p:cNvPr id="25" name="Text 23"/>
          <p:cNvSpPr/>
          <p:nvPr/>
        </p:nvSpPr>
        <p:spPr>
          <a:xfrm>
            <a:off x="7964424" y="3538728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コスト最適化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708392" y="4078224"/>
            <a:ext cx="128016" cy="128016"/>
          </a:xfrm>
          <a:prstGeom prst="ellipse">
            <a:avLst/>
          </a:prstGeom>
          <a:solidFill>
            <a:srgbClr val="1470C4"/>
          </a:solidFill>
          <a:ln/>
        </p:spPr>
      </p:sp>
      <p:sp>
        <p:nvSpPr>
          <p:cNvPr id="27" name="Text 25"/>
          <p:cNvSpPr/>
          <p:nvPr/>
        </p:nvSpPr>
        <p:spPr>
          <a:xfrm>
            <a:off x="7964424" y="4023360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オペレーショナル エクセレンス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708392" y="4562856"/>
            <a:ext cx="128016" cy="128016"/>
          </a:xfrm>
          <a:prstGeom prst="ellipse">
            <a:avLst/>
          </a:prstGeom>
          <a:solidFill>
            <a:srgbClr val="1470C4"/>
          </a:solidFill>
          <a:ln/>
        </p:spPr>
      </p:sp>
      <p:sp>
        <p:nvSpPr>
          <p:cNvPr id="29" name="Text 27"/>
          <p:cNvSpPr/>
          <p:nvPr/>
        </p:nvSpPr>
        <p:spPr>
          <a:xfrm>
            <a:off x="7964424" y="4507992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パフォーマンス効率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66928" y="5349240"/>
            <a:ext cx="11055096" cy="566928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31" name="Shape 29"/>
          <p:cNvSpPr/>
          <p:nvPr/>
        </p:nvSpPr>
        <p:spPr>
          <a:xfrm>
            <a:off x="566928" y="5349240"/>
            <a:ext cx="82296" cy="56692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32" name="Text 30"/>
          <p:cNvSpPr/>
          <p:nvPr/>
        </p:nvSpPr>
        <p:spPr>
          <a:xfrm>
            <a:off x="786384" y="5349240"/>
            <a:ext cx="10689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重要度は公式ラベルではなく、本番リスクに基づく判断ガイド。目標値・判断基準・責任者・確認方法まで定義する。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66928" y="6236208"/>
            <a:ext cx="11055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[1]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https://learn.microsoft.com/ja-jp/azure/well-architected/what-is-well-architected-framework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6E1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第7章  非機能要件と本番化 — 優先度・DPS・監視・本番判定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073384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solidFill>
            <a:srgbClr val="0B4C8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16736" y="42062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A3E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測定可能な目標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16736" y="621792"/>
            <a:ext cx="10232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本番前に測定可能な目標を決める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55096" cy="0"/>
          </a:xfrm>
          <a:prstGeom prst="line">
            <a:avLst/>
          </a:prstGeom>
          <a:noFill/>
          <a:ln w="15875">
            <a:solidFill>
              <a:srgbClr val="D6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8132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サービスを選ぶ前に、業務影響から測定可能な目標と責任者を決める。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920240"/>
          <a:ext cx="11055096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297680"/>
                <a:gridCol w="4654296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観点</a:t>
                      </a:r>
                      <a:endParaRPr lang="en-US" sz="12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要件として決める例</a:t>
                      </a:r>
                      <a:endParaRPr lang="en-US" sz="12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設計・運用へ反映する項目</a:t>
                      </a:r>
                      <a:endParaRPr lang="en-US" sz="12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セキュリティ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侵害時に対象デバイスを何分で無効化するか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認証方式、失効手順、RBAC、ネットワーク制御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信頼性・データ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許容停止時間と許容データ損失量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SLO、RTO、RPO、バッファ、再送、保持・削除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性能・拡張性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台数、送信頻度、サイズ、ピーク遅延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SKU、ユニット数、クォータ、負荷試験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運用・コスト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検知時間、復旧時間、月額上限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メトリック、アラート、Runbook、予算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66928" y="45262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SLO の対象範囲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66928" y="4800600"/>
            <a:ext cx="1920240" cy="457200"/>
          </a:xfrm>
          <a:prstGeom prst="roundRect">
            <a:avLst>
              <a:gd name="adj" fmla="val 12000"/>
            </a:avLst>
          </a:prstGeom>
          <a:solidFill>
            <a:srgbClr val="F4F9FE"/>
          </a:solidFill>
          <a:ln w="15875">
            <a:solidFill>
              <a:srgbClr val="D6E1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" y="4800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デバイス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487168" y="5029200"/>
            <a:ext cx="363474" cy="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2850642" y="4800600"/>
            <a:ext cx="1920240" cy="457200"/>
          </a:xfrm>
          <a:prstGeom prst="roundRect">
            <a:avLst>
              <a:gd name="adj" fmla="val 12000"/>
            </a:avLst>
          </a:prstGeom>
          <a:solidFill>
            <a:srgbClr val="F4F9FE"/>
          </a:solidFill>
          <a:ln w="15875">
            <a:solidFill>
              <a:srgbClr val="D6E1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942082" y="4800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ネットワーク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770882" y="5029200"/>
            <a:ext cx="363474" cy="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5134356" y="4800600"/>
            <a:ext cx="1920240" cy="457200"/>
          </a:xfrm>
          <a:prstGeom prst="roundRect">
            <a:avLst>
              <a:gd name="adj" fmla="val 12000"/>
            </a:avLst>
          </a:prstGeom>
          <a:solidFill>
            <a:srgbClr val="F4F9FE"/>
          </a:solidFill>
          <a:ln w="15875">
            <a:solidFill>
              <a:srgbClr val="D6E1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225796" y="4800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IoT Hub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7054596" y="5029200"/>
            <a:ext cx="363474" cy="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7418070" y="4800600"/>
            <a:ext cx="1920240" cy="457200"/>
          </a:xfrm>
          <a:prstGeom prst="roundRect">
            <a:avLst>
              <a:gd name="adj" fmla="val 12000"/>
            </a:avLst>
          </a:prstGeom>
          <a:solidFill>
            <a:srgbClr val="F4F9FE"/>
          </a:solidFill>
          <a:ln w="15875">
            <a:solidFill>
              <a:srgbClr val="D6E1E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509510" y="4800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配送先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9338310" y="5029200"/>
            <a:ext cx="363474" cy="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9701784" y="4800600"/>
            <a:ext cx="1920240" cy="457200"/>
          </a:xfrm>
          <a:prstGeom prst="roundRect">
            <a:avLst>
              <a:gd name="adj" fmla="val 12000"/>
            </a:avLst>
          </a:prstGeom>
          <a:solidFill>
            <a:srgbClr val="F4F9FE"/>
          </a:solidFill>
          <a:ln w="15875">
            <a:solidFill>
              <a:srgbClr val="D6E1E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793224" y="4800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業務処理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566928" y="5440680"/>
            <a:ext cx="11055096" cy="566928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25" name="Shape 22"/>
          <p:cNvSpPr/>
          <p:nvPr/>
        </p:nvSpPr>
        <p:spPr>
          <a:xfrm>
            <a:off x="566928" y="5440680"/>
            <a:ext cx="82296" cy="56692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26" name="Text 23"/>
          <p:cNvSpPr/>
          <p:nvPr/>
        </p:nvSpPr>
        <p:spPr>
          <a:xfrm>
            <a:off x="786384" y="5440680"/>
            <a:ext cx="10689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IoT Hub の SLA を、そのままシステム全体の SLO にはしない。デバイスから業務処理までを対象にする。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66928" y="6236208"/>
            <a:ext cx="11055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[1]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https://learn.microsoft.com/ja-jp/azure/reliability/reliability-iot-hub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6E1E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第7章  非機能要件と本番化 — 優先度・DPS・監視・本番判定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073384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solidFill>
            <a:srgbClr val="0B4C8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16736" y="42062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A3E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資格情報のライフサイクル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16736" y="621792"/>
            <a:ext cx="10232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デバイス資格情報を製造から廃棄まで管理する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55096" cy="0"/>
          </a:xfrm>
          <a:prstGeom prst="line">
            <a:avLst/>
          </a:prstGeom>
          <a:noFill/>
          <a:ln w="15875">
            <a:solidFill>
              <a:srgbClr val="D6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8132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デバイスごとに一意の ID と資格情報を割り当て、共有資格情報を使い回さない。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965960"/>
            <a:ext cx="2487168" cy="932688"/>
          </a:xfrm>
          <a:prstGeom prst="roundRect">
            <a:avLst>
              <a:gd name="adj" fmla="val 5882"/>
            </a:avLst>
          </a:prstGeom>
          <a:solidFill>
            <a:srgbClr val="F4F9FE"/>
          </a:solidFill>
          <a:ln w="15875">
            <a:solidFill>
              <a:srgbClr val="1470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039112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製造・初期設定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58368" y="2276856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誰が発行し、安全な領域へ格納するか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054096" y="2432304"/>
            <a:ext cx="368808" cy="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422904" y="1965960"/>
            <a:ext cx="2487168" cy="932688"/>
          </a:xfrm>
          <a:prstGeom prst="roundRect">
            <a:avLst>
              <a:gd name="adj" fmla="val 5882"/>
            </a:avLst>
          </a:prstGeom>
          <a:solidFill>
            <a:srgbClr val="F4F9FE"/>
          </a:solidFill>
          <a:ln w="15875">
            <a:solidFill>
              <a:srgbClr val="1470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14344" y="2039112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配送・設置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514344" y="2276856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機器との対応確認と漏えい防止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10072" y="2432304"/>
            <a:ext cx="368808" cy="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78880" y="1965960"/>
            <a:ext cx="2487168" cy="932688"/>
          </a:xfrm>
          <a:prstGeom prst="roundRect">
            <a:avLst>
              <a:gd name="adj" fmla="val 5882"/>
            </a:avLst>
          </a:prstGeom>
          <a:solidFill>
            <a:srgbClr val="F4F9FE"/>
          </a:solidFill>
          <a:ln w="15875">
            <a:solidFill>
              <a:srgbClr val="1470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0320" y="2039112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運用・更新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370320" y="2276856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更新・ローテーションと失敗時の復旧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766048" y="2432304"/>
            <a:ext cx="368808" cy="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134856" y="1965960"/>
            <a:ext cx="2487168" cy="932688"/>
          </a:xfrm>
          <a:prstGeom prst="roundRect">
            <a:avLst>
              <a:gd name="adj" fmla="val 5882"/>
            </a:avLst>
          </a:prstGeom>
          <a:solidFill>
            <a:srgbClr val="F4F9FE"/>
          </a:solidFill>
          <a:ln w="15875">
            <a:solidFill>
              <a:srgbClr val="E087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26296" y="2039112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侵害・交換・廃棄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226296" y="2276856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対象だけ無効化し、再登録を防止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2648" y="3246120"/>
            <a:ext cx="109636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認証方式は、脅威モデル・デバイス性能・製造工程・更新可能性から選ぶ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本番では X.509 証明書や TPM で秘密鍵をハードウェア保護する[2]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ファームウェア更新は、署名検証・セキュアブート・失敗時のロールバックを設計する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5212080"/>
            <a:ext cx="11055096" cy="566928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25" name="Shape 23"/>
          <p:cNvSpPr/>
          <p:nvPr/>
        </p:nvSpPr>
        <p:spPr>
          <a:xfrm>
            <a:off x="566928" y="5212080"/>
            <a:ext cx="82296" cy="56692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" y="5212080"/>
            <a:ext cx="10689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認証方式の選択と、資格情報を運び続ける運用手順はセットで決める。廃棄時は DPS の Enrollment と IoT Hub のデバイス ID の両方を扱う。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66928" y="6089904"/>
            <a:ext cx="11055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[1]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https://learn.microsoft.com/ja-jp/azure/iot-hub/secure-azure-iot-hub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66928" y="6236208"/>
            <a:ext cx="11055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[2]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https://learn.microsoft.com/ja-jp/azure/iot-dps/concepts-service#attestation-mechanism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6E1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第7章  非機能要件と本番化 — 優先度・DPS・監視・本番判定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73384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solidFill>
            <a:srgbClr val="0B4C8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16736" y="42062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A3E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認証・認可・ネットワーク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16736" y="621792"/>
            <a:ext cx="10232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ルーティング先への到達性は3つの層で確認する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55096" cy="0"/>
          </a:xfrm>
          <a:prstGeom prst="line">
            <a:avLst/>
          </a:prstGeom>
          <a:noFill/>
          <a:ln w="15875">
            <a:solidFill>
              <a:srgbClr val="D6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8132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デバイスが IoT Hub に送信できても、IoT Hub が Storage に書き込めるとは限らない。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874520"/>
            <a:ext cx="402336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5E6B74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66928" y="187452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Portal 操作者（設定変更の権限は配送権限とは別）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6928" y="251460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0B4C8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5146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IoT Hub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395728" y="3017520"/>
            <a:ext cx="169164" cy="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564892" y="2514600"/>
            <a:ext cx="2148840" cy="1005840"/>
          </a:xfrm>
          <a:prstGeom prst="roundRect">
            <a:avLst>
              <a:gd name="adj" fmla="val 5455"/>
            </a:avLst>
          </a:prstGeom>
          <a:solidFill>
            <a:srgbClr val="F4F9FE"/>
          </a:solidFill>
          <a:ln w="15875">
            <a:solidFill>
              <a:srgbClr val="1470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6332" y="258775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認証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56332" y="2825496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使用するマネージド ID はどれか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13732" y="3017520"/>
            <a:ext cx="169164" cy="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882896" y="2514600"/>
            <a:ext cx="2331720" cy="1005840"/>
          </a:xfrm>
          <a:prstGeom prst="roundRect">
            <a:avLst>
              <a:gd name="adj" fmla="val 5455"/>
            </a:avLst>
          </a:prstGeom>
          <a:solidFill>
            <a:srgbClr val="F4F9FE"/>
          </a:solidFill>
          <a:ln w="15875">
            <a:solidFill>
              <a:srgbClr val="1470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74336" y="258775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認可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74336" y="2825496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Blob Data Contributor を対象範囲で付与[1]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214616" y="3017520"/>
            <a:ext cx="169164" cy="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383780" y="2514600"/>
            <a:ext cx="2240280" cy="1005840"/>
          </a:xfrm>
          <a:prstGeom prst="roundRect">
            <a:avLst>
              <a:gd name="adj" fmla="val 5455"/>
            </a:avLst>
          </a:prstGeom>
          <a:solidFill>
            <a:srgbClr val="F4F9FE"/>
          </a:solidFill>
          <a:ln w="15875">
            <a:solidFill>
              <a:srgbClr val="E087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75220" y="258775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ネットワーク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75220" y="2825496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送信接続を許可する構成か[2]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624060" y="3017520"/>
            <a:ext cx="169164" cy="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793224" y="251460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0B4C8C"/>
          </a:solidFill>
          <a:ln/>
        </p:spPr>
      </p:sp>
      <p:sp>
        <p:nvSpPr>
          <p:cNvPr id="26" name="Text 24"/>
          <p:cNvSpPr/>
          <p:nvPr/>
        </p:nvSpPr>
        <p:spPr>
          <a:xfrm>
            <a:off x="9793224" y="25146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Storage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12648" y="3794760"/>
            <a:ext cx="109636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Portal 操作者の権限と、IoT Hub が配送に使う権限は別に確認する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マネージド ID にロールを付与しても、ネットワーク制限は解除されない[2]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IoT Hub の Private Endpoint は接続する側の入口で、直接配送を VNet 経由に変える機能ではない[2]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66928" y="5349240"/>
            <a:ext cx="11055096" cy="566928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29" name="Shape 27"/>
          <p:cNvSpPr/>
          <p:nvPr/>
        </p:nvSpPr>
        <p:spPr>
          <a:xfrm>
            <a:off x="566928" y="5349240"/>
            <a:ext cx="82296" cy="56692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30" name="Text 28"/>
          <p:cNvSpPr/>
          <p:nvPr/>
        </p:nvSpPr>
        <p:spPr>
          <a:xfrm>
            <a:off x="786384" y="5349240"/>
            <a:ext cx="10689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権限エラーに見えても、主体・ロール・対象範囲・ネットワークの順に切り分ける。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66928" y="6089904"/>
            <a:ext cx="11055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[1]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https://learn.microsoft.com/ja-jp/azure/iot-hub/iot-hub-managed-identity#configure-message-routing-with-managed-identities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66928" y="6236208"/>
            <a:ext cx="11055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[2]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https://learn.microsoft.com/ja-jp/azure/iot-hub/virtual-network-support#egress-connectivity-from-iot-hub-to-other-azure-resources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6E1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第7章  非機能要件と本番化 — 優先度・DPS・監視・本番判定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073384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solidFill>
            <a:srgbClr val="0B4C8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16736" y="42062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A3E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ネットワーク経路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16736" y="621792"/>
            <a:ext cx="10232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入口と出口でネットワーク経路を分ける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55096" cy="0"/>
          </a:xfrm>
          <a:prstGeom prst="line">
            <a:avLst/>
          </a:prstGeom>
          <a:noFill/>
          <a:ln w="15875">
            <a:solidFill>
              <a:srgbClr val="D6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8132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IoT Hub を中心に、手前のデバイス側が入口、その先の配送先側が出口。それぞれ公開経路と閉域経路を分けて決める。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74520"/>
          <a:ext cx="11055096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4361688"/>
                <a:gridCol w="4361688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通信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公開エンドポイント経由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閉域（VNet / Private Endpoint）経由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デバイス → IoT Hub</a:t>
                      </a:r>
                      <a:endParaRPr lang="en-US" sz="10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インターネットから IoT Hub の公開エンドポイントへ接続。広域に分散したデバイスの基本構成[1]</a:t>
                      </a:r>
                      <a:endParaRPr lang="en-US" sz="10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オンプレミス → VPN / ExpressRoute → VNet（自社専用のネットワーク区画）の Private Endpoint（Hub 専用の非公開の入口）へ接続。公開ネットワークアクセスは無効化できる[1]</a:t>
                      </a:r>
                      <a:endParaRPr lang="en-US" sz="10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801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IoT Hub → 配送先</a:t>
                      </a:r>
                      <a:endParaRPr lang="en-US" sz="10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(Storage / Event Hubs / Service Bus)</a:t>
                      </a:r>
                      <a:endParaRPr lang="en-US" sz="10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直接ルーティングは配送先の公開エンドポイントを使用。制限時は「信頼された Microsoft サービスの例外」（配送先が Hub からの接続を許可する設定）とマネージド ID を併用[2]</a:t>
                      </a:r>
                      <a:endParaRPr lang="en-US" sz="10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直接ルーティングを VNet 経由へ変更することはできない。VNet 内の受信アプリ（自分で用意する中継アプリ）が組み込みエンドポイント[1]から読み、配送先の Private Endpoint へ書き込む[2]</a:t>
                      </a:r>
                      <a:endParaRPr lang="en-US" sz="10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2648" y="4718304"/>
            <a:ext cx="10963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「バックボーン経由か VNet 経由か」は二者択一ではない。Private Link も通信は Azure バックボーンを経由する[3]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デバイス側の Private Endpoint はオンプレミス内のデバイス向けで、広域に分散したデバイスには推奨されない[1]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66928" y="5321808"/>
            <a:ext cx="11055096" cy="566928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11" name="Shape 8"/>
          <p:cNvSpPr/>
          <p:nvPr/>
        </p:nvSpPr>
        <p:spPr>
          <a:xfrm>
            <a:off x="566928" y="5321808"/>
            <a:ext cx="82296" cy="56692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12" name="Text 9"/>
          <p:cNvSpPr/>
          <p:nvPr/>
        </p:nvSpPr>
        <p:spPr>
          <a:xfrm>
            <a:off x="786384" y="5321808"/>
            <a:ext cx="10689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IoT Hub の Private Endpoint は Hub への入口を閉じる設定で、Hub から配送先へ出る接続には効かない。作っても直接ルーティングまで閉域化されるわけではない。[1][2]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66928" y="5943600"/>
            <a:ext cx="11055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[1]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https://learn.microsoft.com/ja-jp/azure/iot-hub/virtual-network-support#ingress-connectivity-to-iot-hub-using-azure-private-link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66928" y="6089904"/>
            <a:ext cx="11055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[2]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https://learn.microsoft.com/ja-jp/azure/iot-hub/virtual-network-support#egress-connectivity-from-iot-hub-to-other-azure-resources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66928" y="6236208"/>
            <a:ext cx="11055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[3]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https://learn.microsoft.com/ja-jp/azure/private-link/private-link-overview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6E1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第7章  非機能要件と本番化 — 優先度・DPS・監視・本番判定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073384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solidFill>
            <a:srgbClr val="0B4C8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16736" y="42062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A3E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IOT HUB の信頼性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16736" y="621792"/>
            <a:ext cx="10232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IoT Hub の信頼性を一時障害・ゾーン・リージョンで備える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55096" cy="0"/>
          </a:xfrm>
          <a:prstGeom prst="line">
            <a:avLst/>
          </a:prstGeom>
          <a:noFill/>
          <a:ln w="15875">
            <a:solidFill>
              <a:srgbClr val="D6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8132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信頼性は共有責任。障害の粒度ごとに、IoT Hub が自動でやることと利用者が備えることを分ける。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74520"/>
          <a:ext cx="11055096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4270248"/>
                <a:gridCol w="4270248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障害の粒度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IoT Hub 側の仕組み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利用者側で行うこと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一時的な障害</a:t>
                      </a:r>
                      <a:endParaRPr lang="en-US" sz="10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（短時間・断続的）</a:t>
                      </a:r>
                      <a:endParaRPr lang="en-US" sz="10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高可用だが、分散環境では短時間の障害が起こり得る</a:t>
                      </a:r>
                      <a:endParaRPr lang="en-US" sz="10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リトライ（指数バックオフ＋ジッター）と再接続ロジックを実装[2]</a:t>
                      </a:r>
                      <a:endParaRPr lang="en-US" sz="10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可用性ゾーン障害</a:t>
                      </a:r>
                      <a:endParaRPr lang="en-US" sz="10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対応リージョンはゾーン冗長を自動適用。データ損失なし・追加コストなし・正常ゾーンへ自動再ルーティング[1]</a:t>
                      </a:r>
                      <a:endParaRPr lang="en-US" sz="10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ゾーン冗長に対応したリージョンにデプロイ。処理中の要求はリトライで復旧[1]</a:t>
                      </a:r>
                      <a:endParaRPr lang="en-US" sz="10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リージョン障害</a:t>
                      </a:r>
                      <a:endParaRPr lang="en-US" sz="10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単一リージョンサービス。ペアリージョンへ非同期レプリケーション（DR）[1]</a:t>
                      </a:r>
                      <a:endParaRPr lang="en-US" sz="10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デバイス接続の自動リージョンフェールオーバーは無い。必要なら多リージョン戦略を設計[1]</a:t>
                      </a:r>
                      <a:endParaRPr lang="en-US" sz="10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2648" y="4828032"/>
            <a:ext cx="109636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ゾーン・リージョン障害とも、処理中の要求は失われ得る。復旧はデバイス側のリトライが前提[1]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リージョン フェールオーバー後も FQDN（接続文字列）は不変だが IP は変わる。IP をキャッシュしない[1]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66928" y="5358384"/>
            <a:ext cx="11055096" cy="566928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11" name="Shape 8"/>
          <p:cNvSpPr/>
          <p:nvPr/>
        </p:nvSpPr>
        <p:spPr>
          <a:xfrm>
            <a:off x="566928" y="5358384"/>
            <a:ext cx="82296" cy="56692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12" name="Text 9"/>
          <p:cNvSpPr/>
          <p:nvPr/>
        </p:nvSpPr>
        <p:spPr>
          <a:xfrm>
            <a:off x="786384" y="5358384"/>
            <a:ext cx="10689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規模に関わらず、一時的な障害へのリトライ実装が信頼性の出発点。ゾーンは対応リージョン選択、リージョンは DR 設計で備える。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66928" y="6089904"/>
            <a:ext cx="11055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[1]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https://learn.microsoft.com/ja-jp/azure/reliability/reliability-iot-hub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66928" y="6236208"/>
            <a:ext cx="11055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[2]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https://learn.microsoft.com/ja-jp/azure/iot/concepts-manage-device-reconnections#retry-patterns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6E1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第7章  非機能要件と本番化 — 優先度・DPS・監視・本番判定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073384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solidFill>
            <a:srgbClr val="0B4C8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16736" y="42062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A3E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DPS の仕組みとメリット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16736" y="621792"/>
            <a:ext cx="10232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DPS で初回登録と接続先割り当てを自動化する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55096" cy="0"/>
          </a:xfrm>
          <a:prstGeom prst="line">
            <a:avLst/>
          </a:prstGeom>
          <a:noFill/>
          <a:ln w="15875">
            <a:solidFill>
              <a:srgbClr val="D6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8132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DPS は、デバイスを認証して接続先 IoT Hub を割り当てる、初回登録の自動化サービス。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965960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F4F9FE"/>
          </a:solidFill>
          <a:ln w="15875">
            <a:solidFill>
              <a:srgbClr val="1470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9659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デバイス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304288" y="2286000"/>
            <a:ext cx="121920" cy="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426208" y="1965960"/>
            <a:ext cx="3931920" cy="640080"/>
          </a:xfrm>
          <a:prstGeom prst="roundRect">
            <a:avLst>
              <a:gd name="adj" fmla="val 8571"/>
            </a:avLst>
          </a:prstGeom>
          <a:solidFill>
            <a:srgbClr val="F4F9FE"/>
          </a:solidFill>
          <a:ln w="15875">
            <a:solidFill>
              <a:srgbClr val="1470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7648" y="19659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DPS で認証・Enrollment 照合・割り当て決定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58128" y="2286000"/>
            <a:ext cx="121920" cy="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480048" y="1965960"/>
            <a:ext cx="2286000" cy="640080"/>
          </a:xfrm>
          <a:prstGeom prst="roundRect">
            <a:avLst>
              <a:gd name="adj" fmla="val 8571"/>
            </a:avLst>
          </a:prstGeom>
          <a:solidFill>
            <a:srgbClr val="F4F9FE"/>
          </a:solidFill>
          <a:ln w="15875">
            <a:solidFill>
              <a:srgbClr val="1470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71488" y="19659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IoT Hub へ登録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766048" y="2286000"/>
            <a:ext cx="121920" cy="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887968" y="1965960"/>
            <a:ext cx="2734056" cy="640080"/>
          </a:xfrm>
          <a:prstGeom prst="roundRect">
            <a:avLst>
              <a:gd name="adj" fmla="val 8571"/>
            </a:avLst>
          </a:prstGeom>
          <a:solidFill>
            <a:srgbClr val="EAF2FB"/>
          </a:solidFill>
          <a:ln w="15875">
            <a:solidFill>
              <a:srgbClr val="0B4C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79408" y="1965960"/>
            <a:ext cx="2551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IoT Hub へ直接接続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66928" y="2642616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通常のテレメトリは DPS を経由せず、デバイスと IoT Hub が直接やり取りする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2999232"/>
            <a:ext cx="4572000" cy="2139696"/>
          </a:xfrm>
          <a:prstGeom prst="roundRect">
            <a:avLst>
              <a:gd name="adj" fmla="val 3419"/>
            </a:avLst>
          </a:prstGeom>
          <a:solidFill>
            <a:srgbClr val="F4F9FE"/>
          </a:solidFill>
          <a:ln w="15875">
            <a:solidFill>
              <a:srgbClr val="1470C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2999232"/>
            <a:ext cx="4572000" cy="402336"/>
          </a:xfrm>
          <a:prstGeom prst="rect">
            <a:avLst/>
          </a:prstGeom>
          <a:solidFill>
            <a:srgbClr val="0B4C8C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2999232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工場出荷時の初期設定（手動登録の代わりに用意）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68096" y="3547872"/>
            <a:ext cx="4169664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1470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9536" y="3621024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 DPS の接続情報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59536" y="3858768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ID スコープ / グローバル エンドポイント / 登録 ID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68096" y="4352544"/>
            <a:ext cx="4169664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1470C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9536" y="4425696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 資格情報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59536" y="4663440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認証方式に応じて X.509 証明書 / TPM / 対称キー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58968" y="2999232"/>
            <a:ext cx="6163056" cy="2139696"/>
          </a:xfrm>
          <a:prstGeom prst="roundRect">
            <a:avLst>
              <a:gd name="adj" fmla="val 3419"/>
            </a:avLst>
          </a:prstGeom>
          <a:solidFill>
            <a:srgbClr val="F4F9FE"/>
          </a:solidFill>
          <a:ln w="15875">
            <a:solidFill>
              <a:srgbClr val="D6E1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58968" y="2999232"/>
            <a:ext cx="6163056" cy="402336"/>
          </a:xfrm>
          <a:prstGeom prst="rect">
            <a:avLst/>
          </a:prstGeom>
          <a:solidFill>
            <a:srgbClr val="1470C4"/>
          </a:solidFill>
          <a:ln/>
        </p:spPr>
      </p:sp>
      <p:sp>
        <p:nvSpPr>
          <p:cNvPr id="31" name="Text 29"/>
          <p:cNvSpPr/>
          <p:nvPr/>
        </p:nvSpPr>
        <p:spPr>
          <a:xfrm>
            <a:off x="5458968" y="2999232"/>
            <a:ext cx="6163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手動登録との違い（メリット）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687568" y="3547872"/>
            <a:ext cx="5751576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手動登録が不要: 工場出荷時の設定だけで現地で自動接続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接続先を固定しない: 出荷後に割り当て先 Hub を決定・変更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多数台・多拠点に強い: 複数 Hub への割り当てを一元管理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割り当ての自動化: ポリシーで負荷分散や地理的な割り当て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66928" y="5285232"/>
            <a:ext cx="11055096" cy="566928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34" name="Shape 32"/>
          <p:cNvSpPr/>
          <p:nvPr/>
        </p:nvSpPr>
        <p:spPr>
          <a:xfrm>
            <a:off x="566928" y="5285232"/>
            <a:ext cx="82296" cy="56692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35" name="Text 33"/>
          <p:cNvSpPr/>
          <p:nvPr/>
        </p:nvSpPr>
        <p:spPr>
          <a:xfrm>
            <a:off x="786384" y="5285232"/>
            <a:ext cx="10689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Enrollment は登録を許可するための事前設定で、IoT Hub のデバイス ID とは別。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66928" y="6089904"/>
            <a:ext cx="11055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[1]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https://learn.microsoft.com/ja-jp/azure/iot-dps/about-iot-dps#how-device-provisioning-service-works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66928" y="6236208"/>
            <a:ext cx="11055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[2]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https://learn.microsoft.com/ja-jp/azure/iot-dps/concepts-service#enrollment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6E1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第7章  非機能要件と本番化 — 優先度・DPS・監視・本番判定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073384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solidFill>
            <a:srgbClr val="0B4C8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16736" y="42062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A3E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登録方式の使い分け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16736" y="621792"/>
            <a:ext cx="10232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直接登録・個別登録・グループ登録を選ぶ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55096" cy="0"/>
          </a:xfrm>
          <a:prstGeom prst="line">
            <a:avLst/>
          </a:prstGeom>
          <a:noFill/>
          <a:ln w="15875">
            <a:solidFill>
              <a:srgbClr val="D6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8132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台数と接続先の要件から、IoT Hub への直接登録と DPS の登録方式を選ぶ。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011680"/>
          <a:ext cx="11055096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663440"/>
                <a:gridCol w="3739896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方式</a:t>
                      </a:r>
                      <a:endParaRPr lang="en-US" sz="12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クラウド側の事前準備</a:t>
                      </a:r>
                      <a:endParaRPr lang="en-US" sz="12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向いている例</a:t>
                      </a:r>
                      <a:endParaRPr lang="en-US" sz="12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IoT Hub へ直接登録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接続先 Hub にデバイス ID を登録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少数台で接続先が固定される検証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DPS の個別登録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DPS にデバイスごとの Enrollment を作成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出荷先決定後に Hub を割り当てる機器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DPS のグループ登録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共通の認証方式に基づく Enrollment Group を作成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同じ管理単位に属する多数デバイス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2648" y="4160520"/>
            <a:ext cx="109636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個別登録でも、デバイスの本人確認と接続先 IoT Hub の決定を分離できる[1]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グループ登録でも各デバイスの資格情報は必要で、秘密情報の使い回しではない[2]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設定変更だけでは接続中デバイスは移動せず、デバイスからの再プロビジョニング要求が必要[3]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66928" y="5285232"/>
            <a:ext cx="11055096" cy="566928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11" name="Shape 8"/>
          <p:cNvSpPr/>
          <p:nvPr/>
        </p:nvSpPr>
        <p:spPr>
          <a:xfrm>
            <a:off x="566928" y="5285232"/>
            <a:ext cx="82296" cy="56692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12" name="Text 9"/>
          <p:cNvSpPr/>
          <p:nvPr/>
        </p:nvSpPr>
        <p:spPr>
          <a:xfrm>
            <a:off x="786384" y="5285232"/>
            <a:ext cx="10689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登録エントリの管理を集約することと、接続先をデバイスに固定しないことは、別々のメリットである。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66928" y="5943600"/>
            <a:ext cx="11055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[1]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https://learn.microsoft.com/ja-jp/azure/iot-dps/concepts-service#enrollment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66928" y="6089904"/>
            <a:ext cx="11055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[2]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https://learn.microsoft.com/ja-jp/azure/iot-dps/concepts-service#enrollment-group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66928" y="6236208"/>
            <a:ext cx="11055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[3]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https://learn.microsoft.com/ja-jp/azure/iot-dps/concepts-device-reprovision#reprovisioning-policies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6E1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第7章  非機能要件と本番化 — 優先度・DPS・監視・本番判定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073384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solidFill>
            <a:srgbClr val="0B4C8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16736" y="42062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A3E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再接続と再プロビジョニング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16736" y="621792"/>
            <a:ext cx="10232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再接続と再プロビジョニングを使い分ける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55096" cy="0"/>
          </a:xfrm>
          <a:prstGeom prst="line">
            <a:avLst/>
          </a:prstGeom>
          <a:noFill/>
          <a:ln w="15875">
            <a:solidFill>
              <a:srgbClr val="D6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8132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再起動や一時切断のたびに DPS へ戻らず、保存した割り当て情報で同じ IoT Hub への再接続を先に試す。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148840"/>
            <a:ext cx="2926080" cy="640080"/>
          </a:xfrm>
          <a:prstGeom prst="roundRect">
            <a:avLst>
              <a:gd name="adj" fmla="val 8571"/>
            </a:avLst>
          </a:prstGeom>
          <a:solidFill>
            <a:srgbClr val="F4F9FE"/>
          </a:solidFill>
          <a:ln w="15875">
            <a:solidFill>
              <a:srgbClr val="1470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1488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割り当て済み情報あり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93008" y="2468880"/>
            <a:ext cx="685800" cy="0"/>
          </a:xfrm>
          <a:prstGeom prst="line">
            <a:avLst/>
          </a:prstGeom>
          <a:noFill/>
          <a:ln w="3175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3493008" y="1929384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ある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78808" y="2148840"/>
            <a:ext cx="3383280" cy="640080"/>
          </a:xfrm>
          <a:prstGeom prst="roundRect">
            <a:avLst>
              <a:gd name="adj" fmla="val 8571"/>
            </a:avLst>
          </a:prstGeom>
          <a:solidFill>
            <a:srgbClr val="EAF2FB"/>
          </a:solidFill>
          <a:ln w="25400">
            <a:solidFill>
              <a:srgbClr val="0B4C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70248" y="21488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同じ IoT Hub へ直接再接続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562088" y="2468880"/>
            <a:ext cx="685800" cy="0"/>
          </a:xfrm>
          <a:prstGeom prst="line">
            <a:avLst/>
          </a:prstGeom>
          <a:noFill/>
          <a:ln w="3175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7562088" y="1929384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成功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47888" y="2148840"/>
            <a:ext cx="3374136" cy="640080"/>
          </a:xfrm>
          <a:prstGeom prst="roundRect">
            <a:avLst>
              <a:gd name="adj" fmla="val 8571"/>
            </a:avLst>
          </a:prstGeom>
          <a:solidFill>
            <a:srgbClr val="F4F9FE"/>
          </a:solidFill>
          <a:ln w="15875">
            <a:solidFill>
              <a:srgbClr val="1470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39328" y="2148840"/>
            <a:ext cx="3191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通常通信を再開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029968" y="2788920"/>
            <a:ext cx="0" cy="457200"/>
          </a:xfrm>
          <a:prstGeom prst="line">
            <a:avLst/>
          </a:prstGeom>
          <a:noFill/>
          <a:ln w="25400">
            <a:solidFill>
              <a:srgbClr val="5E6B74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2121408" y="29077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なし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" y="3246120"/>
            <a:ext cx="2926080" cy="566928"/>
          </a:xfrm>
          <a:prstGeom prst="roundRect">
            <a:avLst>
              <a:gd name="adj" fmla="val 9677"/>
            </a:avLst>
          </a:prstGeom>
          <a:solidFill>
            <a:srgbClr val="F4F9FE"/>
          </a:solidFill>
          <a:ln w="15875">
            <a:solidFill>
              <a:srgbClr val="E087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324612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DPS でプロビジョニング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870448" y="2788920"/>
            <a:ext cx="0" cy="457200"/>
          </a:xfrm>
          <a:prstGeom prst="line">
            <a:avLst/>
          </a:prstGeom>
          <a:noFill/>
          <a:ln w="25400">
            <a:solidFill>
              <a:srgbClr val="5E6B74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5961888" y="29077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継続して失敗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78808" y="3246120"/>
            <a:ext cx="3383280" cy="566928"/>
          </a:xfrm>
          <a:prstGeom prst="roundRect">
            <a:avLst>
              <a:gd name="adj" fmla="val 9677"/>
            </a:avLst>
          </a:prstGeom>
          <a:solidFill>
            <a:srgbClr val="F4F9FE"/>
          </a:solidFill>
          <a:ln w="15875">
            <a:solidFill>
              <a:srgbClr val="E087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70248" y="324612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DPS で再プロビジョニング</a:t>
            </a:r>
            <a:endParaRPr lang="en-US" sz="11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069080"/>
          <a:ext cx="11055096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3840480"/>
                <a:gridCol w="4745736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処理</a:t>
                      </a:r>
                      <a:endParaRPr lang="en-US" sz="12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目的</a:t>
                      </a:r>
                      <a:endParaRPr lang="en-US" sz="12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代表的な場面</a:t>
                      </a:r>
                      <a:endParaRPr lang="en-US" sz="12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再接続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以前に割り当てられた Hub へ戻る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一時的な回線断、再起動、サービスの一時障害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再プロビジョニング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接続先の割り当てを確認・変更する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Hub の移行、リージョン変更、工場出荷時リセット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566928" y="5394960"/>
            <a:ext cx="11055096" cy="566928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28" name="Shape 25"/>
          <p:cNvSpPr/>
          <p:nvPr/>
        </p:nvSpPr>
        <p:spPr>
          <a:xfrm>
            <a:off x="566928" y="5394960"/>
            <a:ext cx="82296" cy="56692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29" name="Text 26"/>
          <p:cNvSpPr/>
          <p:nvPr/>
        </p:nvSpPr>
        <p:spPr>
          <a:xfrm>
            <a:off x="786384" y="5394960"/>
            <a:ext cx="10689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429 は Retry-After、5xx はバックオフを使い、短時間の失敗だけで全台を DPS へ戻さない[1]。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566928" y="6236208"/>
            <a:ext cx="11055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[1]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https://learn.microsoft.com/ja-jp/azure/iot-dps/concepts-deploy-at-scale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6E1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第7章  非機能要件と本番化 — 優先度・DPS・監視・本番判定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1073384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solidFill>
            <a:srgbClr val="0B4C8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16736" y="42062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A3E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信頼性・容量・監視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16736" y="621792"/>
            <a:ext cx="10232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信頼性・容量・監視をエンドツーエンドで設計する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55096" cy="0"/>
          </a:xfrm>
          <a:prstGeom prst="line">
            <a:avLst/>
          </a:prstGeom>
          <a:noFill/>
          <a:ln w="15875">
            <a:solidFill>
              <a:srgbClr val="D6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8132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IoT Hub の稼働だけでなく、必要なデータが必要な時間内に業務処理まで届くかを監視する。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920240"/>
          <a:ext cx="11055096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860536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観点</a:t>
                      </a:r>
                      <a:endParaRPr lang="en-US" sz="12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本番前に決めること</a:t>
                      </a:r>
                      <a:endParaRPr lang="en-US" sz="12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切断・再送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バックオフとジッター、デバイス側バッファ、重複判定、順序の扱い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容量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台数・頻度・サイズ・ピーク、操作別スロットリング、配送先の処理能力[1]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監視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接続数・認証エラー・スロットリング・ルーティング失敗・データ未着・DPS 登録率[2][3]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対応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重要度・通知先・一次対応者・Runbook・復旧/フェールオーバー演習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コスト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Hub ユニット・保存期間・ログ量・通信量・1台/1拠点当たりの目標原価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66928" y="461772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 Hub の上限を超える規模は複数 Hub へ分割し DPS で割り当てる。Twin・Direct Method・C2D を使う構成は Standard を選ぶ[1]。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66928" y="4983480"/>
            <a:ext cx="11055096" cy="566928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11" name="Shape 8"/>
          <p:cNvSpPr/>
          <p:nvPr/>
        </p:nvSpPr>
        <p:spPr>
          <a:xfrm>
            <a:off x="566928" y="4983480"/>
            <a:ext cx="82296" cy="56692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12" name="Text 9"/>
          <p:cNvSpPr/>
          <p:nvPr/>
        </p:nvSpPr>
        <p:spPr>
          <a:xfrm>
            <a:off x="786384" y="4983480"/>
            <a:ext cx="10689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技術メトリックと「一定時間データが来ない」という業務視点のアラートを組み合わせる。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66928" y="5943600"/>
            <a:ext cx="11055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[1]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https://learn.microsoft.com/ja-jp/azure/iot-hub/iot-hub-scaling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66928" y="6089904"/>
            <a:ext cx="11055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[2]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https://learn.microsoft.com/ja-jp/azure/iot-hub/monitor-iot-hub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66928" y="6236208"/>
            <a:ext cx="11055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[3]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https://learn.microsoft.com/ja-jp/azure/iot-dps/concepts-deploy-at-scale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6E1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第7章  非機能要件と本番化 — 優先度・DPS・監視・本番判定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073384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solidFill>
            <a:srgbClr val="0B4C8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16736" y="42062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A3E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ケーススタディ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16736" y="621792"/>
            <a:ext cx="10232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ケーススタディから責任分界を読み解く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55096" cy="0"/>
          </a:xfrm>
          <a:prstGeom prst="line">
            <a:avLst/>
          </a:prstGeom>
          <a:noFill/>
          <a:ln w="15875">
            <a:solidFill>
              <a:srgbClr val="D6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8132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事例の構成をそのまま採用せず、自分の要件に照らして設計判断を読み解く。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697480"/>
            <a:ext cx="868680" cy="548640"/>
          </a:xfrm>
          <a:prstGeom prst="roundRect">
            <a:avLst>
              <a:gd name="adj" fmla="val 8333"/>
            </a:avLst>
          </a:prstGeom>
          <a:solidFill>
            <a:srgbClr val="222B33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2697480"/>
            <a:ext cx="75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車両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435608" y="2971800"/>
            <a:ext cx="164592" cy="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600200" y="2651760"/>
            <a:ext cx="1554480" cy="640080"/>
          </a:xfrm>
          <a:prstGeom prst="roundRect">
            <a:avLst>
              <a:gd name="adj" fmla="val 7143"/>
            </a:avLst>
          </a:prstGeom>
          <a:solidFill>
            <a:srgbClr val="0B4C8C"/>
          </a:solidFill>
          <a:ln/>
        </p:spPr>
      </p:sp>
      <p:sp>
        <p:nvSpPr>
          <p:cNvPr id="12" name="Text 10"/>
          <p:cNvSpPr/>
          <p:nvPr/>
        </p:nvSpPr>
        <p:spPr>
          <a:xfrm>
            <a:off x="1655064" y="2651760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Protocol Gateway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83280" y="2148840"/>
            <a:ext cx="1600200" cy="566928"/>
          </a:xfrm>
          <a:prstGeom prst="roundRect">
            <a:avLst>
              <a:gd name="adj" fmla="val 8065"/>
            </a:avLst>
          </a:prstGeom>
          <a:solidFill>
            <a:srgbClr val="0B4C8C"/>
          </a:solidFill>
          <a:ln/>
        </p:spPr>
      </p:sp>
      <p:sp>
        <p:nvSpPr>
          <p:cNvPr id="14" name="Text 12"/>
          <p:cNvSpPr/>
          <p:nvPr/>
        </p:nvSpPr>
        <p:spPr>
          <a:xfrm>
            <a:off x="3438144" y="2148840"/>
            <a:ext cx="1490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IoT Hub（ブランドA）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383280" y="3246120"/>
            <a:ext cx="1600200" cy="566928"/>
          </a:xfrm>
          <a:prstGeom prst="roundRect">
            <a:avLst>
              <a:gd name="adj" fmla="val 8065"/>
            </a:avLst>
          </a:prstGeom>
          <a:solidFill>
            <a:srgbClr val="0B4C8C"/>
          </a:solidFill>
          <a:ln/>
        </p:spPr>
      </p:sp>
      <p:sp>
        <p:nvSpPr>
          <p:cNvPr id="16" name="Text 14"/>
          <p:cNvSpPr/>
          <p:nvPr/>
        </p:nvSpPr>
        <p:spPr>
          <a:xfrm>
            <a:off x="3438144" y="3246120"/>
            <a:ext cx="1490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IoT Hub（ブランドB）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 flipV="1">
            <a:off x="3154680" y="2432304"/>
            <a:ext cx="228600" cy="448056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154680" y="3063240"/>
            <a:ext cx="228600" cy="466344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983480" y="2432304"/>
            <a:ext cx="274320" cy="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257800" y="1920240"/>
            <a:ext cx="1783080" cy="1051560"/>
          </a:xfrm>
          <a:prstGeom prst="roundRect">
            <a:avLst>
              <a:gd name="adj" fmla="val 5217"/>
            </a:avLst>
          </a:prstGeom>
          <a:solidFill>
            <a:srgbClr val="F4F9FE"/>
          </a:solidFill>
          <a:ln w="15875">
            <a:solidFill>
              <a:srgbClr val="1470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57800" y="197510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Service Bus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40680" y="2286000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E0873A"/>
          </a:solidFill>
          <a:ln/>
        </p:spPr>
      </p:sp>
      <p:sp>
        <p:nvSpPr>
          <p:cNvPr id="23" name="Text 21"/>
          <p:cNvSpPr/>
          <p:nvPr/>
        </p:nvSpPr>
        <p:spPr>
          <a:xfrm>
            <a:off x="5440680" y="22860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High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40680" y="2615184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1470C4"/>
          </a:solidFill>
          <a:ln/>
        </p:spPr>
      </p:sp>
      <p:sp>
        <p:nvSpPr>
          <p:cNvPr id="25" name="Text 23"/>
          <p:cNvSpPr/>
          <p:nvPr/>
        </p:nvSpPr>
        <p:spPr>
          <a:xfrm>
            <a:off x="5440680" y="261518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Normal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040880" y="2432304"/>
            <a:ext cx="274320" cy="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315200" y="2148840"/>
            <a:ext cx="1554480" cy="566928"/>
          </a:xfrm>
          <a:prstGeom prst="roundRect">
            <a:avLst>
              <a:gd name="adj" fmla="val 8065"/>
            </a:avLst>
          </a:prstGeom>
          <a:solidFill>
            <a:srgbClr val="0B4C8C"/>
          </a:solidFill>
          <a:ln/>
        </p:spPr>
      </p:sp>
      <p:sp>
        <p:nvSpPr>
          <p:cNvPr id="28" name="Text 26"/>
          <p:cNvSpPr/>
          <p:nvPr/>
        </p:nvSpPr>
        <p:spPr>
          <a:xfrm>
            <a:off x="7370064" y="2148840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Telemetry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processor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869680" y="2432304"/>
            <a:ext cx="228600" cy="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098280" y="2148840"/>
            <a:ext cx="1097280" cy="566928"/>
          </a:xfrm>
          <a:prstGeom prst="roundRect">
            <a:avLst>
              <a:gd name="adj" fmla="val 8065"/>
            </a:avLst>
          </a:prstGeom>
          <a:solidFill>
            <a:srgbClr val="0B4C8C"/>
          </a:solidFill>
          <a:ln/>
        </p:spPr>
      </p:sp>
      <p:sp>
        <p:nvSpPr>
          <p:cNvPr id="31" name="Text 29"/>
          <p:cNvSpPr/>
          <p:nvPr/>
        </p:nvSpPr>
        <p:spPr>
          <a:xfrm>
            <a:off x="9153144" y="2148840"/>
            <a:ext cx="987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Extensions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0195560" y="2432304"/>
            <a:ext cx="228600" cy="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10424160" y="2148840"/>
            <a:ext cx="1197864" cy="566928"/>
          </a:xfrm>
          <a:prstGeom prst="roundRect">
            <a:avLst>
              <a:gd name="adj" fmla="val 8065"/>
            </a:avLst>
          </a:prstGeom>
          <a:solidFill>
            <a:srgbClr val="2E7D57"/>
          </a:solidFill>
          <a:ln/>
        </p:spPr>
      </p:sp>
      <p:sp>
        <p:nvSpPr>
          <p:cNvPr id="34" name="Text 32"/>
          <p:cNvSpPr/>
          <p:nvPr/>
        </p:nvSpPr>
        <p:spPr>
          <a:xfrm>
            <a:off x="10479024" y="2148840"/>
            <a:ext cx="1088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External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Systems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983480" y="3529584"/>
            <a:ext cx="365760" cy="310896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5349240" y="3566160"/>
            <a:ext cx="1920240" cy="548640"/>
          </a:xfrm>
          <a:prstGeom prst="roundRect">
            <a:avLst>
              <a:gd name="adj" fmla="val 8333"/>
            </a:avLst>
          </a:prstGeom>
          <a:solidFill>
            <a:srgbClr val="0B4C8C"/>
          </a:solidFill>
          <a:ln/>
        </p:spPr>
      </p:sp>
      <p:sp>
        <p:nvSpPr>
          <p:cNvPr id="37" name="Text 35"/>
          <p:cNvSpPr/>
          <p:nvPr/>
        </p:nvSpPr>
        <p:spPr>
          <a:xfrm>
            <a:off x="5404104" y="356616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Passthrough Processor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269480" y="3840480"/>
            <a:ext cx="320040" cy="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7589520" y="3566160"/>
            <a:ext cx="2286000" cy="548640"/>
          </a:xfrm>
          <a:prstGeom prst="roundRect">
            <a:avLst>
              <a:gd name="adj" fmla="val 8333"/>
            </a:avLst>
          </a:prstGeom>
          <a:solidFill>
            <a:srgbClr val="2E7D57"/>
          </a:solidFill>
          <a:ln/>
        </p:spPr>
      </p:sp>
      <p:sp>
        <p:nvSpPr>
          <p:cNvPr id="40" name="Text 38"/>
          <p:cNvSpPr/>
          <p:nvPr/>
        </p:nvSpPr>
        <p:spPr>
          <a:xfrm>
            <a:off x="7644384" y="3566160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外部システム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66928" y="4169664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青 = Azure サービス ／ 緑 = 外部システム（原図を簡略化して作図）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66928" y="4443984"/>
            <a:ext cx="3502152" cy="749808"/>
          </a:xfrm>
          <a:prstGeom prst="roundRect">
            <a:avLst>
              <a:gd name="adj" fmla="val 7317"/>
            </a:avLst>
          </a:prstGeom>
          <a:solidFill>
            <a:srgbClr val="F4F9FE"/>
          </a:solidFill>
          <a:ln w="15875">
            <a:solidFill>
              <a:srgbClr val="1470C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66928" y="4443984"/>
            <a:ext cx="82296" cy="749808"/>
          </a:xfrm>
          <a:prstGeom prst="rect">
            <a:avLst/>
          </a:prstGeom>
          <a:solidFill>
            <a:srgbClr val="1470C4"/>
          </a:solidFill>
          <a:ln/>
        </p:spPr>
      </p:sp>
      <p:sp>
        <p:nvSpPr>
          <p:cNvPr id="44" name="Text 42"/>
          <p:cNvSpPr/>
          <p:nvPr/>
        </p:nvSpPr>
        <p:spPr>
          <a:xfrm>
            <a:off x="768096" y="4489704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接続先の分離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68096" y="4745736"/>
            <a:ext cx="3191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ブランド・拠点など、どの単位で接続先と運用を分けるか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343400" y="4443984"/>
            <a:ext cx="3502152" cy="749808"/>
          </a:xfrm>
          <a:prstGeom prst="roundRect">
            <a:avLst>
              <a:gd name="adj" fmla="val 7317"/>
            </a:avLst>
          </a:prstGeom>
          <a:solidFill>
            <a:srgbClr val="F4F9FE"/>
          </a:solidFill>
          <a:ln w="15875">
            <a:solidFill>
              <a:srgbClr val="1470C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343400" y="4443984"/>
            <a:ext cx="82296" cy="749808"/>
          </a:xfrm>
          <a:prstGeom prst="rect">
            <a:avLst/>
          </a:prstGeom>
          <a:solidFill>
            <a:srgbClr val="1470C4"/>
          </a:solidFill>
          <a:ln/>
        </p:spPr>
      </p:sp>
      <p:sp>
        <p:nvSpPr>
          <p:cNvPr id="48" name="Text 46"/>
          <p:cNvSpPr/>
          <p:nvPr/>
        </p:nvSpPr>
        <p:spPr>
          <a:xfrm>
            <a:off x="4544568" y="4489704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優先度別の処理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544568" y="4745736"/>
            <a:ext cx="3191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急ぐ経路と通常経路を分け、混雑時の処理時間をどう守るか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8119872" y="4443984"/>
            <a:ext cx="3502152" cy="749808"/>
          </a:xfrm>
          <a:prstGeom prst="roundRect">
            <a:avLst>
              <a:gd name="adj" fmla="val 7317"/>
            </a:avLst>
          </a:prstGeom>
          <a:solidFill>
            <a:srgbClr val="F4F9FE"/>
          </a:solidFill>
          <a:ln w="15875">
            <a:solidFill>
              <a:srgbClr val="1470C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119872" y="4443984"/>
            <a:ext cx="82296" cy="749808"/>
          </a:xfrm>
          <a:prstGeom prst="rect">
            <a:avLst/>
          </a:prstGeom>
          <a:solidFill>
            <a:srgbClr val="1470C4"/>
          </a:solidFill>
          <a:ln/>
        </p:spPr>
      </p:sp>
      <p:sp>
        <p:nvSpPr>
          <p:cNvPr id="52" name="Text 50"/>
          <p:cNvSpPr/>
          <p:nvPr/>
        </p:nvSpPr>
        <p:spPr>
          <a:xfrm>
            <a:off x="8321040" y="4489704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責任分界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8321040" y="4745736"/>
            <a:ext cx="3191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どこまで到達で業務完了とし、誰が再処理・復旧を担うか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566928" y="5321808"/>
            <a:ext cx="11055096" cy="566928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55" name="Shape 53"/>
          <p:cNvSpPr/>
          <p:nvPr/>
        </p:nvSpPr>
        <p:spPr>
          <a:xfrm>
            <a:off x="566928" y="5321808"/>
            <a:ext cx="82296" cy="566928"/>
          </a:xfrm>
          <a:prstGeom prst="rect">
            <a:avLst/>
          </a:prstGeom>
          <a:solidFill>
            <a:srgbClr val="4FA3E3"/>
          </a:solidFill>
          <a:ln/>
        </p:spPr>
      </p:sp>
      <p:sp>
        <p:nvSpPr>
          <p:cNvPr id="56" name="Text 54"/>
          <p:cNvSpPr/>
          <p:nvPr/>
        </p:nvSpPr>
        <p:spPr>
          <a:xfrm>
            <a:off x="786384" y="5321808"/>
            <a:ext cx="10689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図だけでは、認証・ネットワーク・冗長化・再試行・重複対策・監視の実装状況は判断できない。事例構成であり共通の必須構成ではない。</a:t>
            </a:r>
            <a:endParaRPr lang="en-US" sz="1250" dirty="0"/>
          </a:p>
        </p:txBody>
      </p:sp>
      <p:sp>
        <p:nvSpPr>
          <p:cNvPr id="57" name="Text 55"/>
          <p:cNvSpPr/>
          <p:nvPr/>
        </p:nvSpPr>
        <p:spPr>
          <a:xfrm>
            <a:off x="566928" y="603504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参考: 社内事例「IoT Readiness Refresher 2025 - Day 01」スライド11 を基に簡略化して作図（固有名詞は匿名化）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6E1E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第7章  非機能要件と本番化 — 優先度・DPS・監視・本番判定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1073384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solidFill>
            <a:srgbClr val="0B4C8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16736" y="42062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A3E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本番移行判定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16736" y="621792"/>
            <a:ext cx="10232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本番移行判定チェックリスト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55096" cy="0"/>
          </a:xfrm>
          <a:prstGeom prst="line">
            <a:avLst/>
          </a:prstGeom>
          <a:noFill/>
          <a:ln w="15875">
            <a:solidFill>
              <a:srgbClr val="D6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8132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必須項目が未定義なら、機能デモが成功していても本番移行のリスクは高い。</a:t>
            </a:r>
            <a:endParaRPr lang="en-US" sz="1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28800"/>
          <a:ext cx="11055096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9683496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重要度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本番移行前の確認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必須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脅威モデルとデータ分類をレビューした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必須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デバイス固有 ID、資格情報の更新・失効、交換・廃棄の手順と責任者を決めた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必須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配送先の主体・権限・対象範囲・ネットワーク方式を承認済み構成で検証した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必須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エンドツーエンドの SLO・RTO・RPO と、再送・重複の扱いを合意した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推奨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0C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平常時・ピーク・登録/再接続集中を含む容量試験を実施した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推奨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0C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DPS・IoT Hub・配送先・業務処理の監視・アラート・Runbook を動作確認した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推奨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0C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月額予算・データ/ログ保持・コストアラートを設定した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発展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A3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Hub 分割・リージョン障害・復旧/フェールオーバーを演習した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66928" y="5532120"/>
            <a:ext cx="11055096" cy="566928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5532120"/>
            <a:ext cx="82296" cy="566928"/>
          </a:xfrm>
          <a:prstGeom prst="rect">
            <a:avLst/>
          </a:prstGeom>
          <a:solidFill>
            <a:srgbClr val="4FA3E3"/>
          </a:solidFill>
          <a:ln/>
        </p:spPr>
      </p:sp>
      <p:sp>
        <p:nvSpPr>
          <p:cNvPr id="11" name="Text 8"/>
          <p:cNvSpPr/>
          <p:nvPr/>
        </p:nvSpPr>
        <p:spPr>
          <a:xfrm>
            <a:off x="786384" y="5532120"/>
            <a:ext cx="10689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確認: 目標値は測れるか。失敗時に誰が判断するか。実際の制約下で復旧まで試したか。次章で全体像と使い分けを振り返る。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6E1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第7章  非機能要件と本番化 — 優先度・DPS・監視・本番判定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073384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第7章 非機能要件と本番化ベストプラクティス</dc:title>
  <dc:subject>PptxGenJS Presentation</dc:subject>
  <dc:creator>Azure IoT Workshop</dc:creator>
  <cp:lastModifiedBy>Azure IoT Workshop</cp:lastModifiedBy>
  <cp:revision>1</cp:revision>
  <dcterms:created xsi:type="dcterms:W3CDTF">2026-09-10T13:36:24Z</dcterms:created>
  <dcterms:modified xsi:type="dcterms:W3CDTF">2026-09-10T13:36:24Z</dcterms:modified>
</cp:coreProperties>
</file>