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0" r:id="rId2"/>
  </p:sldMasterIdLst>
  <p:notesMasterIdLst>
    <p:notesMasterId r:id="rId18"/>
  </p:notesMasterIdLst>
  <p:sldIdLst>
    <p:sldId id="2147482908" r:id="rId3"/>
    <p:sldId id="2147482959" r:id="rId4"/>
    <p:sldId id="2147482960" r:id="rId5"/>
    <p:sldId id="2147482961" r:id="rId6"/>
    <p:sldId id="2147482962" r:id="rId7"/>
    <p:sldId id="2147482963" r:id="rId8"/>
    <p:sldId id="2147482964" r:id="rId9"/>
    <p:sldId id="2147482965" r:id="rId10"/>
    <p:sldId id="2147482966" r:id="rId11"/>
    <p:sldId id="2147482967" r:id="rId12"/>
    <p:sldId id="2147482968" r:id="rId13"/>
    <p:sldId id="267" r:id="rId14"/>
    <p:sldId id="2147482969" r:id="rId15"/>
    <p:sldId id="2147482970" r:id="rId16"/>
    <p:sldId id="21474829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471CBF-B015-472C-A887-5A287BACCE8E}" v="1" dt="2026-09-08T05:55:44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9" autoAdjust="0"/>
    <p:restoredTop sz="94660"/>
  </p:normalViewPr>
  <p:slideViewPr>
    <p:cSldViewPr snapToGrid="0">
      <p:cViewPr varScale="1">
        <p:scale>
          <a:sx n="71" d="100"/>
          <a:sy n="71" d="100"/>
        </p:scale>
        <p:origin x="29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ki Ishizuka" userId="ad584fa7-de02-49c0-afb1-75ef4741d383" providerId="ADAL" clId="{8FABC268-EAEE-48FF-8733-0F146F47FC6B}"/>
    <pc:docChg chg="addSld modSld">
      <pc:chgData name="Koki Ishizuka" userId="ad584fa7-de02-49c0-afb1-75ef4741d383" providerId="ADAL" clId="{8FABC268-EAEE-48FF-8733-0F146F47FC6B}" dt="2026-09-08T05:55:44.648" v="0"/>
      <pc:docMkLst>
        <pc:docMk/>
      </pc:docMkLst>
      <pc:sldChg chg="add">
        <pc:chgData name="Koki Ishizuka" userId="ad584fa7-de02-49c0-afb1-75ef4741d383" providerId="ADAL" clId="{8FABC268-EAEE-48FF-8733-0F146F47FC6B}" dt="2026-09-08T05:55:44.648" v="0"/>
        <pc:sldMkLst>
          <pc:docMk/>
          <pc:sldMk cId="0" sldId="267"/>
        </pc:sldMkLst>
      </pc:sldChg>
      <pc:sldChg chg="add">
        <pc:chgData name="Koki Ishizuka" userId="ad584fa7-de02-49c0-afb1-75ef4741d383" providerId="ADAL" clId="{8FABC268-EAEE-48FF-8733-0F146F47FC6B}" dt="2026-09-08T05:55:44.648" v="0"/>
        <pc:sldMkLst>
          <pc:docMk/>
          <pc:sldMk cId="4046210303" sldId="2147482908"/>
        </pc:sldMkLst>
      </pc:sldChg>
      <pc:sldChg chg="add">
        <pc:chgData name="Koki Ishizuka" userId="ad584fa7-de02-49c0-afb1-75ef4741d383" providerId="ADAL" clId="{8FABC268-EAEE-48FF-8733-0F146F47FC6B}" dt="2026-09-08T05:55:44.648" v="0"/>
        <pc:sldMkLst>
          <pc:docMk/>
          <pc:sldMk cId="0" sldId="2147482959"/>
        </pc:sldMkLst>
      </pc:sldChg>
      <pc:sldChg chg="add">
        <pc:chgData name="Koki Ishizuka" userId="ad584fa7-de02-49c0-afb1-75ef4741d383" providerId="ADAL" clId="{8FABC268-EAEE-48FF-8733-0F146F47FC6B}" dt="2026-09-08T05:55:44.648" v="0"/>
        <pc:sldMkLst>
          <pc:docMk/>
          <pc:sldMk cId="0" sldId="2147482960"/>
        </pc:sldMkLst>
      </pc:sldChg>
      <pc:sldChg chg="add">
        <pc:chgData name="Koki Ishizuka" userId="ad584fa7-de02-49c0-afb1-75ef4741d383" providerId="ADAL" clId="{8FABC268-EAEE-48FF-8733-0F146F47FC6B}" dt="2026-09-08T05:55:44.648" v="0"/>
        <pc:sldMkLst>
          <pc:docMk/>
          <pc:sldMk cId="0" sldId="2147482961"/>
        </pc:sldMkLst>
      </pc:sldChg>
      <pc:sldChg chg="add">
        <pc:chgData name="Koki Ishizuka" userId="ad584fa7-de02-49c0-afb1-75ef4741d383" providerId="ADAL" clId="{8FABC268-EAEE-48FF-8733-0F146F47FC6B}" dt="2026-09-08T05:55:44.648" v="0"/>
        <pc:sldMkLst>
          <pc:docMk/>
          <pc:sldMk cId="0" sldId="2147482962"/>
        </pc:sldMkLst>
      </pc:sldChg>
      <pc:sldChg chg="add">
        <pc:chgData name="Koki Ishizuka" userId="ad584fa7-de02-49c0-afb1-75ef4741d383" providerId="ADAL" clId="{8FABC268-EAEE-48FF-8733-0F146F47FC6B}" dt="2026-09-08T05:55:44.648" v="0"/>
        <pc:sldMkLst>
          <pc:docMk/>
          <pc:sldMk cId="0" sldId="2147482963"/>
        </pc:sldMkLst>
      </pc:sldChg>
      <pc:sldChg chg="add">
        <pc:chgData name="Koki Ishizuka" userId="ad584fa7-de02-49c0-afb1-75ef4741d383" providerId="ADAL" clId="{8FABC268-EAEE-48FF-8733-0F146F47FC6B}" dt="2026-09-08T05:55:44.648" v="0"/>
        <pc:sldMkLst>
          <pc:docMk/>
          <pc:sldMk cId="0" sldId="2147482964"/>
        </pc:sldMkLst>
      </pc:sldChg>
      <pc:sldChg chg="add">
        <pc:chgData name="Koki Ishizuka" userId="ad584fa7-de02-49c0-afb1-75ef4741d383" providerId="ADAL" clId="{8FABC268-EAEE-48FF-8733-0F146F47FC6B}" dt="2026-09-08T05:55:44.648" v="0"/>
        <pc:sldMkLst>
          <pc:docMk/>
          <pc:sldMk cId="0" sldId="2147482965"/>
        </pc:sldMkLst>
      </pc:sldChg>
      <pc:sldChg chg="add">
        <pc:chgData name="Koki Ishizuka" userId="ad584fa7-de02-49c0-afb1-75ef4741d383" providerId="ADAL" clId="{8FABC268-EAEE-48FF-8733-0F146F47FC6B}" dt="2026-09-08T05:55:44.648" v="0"/>
        <pc:sldMkLst>
          <pc:docMk/>
          <pc:sldMk cId="0" sldId="2147482966"/>
        </pc:sldMkLst>
      </pc:sldChg>
      <pc:sldChg chg="add">
        <pc:chgData name="Koki Ishizuka" userId="ad584fa7-de02-49c0-afb1-75ef4741d383" providerId="ADAL" clId="{8FABC268-EAEE-48FF-8733-0F146F47FC6B}" dt="2026-09-08T05:55:44.648" v="0"/>
        <pc:sldMkLst>
          <pc:docMk/>
          <pc:sldMk cId="0" sldId="2147482967"/>
        </pc:sldMkLst>
      </pc:sldChg>
      <pc:sldChg chg="add">
        <pc:chgData name="Koki Ishizuka" userId="ad584fa7-de02-49c0-afb1-75ef4741d383" providerId="ADAL" clId="{8FABC268-EAEE-48FF-8733-0F146F47FC6B}" dt="2026-09-08T05:55:44.648" v="0"/>
        <pc:sldMkLst>
          <pc:docMk/>
          <pc:sldMk cId="0" sldId="2147482968"/>
        </pc:sldMkLst>
      </pc:sldChg>
      <pc:sldChg chg="add">
        <pc:chgData name="Koki Ishizuka" userId="ad584fa7-de02-49c0-afb1-75ef4741d383" providerId="ADAL" clId="{8FABC268-EAEE-48FF-8733-0F146F47FC6B}" dt="2026-09-08T05:55:44.648" v="0"/>
        <pc:sldMkLst>
          <pc:docMk/>
          <pc:sldMk cId="0" sldId="2147482969"/>
        </pc:sldMkLst>
      </pc:sldChg>
      <pc:sldChg chg="add">
        <pc:chgData name="Koki Ishizuka" userId="ad584fa7-de02-49c0-afb1-75ef4741d383" providerId="ADAL" clId="{8FABC268-EAEE-48FF-8733-0F146F47FC6B}" dt="2026-09-08T05:55:44.648" v="0"/>
        <pc:sldMkLst>
          <pc:docMk/>
          <pc:sldMk cId="0" sldId="2147482970"/>
        </pc:sldMkLst>
      </pc:sldChg>
      <pc:sldChg chg="add">
        <pc:chgData name="Koki Ishizuka" userId="ad584fa7-de02-49c0-afb1-75ef4741d383" providerId="ADAL" clId="{8FABC268-EAEE-48FF-8733-0F146F47FC6B}" dt="2026-09-08T05:55:44.648" v="0"/>
        <pc:sldMkLst>
          <pc:docMk/>
          <pc:sldMk cId="0" sldId="21474829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8B12CE-51AA-444A-B069-8A62B7B4D946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B9661-DB4E-4668-8338-52F158F69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2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添付メモ (resource-creation.md)</a:t>
            </a:r>
          </a:p>
          <a:p>
            <a:r>
              <a:t>- デザインは前回作成の Microsoft ブランド テンプレート準拠デッキと同一仕様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添付メモ (resource-creation.md)</a:t>
            </a:r>
          </a:p>
          <a:p>
            <a:r>
              <a:t>- デザインは前回作成の Microsoft ブランド テンプレート準拠デッキと同一仕様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添付メモ (resource-creation.md)</a:t>
            </a:r>
          </a:p>
          <a:p>
            <a:r>
              <a:t>- デザインは前回作成の Microsoft ブランド テンプレート準拠デッキと同一仕様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添付メモ (resource-creation.md)</a:t>
            </a:r>
          </a:p>
          <a:p>
            <a:r>
              <a:t>- デザインは前回作成の Microsoft ブランド テンプレート準拠デッキと同一仕様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添付メモ (resource-creation.md)</a:t>
            </a:r>
          </a:p>
          <a:p>
            <a:r>
              <a:t>- デザインは前回作成の Microsoft ブランド テンプレート準拠デッキと同一仕様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添付メモ (resource-creation.md)</a:t>
            </a:r>
          </a:p>
          <a:p>
            <a:r>
              <a:t>- デザインは前回作成の Microsoft ブランド テンプレート準拠デッキと同一仕様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添付メモ (resource-creation.md)</a:t>
            </a:r>
          </a:p>
          <a:p>
            <a:r>
              <a:t>- デザインは前回作成の Microsoft ブランド テンプレート準拠デッキと同一仕様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添付メモ (resource-creation.md)</a:t>
            </a:r>
          </a:p>
          <a:p>
            <a:r>
              <a:t>- デザインは前回作成の Microsoft ブランド テンプレート準拠デッキと同一仕様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添付メモ (resource-creation.md)</a:t>
            </a:r>
          </a:p>
          <a:p>
            <a:r>
              <a:t>- デザインは前回作成の Microsoft ブランド テンプレート準拠デッキと同一仕様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添付メモ (resource-creation.md)</a:t>
            </a:r>
          </a:p>
          <a:p>
            <a:r>
              <a:t>- デザインは前回作成の Microsoft ブランド テンプレート準拠デッキと同一仕様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添付メモ (resource-creation.md)</a:t>
            </a:r>
          </a:p>
          <a:p>
            <a:r>
              <a:t>- デザインは前回作成の Microsoft ブランド テンプレート準拠デッキと同一仕様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添付メモ (resource-creation.md)</a:t>
            </a:r>
          </a:p>
          <a:p>
            <a:r>
              <a:t>- デザインは前回作成の Microsoft ブランド テンプレート準拠デッキと同一仕様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添付メモ (resource-creation.md)</a:t>
            </a:r>
          </a:p>
          <a:p>
            <a:r>
              <a:t>- デザインは前回作成の Microsoft ブランド テンプレート準拠デッキと同一仕様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添付メモ (resource-creation.md)</a:t>
            </a:r>
          </a:p>
          <a:p>
            <a:r>
              <a:t>- デザインは前回作成の Microsoft ブランド テンプレート準拠デッキと同一仕様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S logo white - EMF" descr="Microsoft logo white text version">
            <a:extLst>
              <a:ext uri="{FF2B5EF4-FFF2-40B4-BE49-F238E27FC236}">
                <a16:creationId xmlns:a16="http://schemas.microsoft.com/office/drawing/2014/main" id="{F7CD6B1F-AE52-08A4-59DD-ADA3920FE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B4BC62-442D-D07F-D062-B23F459AF590}"/>
              </a:ext>
            </a:extLst>
          </p:cNvPr>
          <p:cNvSpPr txBox="1"/>
          <p:nvPr userDrawn="1"/>
        </p:nvSpPr>
        <p:spPr>
          <a:xfrm>
            <a:off x="584200" y="2841172"/>
            <a:ext cx="3790950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400" b="0" dirty="0">
                <a:solidFill>
                  <a:schemeClr val="bg1"/>
                </a:solidFill>
                <a:latin typeface="Yu Gothic UI" panose="020B0500000000000000" pitchFamily="34" charset="-128"/>
              </a:rPr>
              <a:t>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7211580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lkin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B4BC62-442D-D07F-D062-B23F459AF590}"/>
              </a:ext>
            </a:extLst>
          </p:cNvPr>
          <p:cNvSpPr txBox="1"/>
          <p:nvPr userDrawn="1"/>
        </p:nvSpPr>
        <p:spPr>
          <a:xfrm>
            <a:off x="584200" y="2841172"/>
            <a:ext cx="3790950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400" b="0" dirty="0">
                <a:solidFill>
                  <a:schemeClr val="tx1"/>
                </a:solidFill>
                <a:latin typeface="Yu Gothic UI" panose="020B0500000000000000" pitchFamily="34" charset="-128"/>
              </a:rPr>
              <a:t>Microsoft Azure</a:t>
            </a:r>
          </a:p>
        </p:txBody>
      </p:sp>
      <p:pic>
        <p:nvPicPr>
          <p:cNvPr id="5" name="MS logo gray - EMF" descr="Microsoft logo, gray text version">
            <a:extLst>
              <a:ext uri="{FF2B5EF4-FFF2-40B4-BE49-F238E27FC236}">
                <a16:creationId xmlns:a16="http://schemas.microsoft.com/office/drawing/2014/main" id="{8672AF12-6140-9E72-C268-A8ED4080CA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2093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255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90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0BB37EE3-73AC-5546-F43B-FE5420C7D0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49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bg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bg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0BB37EE3-73AC-5546-F43B-FE5420C7D0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11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BBFAAA10-F521-410E-1BB5-6D77902DD0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26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BBFAAA10-F521-410E-1BB5-6D77902DD0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38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048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3"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342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2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228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518" y="240086"/>
            <a:ext cx="11018520" cy="553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518" y="939983"/>
            <a:ext cx="11018838" cy="161274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>
              <a:defRPr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>
              <a:defRPr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>
              <a:defRPr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  <a:latin typeface="Yu Gothic UI" panose="020B0500000000000000" pitchFamily="34" charset="-128"/>
              </a:rPr>
              <a:t>ELT layout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77CAB8-A073-AB6D-C504-22E1D1E3D82B}"/>
              </a:ext>
            </a:extLst>
          </p:cNvPr>
          <p:cNvCxnSpPr/>
          <p:nvPr userDrawn="1"/>
        </p:nvCxnSpPr>
        <p:spPr>
          <a:xfrm>
            <a:off x="584518" y="794084"/>
            <a:ext cx="11018520" cy="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D318CE-72EC-83B7-6937-85209655913B}"/>
              </a:ext>
            </a:extLst>
          </p:cNvPr>
          <p:cNvSpPr txBox="1"/>
          <p:nvPr userDrawn="1"/>
        </p:nvSpPr>
        <p:spPr>
          <a:xfrm>
            <a:off x="11603038" y="6464025"/>
            <a:ext cx="44282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EC0794C1-EF0D-4FC1-8DED-114D42516E02}" type="slidenum">
              <a:rPr lang="en-US" sz="2000" smtClean="0">
                <a:latin typeface="Yu Gothic UI" panose="020B0500000000000000" pitchFamily="34" charset="-128"/>
              </a:rPr>
              <a:pPr algn="r"/>
              <a:t>‹#›</a:t>
            </a:fld>
            <a:endParaRPr lang="en-US" sz="2000" dirty="0" err="1">
              <a:latin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25267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2061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1536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1"/>
            <a:ext cx="3182027" cy="553998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430887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  <a:latin typeface="Yu Gothic UI" panose="020B0500000000000000" pitchFamily="34" charset="-128"/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676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Yu Gothic UI" panose="020B0500000000000000" pitchFamily="34" charset="-128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589624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Yu Gothic UI" panose="020B0500000000000000" pitchFamily="34" charset="-128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833659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solidFill>
                  <a:schemeClr val="bg1"/>
                </a:solidFill>
                <a:latin typeface="Yu Gothic UI" panose="020B0500000000000000" pitchFamily="34" charset="-128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56171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solidFill>
                  <a:schemeClr val="bg1"/>
                </a:solidFill>
                <a:latin typeface="Yu Gothic UI" panose="020B0500000000000000" pitchFamily="34" charset="-128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02455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solidFill>
                  <a:schemeClr val="bg1"/>
                </a:solidFill>
                <a:latin typeface="Yu Gothic UI" panose="020B0500000000000000" pitchFamily="34" charset="-128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0359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Yu Gothic UI" panose="020B0500000000000000" pitchFamily="34" charset="-128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23949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Yu Gothic UI" panose="020B0500000000000000" pitchFamily="34" charset="-128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66027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Yu Gothic UI" panose="020B0500000000000000" pitchFamily="34" charset="-128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809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Yu Gothic UI" panose="020B0500000000000000" pitchFamily="34" charset="-128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50492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Yu Gothic UI" panose="020B0500000000000000" pitchFamily="34" charset="-128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75475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Yu Gothic UI" panose="020B0500000000000000" pitchFamily="34" charset="-128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27487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0D155-47E8-D819-5FA4-74860757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5022EE65-FBB2-C961-B89F-9DADBDB2DB3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27263" y="2199576"/>
            <a:ext cx="3760470" cy="376047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effectLst>
            <a:outerShdw blurRad="215900" dist="190500" dir="2700000" sx="101000" sy="101000" algn="ctr" rotWithShape="0">
              <a:srgbClr val="000000">
                <a:alpha val="23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>
            <a:lvl1pPr marL="228600" indent="-228600" algn="ctr">
              <a:buNone/>
              <a:defRPr lang="en-US" sz="1800" b="1">
                <a:solidFill>
                  <a:schemeClr val="tx1"/>
                </a:solidFill>
                <a:latin typeface="Yu Gothic UI" panose="020B0500000000000000" pitchFamily="34" charset="-128"/>
              </a:defRPr>
            </a:lvl1pPr>
          </a:lstStyle>
          <a:p>
            <a:pPr marL="228600" lvl="0" indent="-228600" algn="ctr"/>
            <a:r>
              <a:rPr lang="en-US" dirty="0"/>
              <a:t>Click to insert photo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B878651-6EA0-F1DE-DDB3-D4C07A4E59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45931" y="3206751"/>
            <a:ext cx="2706480" cy="147732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Yu Gothic UI" panose="020B0500000000000000" pitchFamily="34" charset="-128"/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A3F807-DEFB-6026-D7BD-82284EB7FB76}"/>
              </a:ext>
            </a:extLst>
          </p:cNvPr>
          <p:cNvSpPr/>
          <p:nvPr/>
        </p:nvSpPr>
        <p:spPr>
          <a:xfrm>
            <a:off x="552732" y="2199576"/>
            <a:ext cx="693200" cy="604267"/>
          </a:xfrm>
          <a:custGeom>
            <a:avLst/>
            <a:gdLst>
              <a:gd name="connsiteX0" fmla="*/ 393237 w 674431"/>
              <a:gd name="connsiteY0" fmla="*/ 0 h 587906"/>
              <a:gd name="connsiteX1" fmla="*/ 616089 w 674431"/>
              <a:gd name="connsiteY1" fmla="*/ 0 h 587906"/>
              <a:gd name="connsiteX2" fmla="*/ 616151 w 674431"/>
              <a:gd name="connsiteY2" fmla="*/ 0 h 587906"/>
              <a:gd name="connsiteX3" fmla="*/ 674431 w 674431"/>
              <a:gd name="connsiteY3" fmla="*/ 58280 h 587906"/>
              <a:gd name="connsiteX4" fmla="*/ 674431 w 674431"/>
              <a:gd name="connsiteY4" fmla="*/ 221738 h 587906"/>
              <a:gd name="connsiteX5" fmla="*/ 597219 w 674431"/>
              <a:gd name="connsiteY5" fmla="*/ 471750 h 587906"/>
              <a:gd name="connsiteX6" fmla="*/ 393361 w 674431"/>
              <a:gd name="connsiteY6" fmla="*/ 587630 h 587906"/>
              <a:gd name="connsiteX7" fmla="*/ 380245 w 674431"/>
              <a:gd name="connsiteY7" fmla="*/ 577174 h 587906"/>
              <a:gd name="connsiteX8" fmla="*/ 380245 w 674431"/>
              <a:gd name="connsiteY8" fmla="*/ 489011 h 587906"/>
              <a:gd name="connsiteX9" fmla="*/ 387484 w 674431"/>
              <a:gd name="connsiteY9" fmla="*/ 478865 h 587906"/>
              <a:gd name="connsiteX10" fmla="*/ 523100 w 674431"/>
              <a:gd name="connsiteY10" fmla="*/ 363541 h 587906"/>
              <a:gd name="connsiteX11" fmla="*/ 540423 w 674431"/>
              <a:gd name="connsiteY11" fmla="*/ 283112 h 587906"/>
              <a:gd name="connsiteX12" fmla="*/ 533308 w 674431"/>
              <a:gd name="connsiteY12" fmla="*/ 276306 h 587906"/>
              <a:gd name="connsiteX13" fmla="*/ 393361 w 674431"/>
              <a:gd name="connsiteY13" fmla="*/ 276306 h 587906"/>
              <a:gd name="connsiteX14" fmla="*/ 374986 w 674431"/>
              <a:gd name="connsiteY14" fmla="*/ 257931 h 587906"/>
              <a:gd name="connsiteX15" fmla="*/ 374986 w 674431"/>
              <a:gd name="connsiteY15" fmla="*/ 18251 h 587906"/>
              <a:gd name="connsiteX16" fmla="*/ 393237 w 674431"/>
              <a:gd name="connsiteY16" fmla="*/ 0 h 587906"/>
              <a:gd name="connsiteX17" fmla="*/ 58466 w 674431"/>
              <a:gd name="connsiteY17" fmla="*/ 0 h 587906"/>
              <a:gd name="connsiteX18" fmla="*/ 281070 w 674431"/>
              <a:gd name="connsiteY18" fmla="*/ 0 h 587906"/>
              <a:gd name="connsiteX19" fmla="*/ 299445 w 674431"/>
              <a:gd name="connsiteY19" fmla="*/ 18375 h 587906"/>
              <a:gd name="connsiteX20" fmla="*/ 299445 w 674431"/>
              <a:gd name="connsiteY20" fmla="*/ 221738 h 587906"/>
              <a:gd name="connsiteX21" fmla="*/ 222233 w 674431"/>
              <a:gd name="connsiteY21" fmla="*/ 471750 h 587906"/>
              <a:gd name="connsiteX22" fmla="*/ 18375 w 674431"/>
              <a:gd name="connsiteY22" fmla="*/ 587630 h 587906"/>
              <a:gd name="connsiteX23" fmla="*/ 5259 w 674431"/>
              <a:gd name="connsiteY23" fmla="*/ 577174 h 587906"/>
              <a:gd name="connsiteX24" fmla="*/ 5259 w 674431"/>
              <a:gd name="connsiteY24" fmla="*/ 489011 h 587906"/>
              <a:gd name="connsiteX25" fmla="*/ 12497 w 674431"/>
              <a:gd name="connsiteY25" fmla="*/ 478865 h 587906"/>
              <a:gd name="connsiteX26" fmla="*/ 148114 w 674431"/>
              <a:gd name="connsiteY26" fmla="*/ 363541 h 587906"/>
              <a:gd name="connsiteX27" fmla="*/ 165437 w 674431"/>
              <a:gd name="connsiteY27" fmla="*/ 283112 h 587906"/>
              <a:gd name="connsiteX28" fmla="*/ 158322 w 674431"/>
              <a:gd name="connsiteY28" fmla="*/ 276306 h 587906"/>
              <a:gd name="connsiteX29" fmla="*/ 18375 w 674431"/>
              <a:gd name="connsiteY29" fmla="*/ 276306 h 587906"/>
              <a:gd name="connsiteX30" fmla="*/ 0 w 674431"/>
              <a:gd name="connsiteY30" fmla="*/ 257931 h 587906"/>
              <a:gd name="connsiteX31" fmla="*/ 0 w 674431"/>
              <a:gd name="connsiteY31" fmla="*/ 58466 h 587906"/>
              <a:gd name="connsiteX32" fmla="*/ 58466 w 674431"/>
              <a:gd name="connsiteY32" fmla="*/ 0 h 587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74431" h="587906">
                <a:moveTo>
                  <a:pt x="393237" y="0"/>
                </a:moveTo>
                <a:lnTo>
                  <a:pt x="616089" y="0"/>
                </a:lnTo>
                <a:lnTo>
                  <a:pt x="616151" y="0"/>
                </a:lnTo>
                <a:cubicBezTo>
                  <a:pt x="648322" y="0"/>
                  <a:pt x="674431" y="26109"/>
                  <a:pt x="674431" y="58280"/>
                </a:cubicBezTo>
                <a:lnTo>
                  <a:pt x="674431" y="221738"/>
                </a:lnTo>
                <a:cubicBezTo>
                  <a:pt x="674431" y="328152"/>
                  <a:pt x="648694" y="411490"/>
                  <a:pt x="597219" y="471750"/>
                </a:cubicBezTo>
                <a:cubicBezTo>
                  <a:pt x="548157" y="529102"/>
                  <a:pt x="480225" y="567770"/>
                  <a:pt x="393361" y="587630"/>
                </a:cubicBezTo>
                <a:cubicBezTo>
                  <a:pt x="386679" y="589177"/>
                  <a:pt x="380245" y="584042"/>
                  <a:pt x="380245" y="577174"/>
                </a:cubicBezTo>
                <a:lnTo>
                  <a:pt x="380245" y="489011"/>
                </a:lnTo>
                <a:cubicBezTo>
                  <a:pt x="380245" y="484433"/>
                  <a:pt x="383153" y="480288"/>
                  <a:pt x="387484" y="478865"/>
                </a:cubicBezTo>
                <a:cubicBezTo>
                  <a:pt x="454240" y="456778"/>
                  <a:pt x="499466" y="418295"/>
                  <a:pt x="523100" y="363541"/>
                </a:cubicBezTo>
                <a:cubicBezTo>
                  <a:pt x="535969" y="335824"/>
                  <a:pt x="541784" y="309035"/>
                  <a:pt x="540423" y="283112"/>
                </a:cubicBezTo>
                <a:cubicBezTo>
                  <a:pt x="540238" y="279276"/>
                  <a:pt x="537082" y="276306"/>
                  <a:pt x="533308" y="276306"/>
                </a:cubicBezTo>
                <a:lnTo>
                  <a:pt x="393361" y="276306"/>
                </a:lnTo>
                <a:cubicBezTo>
                  <a:pt x="383215" y="276306"/>
                  <a:pt x="374986" y="268078"/>
                  <a:pt x="374986" y="257931"/>
                </a:cubicBezTo>
                <a:lnTo>
                  <a:pt x="374986" y="18251"/>
                </a:lnTo>
                <a:cubicBezTo>
                  <a:pt x="374986" y="8167"/>
                  <a:pt x="383153" y="0"/>
                  <a:pt x="393237" y="0"/>
                </a:cubicBezTo>
                <a:close/>
                <a:moveTo>
                  <a:pt x="58466" y="0"/>
                </a:moveTo>
                <a:lnTo>
                  <a:pt x="281070" y="0"/>
                </a:lnTo>
                <a:cubicBezTo>
                  <a:pt x="291216" y="0"/>
                  <a:pt x="299445" y="8229"/>
                  <a:pt x="299445" y="18375"/>
                </a:cubicBezTo>
                <a:lnTo>
                  <a:pt x="299445" y="221738"/>
                </a:lnTo>
                <a:cubicBezTo>
                  <a:pt x="299445" y="328152"/>
                  <a:pt x="273708" y="411490"/>
                  <a:pt x="222233" y="471750"/>
                </a:cubicBezTo>
                <a:cubicBezTo>
                  <a:pt x="173171" y="529102"/>
                  <a:pt x="105239" y="567770"/>
                  <a:pt x="18375" y="587630"/>
                </a:cubicBezTo>
                <a:cubicBezTo>
                  <a:pt x="11631" y="589177"/>
                  <a:pt x="5259" y="584042"/>
                  <a:pt x="5259" y="577174"/>
                </a:cubicBezTo>
                <a:lnTo>
                  <a:pt x="5259" y="489011"/>
                </a:lnTo>
                <a:cubicBezTo>
                  <a:pt x="5259" y="484433"/>
                  <a:pt x="8167" y="480288"/>
                  <a:pt x="12497" y="478865"/>
                </a:cubicBezTo>
                <a:cubicBezTo>
                  <a:pt x="79254" y="456778"/>
                  <a:pt x="124480" y="418295"/>
                  <a:pt x="148114" y="363541"/>
                </a:cubicBezTo>
                <a:cubicBezTo>
                  <a:pt x="160983" y="335824"/>
                  <a:pt x="166798" y="309035"/>
                  <a:pt x="165437" y="283112"/>
                </a:cubicBezTo>
                <a:cubicBezTo>
                  <a:pt x="165252" y="279276"/>
                  <a:pt x="162096" y="276306"/>
                  <a:pt x="158322" y="276306"/>
                </a:cubicBezTo>
                <a:lnTo>
                  <a:pt x="18375" y="276306"/>
                </a:lnTo>
                <a:cubicBezTo>
                  <a:pt x="8229" y="276306"/>
                  <a:pt x="0" y="268078"/>
                  <a:pt x="0" y="257931"/>
                </a:cubicBezTo>
                <a:lnTo>
                  <a:pt x="0" y="58466"/>
                </a:lnTo>
                <a:cubicBezTo>
                  <a:pt x="0" y="26171"/>
                  <a:pt x="26171" y="0"/>
                  <a:pt x="58466" y="0"/>
                </a:cubicBezTo>
                <a:close/>
              </a:path>
            </a:pathLst>
          </a:custGeom>
          <a:solidFill>
            <a:schemeClr val="tx1"/>
          </a:solidFill>
          <a:ln w="611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Yu Gothic UI" panose="020B0500000000000000" pitchFamily="34" charset="-128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B8F6EDE-3287-C98A-2287-E97E9546E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5931" y="4963876"/>
            <a:ext cx="270648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820089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7235-22DD-1125-FF85-028A2E64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6359434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65C022-5A4E-84F5-B51B-1431B6A0AE21}"/>
              </a:ext>
            </a:extLst>
          </p:cNvPr>
          <p:cNvSpPr/>
          <p:nvPr userDrawn="1"/>
        </p:nvSpPr>
        <p:spPr bwMode="auto">
          <a:xfrm>
            <a:off x="7228114" y="292100"/>
            <a:ext cx="4659086" cy="6272213"/>
          </a:xfrm>
          <a:prstGeom prst="rect">
            <a:avLst/>
          </a:prstGeom>
          <a:gradFill>
            <a:gsLst>
              <a:gs pos="0">
                <a:srgbClr val="FFB3BB"/>
              </a:gs>
              <a:gs pos="100000">
                <a:srgbClr val="FFB900"/>
              </a:gs>
            </a:gsLst>
            <a:lin ang="81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Segoe UI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5068233-F46E-B659-0799-22A45E3DA2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76380" y="1866864"/>
            <a:ext cx="5544120" cy="3124272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731520" rIns="73152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1020F17E-67BE-FC02-AF7B-709A3923C23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16127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172475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65C022-5A4E-84F5-B51B-1431B6A0AE21}"/>
              </a:ext>
            </a:extLst>
          </p:cNvPr>
          <p:cNvSpPr/>
          <p:nvPr userDrawn="1"/>
        </p:nvSpPr>
        <p:spPr bwMode="auto">
          <a:xfrm>
            <a:off x="304800" y="292100"/>
            <a:ext cx="11582400" cy="6272213"/>
          </a:xfrm>
          <a:prstGeom prst="rect">
            <a:avLst/>
          </a:prstGeom>
          <a:gradFill>
            <a:gsLst>
              <a:gs pos="64000">
                <a:srgbClr val="0D82CB"/>
              </a:gs>
              <a:gs pos="0">
                <a:srgbClr val="7FDE7B"/>
              </a:gs>
            </a:gsLst>
            <a:lin ang="81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3E7235-22DD-1125-FF85-028A2E64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896801"/>
            <a:ext cx="3590037" cy="110799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5068233-F46E-B659-0799-22A45E3DA2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61762" y="1490647"/>
            <a:ext cx="6879337" cy="3876706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2340002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lid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0FE6-6EE4-72F6-EE0C-E481F72F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910837" cy="11079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EC160D-0F95-E237-7287-43174DA4A3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816100"/>
            <a:ext cx="4910838" cy="20436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90C592A4-DBC6-A7A9-63D9-5020A47499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  <a:effectLst/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260422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0FE6-6EE4-72F6-EE0C-E481F72F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910837" cy="110799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EC160D-0F95-E237-7287-43174DA4A3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816100"/>
            <a:ext cx="4910838" cy="20436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830D09FD-2495-FD73-64EA-14E484039E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  <a:effectLst/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808808535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655B182-C5FF-81E8-8156-470DF3249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2798286"/>
            <a:ext cx="4663440" cy="738664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800" spc="-50" baseline="0">
                <a:solidFill>
                  <a:schemeClr val="tx2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C71D650-3B87-D82E-F786-ADD5DDCE4C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199" y="4847464"/>
            <a:ext cx="3898901" cy="246221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5A3663-712F-A49D-172F-24B8615113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99" y="5106140"/>
            <a:ext cx="3898901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Contact information</a:t>
            </a:r>
          </a:p>
        </p:txBody>
      </p:sp>
      <p:pic>
        <p:nvPicPr>
          <p:cNvPr id="8" name="MS logo gray - EMF" descr="Microsoft logo, gray text version">
            <a:extLst>
              <a:ext uri="{FF2B5EF4-FFF2-40B4-BE49-F238E27FC236}">
                <a16:creationId xmlns:a16="http://schemas.microsoft.com/office/drawing/2014/main" id="{4B828D67-4891-FD7F-4AA2-E9E4A65251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48755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655B182-C5FF-81E8-8156-470DF3249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2798286"/>
            <a:ext cx="4663440" cy="738664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800" spc="-50" baseline="0">
                <a:solidFill>
                  <a:schemeClr val="tx2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C71D650-3B87-D82E-F786-ADD5DDCE4C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199" y="4847464"/>
            <a:ext cx="3898901" cy="246221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5A3663-712F-A49D-172F-24B8615113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99" y="5106140"/>
            <a:ext cx="3898901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  <a:latin typeface="Yu Gothic UI" panose="020B0500000000000000" pitchFamily="34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Contact information</a:t>
            </a:r>
          </a:p>
        </p:txBody>
      </p:sp>
      <p:pic>
        <p:nvPicPr>
          <p:cNvPr id="8" name="MS logo gray - EMF" descr="Microsoft logo, gray text version">
            <a:extLst>
              <a:ext uri="{FF2B5EF4-FFF2-40B4-BE49-F238E27FC236}">
                <a16:creationId xmlns:a16="http://schemas.microsoft.com/office/drawing/2014/main" id="{4B828D67-4891-FD7F-4AA2-E9E4A65251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2503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2804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864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solidFill>
                  <a:schemeClr val="tx1"/>
                </a:solidFill>
                <a:latin typeface="Yu Gothic UI" panose="020B0500000000000000" pitchFamily="34" charset="-128"/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81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Yu Gothic UI" panose="020B0500000000000000" pitchFamily="34" charset="-128"/>
              </a:defRPr>
            </a:lvl1pPr>
            <a:lvl2pPr>
              <a:defRPr sz="2800">
                <a:latin typeface="Yu Gothic UI" panose="020B0500000000000000" pitchFamily="34" charset="-128"/>
              </a:defRPr>
            </a:lvl2pPr>
            <a:lvl3pPr>
              <a:defRPr sz="2400">
                <a:latin typeface="Yu Gothic UI" panose="020B0500000000000000" pitchFamily="34" charset="-128"/>
              </a:defRPr>
            </a:lvl3pPr>
            <a:lvl4pPr>
              <a:defRPr sz="2000">
                <a:latin typeface="Yu Gothic UI" panose="020B0500000000000000" pitchFamily="34" charset="-128"/>
              </a:defRPr>
            </a:lvl4pPr>
            <a:lvl5pPr>
              <a:defRPr sz="1800">
                <a:latin typeface="Yu Gothic UI" panose="020B0500000000000000" pitchFamily="34" charset="-128"/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Yu Gothic UI" panose="020B0500000000000000" pitchFamily="34" charset="-128"/>
                <a:ea typeface="Yu Gothic UI" panose="020B0500000000000000" pitchFamily="34" charset="-128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632610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932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4D10F1DD-452F-F619-4660-520CCDC1D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835" y="172453"/>
            <a:ext cx="10515600" cy="468311"/>
          </a:xfrm>
        </p:spPr>
        <p:txBody>
          <a:bodyPr>
            <a:normAutofit/>
          </a:bodyPr>
          <a:lstStyle/>
          <a:p>
            <a:r>
              <a:rPr kumimoji="1" lang="ja-JP" altLang="en-US" sz="2400"/>
              <a:t>タイトル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0B94F0BF-6504-CD68-E38B-65A829D74D7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3242" y="1450848"/>
            <a:ext cx="10883186" cy="4998078"/>
          </a:xfrm>
        </p:spPr>
        <p:txBody>
          <a:bodyPr>
            <a:normAutofit/>
          </a:bodyPr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000"/>
              <a:t>本文</a:t>
            </a:r>
            <a:r>
              <a:rPr kumimoji="1" lang="en-US" altLang="ja-JP" sz="200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000"/>
              <a:t>本文</a:t>
            </a:r>
            <a:r>
              <a:rPr kumimoji="1" lang="en-US" altLang="ja-JP" sz="2000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000"/>
              <a:t>本文</a:t>
            </a:r>
            <a:r>
              <a:rPr kumimoji="1" lang="en-US" altLang="ja-JP" sz="2000"/>
              <a:t>3</a:t>
            </a:r>
            <a:endParaRPr kumimoji="1" lang="ja-JP" altLang="en-US" sz="200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C17FB60-47CA-4831-02A2-239DBC99A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6824" y="650988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Avenir Next LT Pro Light" panose="020B0304020202020204" pitchFamily="34" charset="0"/>
              </a:defRPr>
            </a:lvl1pPr>
          </a:lstStyle>
          <a:p>
            <a:fld id="{AB3DE384-0340-4646-8B85-A681728920E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DD2025FA-0831-142D-9F91-781A7B2D99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7295" y="710638"/>
            <a:ext cx="11569521" cy="62836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44000" tIns="0" rIns="144000" bIns="0" anchor="ctr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kumimoji="1" lang="ja-JP" altLang="en-US"/>
              <a:t>ヘッダ</a:t>
            </a:r>
          </a:p>
        </p:txBody>
      </p:sp>
    </p:spTree>
    <p:extLst>
      <p:ext uri="{BB962C8B-B14F-4D97-AF65-F5344CB8AC3E}">
        <p14:creationId xmlns:p14="http://schemas.microsoft.com/office/powerpoint/2010/main" val="21978104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9773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941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291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926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141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8549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814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3252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416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57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8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Yu Gothic UI" panose="020B0500000000000000" pitchFamily="34" charset="-128"/>
              <a:ea typeface="Yu Gothic UI" panose="020B0500000000000000" pitchFamily="34" charset="-128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Yu Gothic UI" panose="020B0500000000000000" pitchFamily="34" charset="-128"/>
              <a:ea typeface="Yu Gothic UI" panose="020B0500000000000000" pitchFamily="34" charset="-128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0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</p:sldLayoutIdLst>
  <p:transition>
    <p:fade/>
  </p:transition>
  <p:hf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kumimoji="1" lang="en-US" sz="3600" b="0" kern="1200" cap="none" spc="-50" baseline="0" dirty="0" smtClean="0">
          <a:ln w="3175">
            <a:noFill/>
          </a:ln>
          <a:solidFill>
            <a:schemeClr val="tx2"/>
          </a:solidFill>
          <a:effectLst/>
          <a:latin typeface="Yu Gothic UI" panose="020B0500000000000000" pitchFamily="34" charset="-128"/>
          <a:ea typeface="Yu Gothic UI" panose="020B0500000000000000" pitchFamily="34" charset="-128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2800" kern="1200" spc="0" baseline="0">
          <a:solidFill>
            <a:schemeClr val="tx1"/>
          </a:solidFill>
          <a:latin typeface="Yu Gothic UI" panose="020B0500000000000000" pitchFamily="34" charset="-128"/>
          <a:ea typeface="Yu Gothic UI" panose="020B0500000000000000" pitchFamily="34" charset="-128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2000" kern="1200" spc="0" baseline="0">
          <a:solidFill>
            <a:schemeClr val="tx1"/>
          </a:solidFill>
          <a:latin typeface="Yu Gothic UI" panose="020B0500000000000000" pitchFamily="34" charset="-128"/>
          <a:ea typeface="Yu Gothic UI" panose="020B0500000000000000" pitchFamily="34" charset="-128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1600" kern="1200" spc="0" baseline="0">
          <a:solidFill>
            <a:schemeClr val="tx1"/>
          </a:solidFill>
          <a:latin typeface="Yu Gothic UI" panose="020B0500000000000000" pitchFamily="34" charset="-128"/>
          <a:ea typeface="Yu Gothic UI" panose="020B0500000000000000" pitchFamily="34" charset="-128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1400" kern="1200" spc="0" baseline="0">
          <a:solidFill>
            <a:schemeClr val="tx1"/>
          </a:solidFill>
          <a:latin typeface="Yu Gothic UI" panose="020B0500000000000000" pitchFamily="34" charset="-128"/>
          <a:ea typeface="Yu Gothic UI" panose="020B0500000000000000" pitchFamily="34" charset="-128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1400" kern="1200" spc="0" baseline="0">
          <a:solidFill>
            <a:schemeClr val="tx1"/>
          </a:solidFill>
          <a:latin typeface="Yu Gothic UI" panose="020B0500000000000000" pitchFamily="34" charset="-128"/>
          <a:ea typeface="Yu Gothic UI" panose="020B0500000000000000" pitchFamily="34" charset="-128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>
          <p15:clr>
            <a:srgbClr val="C35EA4"/>
          </p15:clr>
        </p15:guide>
        <p15:guide id="17" pos="7320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7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C71CF-C54C-6D1B-A2DB-3E0432C40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D8C42-8F4B-FC81-5CE7-C04B9F925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549521"/>
            <a:ext cx="9144000" cy="984885"/>
          </a:xfrm>
        </p:spPr>
        <p:txBody>
          <a:bodyPr/>
          <a:lstStyle/>
          <a:p>
            <a:r>
              <a:rPr lang="en-US" altLang="ja-JP" dirty="0">
                <a:solidFill>
                  <a:schemeClr val="tx1"/>
                </a:solidFill>
              </a:rPr>
              <a:t>Azure</a:t>
            </a:r>
            <a:r>
              <a:rPr lang="ja-JP" altLang="en-US" dirty="0">
                <a:solidFill>
                  <a:schemeClr val="tx1"/>
                </a:solidFill>
              </a:rPr>
              <a:t> リソースの払い出し効率化</a:t>
            </a:r>
            <a:br>
              <a:rPr lang="en-US" altLang="ja-JP" dirty="0">
                <a:solidFill>
                  <a:schemeClr val="tx1"/>
                </a:solidFill>
              </a:rPr>
            </a:br>
            <a:r>
              <a:rPr lang="en-US" altLang="ja-JP" sz="2400" dirty="0">
                <a:solidFill>
                  <a:schemeClr val="tx1"/>
                </a:solidFill>
              </a:rPr>
              <a:t>AI</a:t>
            </a:r>
            <a:r>
              <a:rPr lang="ja-JP" altLang="en-US" sz="2400" dirty="0">
                <a:solidFill>
                  <a:schemeClr val="tx1"/>
                </a:solidFill>
              </a:rPr>
              <a:t> に頼らなくてもできることはある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21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219456"/>
            <a:ext cx="110212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本資料の構成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804672"/>
            <a:ext cx="11021263" cy="0"/>
          </a:xfrm>
          <a:prstGeom prst="line">
            <a:avLst/>
          </a:prstGeom>
          <a:ln w="12700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896112"/>
            <a:ext cx="11021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払い出し効率化を、目的整理からプロセス設計・自動化・統制・運用まで一連で扱う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182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371600"/>
            <a:ext cx="5358384" cy="950976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" y="1371600"/>
            <a:ext cx="50292" cy="95097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153619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目的と課題認識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1883664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効率化対象を「作る時間」だけにしない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371600"/>
            <a:ext cx="5358384" cy="950976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45352" y="1371600"/>
            <a:ext cx="50292" cy="95097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83096" y="15544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53619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プロセス標準化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1883664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申請情報、判断基準、標準メニューをそろえる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2468880"/>
            <a:ext cx="5358384" cy="950976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85216" y="2468880"/>
            <a:ext cx="50292" cy="950976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26517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49C5B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263347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セルフサービス化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2980944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申請・承認・構築・通知を一気通貫にする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2468880"/>
            <a:ext cx="5358384" cy="950976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45352" y="2468880"/>
            <a:ext cx="50292" cy="950976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83096" y="26517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49C5B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263347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IaC による自動化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2980944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Bicep と Template Specs で標準構成を再利用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" y="3566160"/>
            <a:ext cx="5358384" cy="950976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85216" y="3566160"/>
            <a:ext cx="50292" cy="950976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960" y="3749039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9616" y="37307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ガードレール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9616" y="4078224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Policy / Landing Zone / セキュリティ既定値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3566160"/>
            <a:ext cx="5358384" cy="950976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45352" y="3566160"/>
            <a:ext cx="50292" cy="950976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83096" y="3749039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9752" y="37307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権限付与と運用移管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9752" y="4078224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RBAC、監視、責任者、運用情報を組み込む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" y="4663440"/>
            <a:ext cx="5358384" cy="950976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85216" y="4663440"/>
            <a:ext cx="50292" cy="950976"/>
          </a:xfrm>
          <a:prstGeom prst="rect">
            <a:avLst/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2960" y="48463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2A446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99616" y="482803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コストとライフサイクル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5175504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Budget、期限付き環境、棚卸しで作った後も管理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5352" y="4663440"/>
            <a:ext cx="5358384" cy="950976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245352" y="4663440"/>
            <a:ext cx="50292" cy="950976"/>
          </a:xfrm>
          <a:prstGeom prst="rect">
            <a:avLst/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83096" y="48463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2A446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9752" y="482803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まとめ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9752" y="5175504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段階的な進め方とキーメッセージ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5888736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IaC は中核の実装手段だが、申請・承認・統制・運用移管と組み合わせて初めて効果が出る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219456"/>
            <a:ext cx="110212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リソース払い出しで起きがちな課題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804672"/>
            <a:ext cx="11021263" cy="0"/>
          </a:xfrm>
          <a:prstGeom prst="line">
            <a:avLst/>
          </a:prstGeom>
          <a:ln w="12700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896112"/>
            <a:ext cx="11021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構築作業そのものよりも、その前後の工程で時間と品質が失われている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182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371600"/>
            <a:ext cx="3493008" cy="50292"/>
          </a:xfrm>
          <a:prstGeom prst="rect">
            <a:avLst/>
          </a:prstGeom>
          <a:solidFill>
            <a:srgbClr val="F4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" y="1421892"/>
            <a:ext cx="3493008" cy="1975104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16459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申請が揃わない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084832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用途、責任者、期限、データ分類が不足し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確認の往復が発生する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2926080"/>
            <a:ext cx="1051560" cy="310896"/>
          </a:xfrm>
          <a:prstGeom prst="rect">
            <a:avLst/>
          </a:prstGeom>
          <a:solidFill>
            <a:srgbClr val="F4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" y="2926080"/>
            <a:ext cx="1051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手戻り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371600"/>
            <a:ext cx="3493008" cy="50292"/>
          </a:xfrm>
          <a:prstGeom prst="rect">
            <a:avLst/>
          </a:prstGeom>
          <a:solidFill>
            <a:srgbClr val="F4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97679" y="1421892"/>
            <a:ext cx="3493008" cy="1975104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53712" y="16459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判断が属人化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084832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環境ごとに設計・SKU・ネットワーク構成の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判断がばらつく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53712" y="2926080"/>
            <a:ext cx="1051560" cy="310896"/>
          </a:xfrm>
          <a:prstGeom prst="rect">
            <a:avLst/>
          </a:prstGeom>
          <a:solidFill>
            <a:srgbClr val="F4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53712" y="2926080"/>
            <a:ext cx="1051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ばらつき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1371600"/>
            <a:ext cx="3493008" cy="50292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010144" y="1421892"/>
            <a:ext cx="3493008" cy="1975104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66175" y="16459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承認が分断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084832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セキュリティ、ネットワーク、運用、コストの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確認が個別対応になる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66175" y="2926080"/>
            <a:ext cx="1051560" cy="3108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66175" y="2926080"/>
            <a:ext cx="1051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待ち時間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" y="3657600"/>
            <a:ext cx="3493008" cy="50292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85216" y="3707891"/>
            <a:ext cx="3493008" cy="1975104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1248" y="39319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構築が手作業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370832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手順書ベースのため設定漏れや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環境差分が発生しやすい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" y="5212080"/>
            <a:ext cx="1051560" cy="3108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1248" y="5212080"/>
            <a:ext cx="1051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再現性不足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79" y="3657600"/>
            <a:ext cx="3493008" cy="50292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297679" y="3707891"/>
            <a:ext cx="3493008" cy="1975104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53712" y="39319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運用設定が後回し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370832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監視、ログ、タグ、アラート、責任者設定が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後付けになる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53712" y="5212080"/>
            <a:ext cx="1051560" cy="310896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53712" y="5212080"/>
            <a:ext cx="1051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品質低下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0144" y="3657600"/>
            <a:ext cx="3493008" cy="50292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010144" y="3707891"/>
            <a:ext cx="3493008" cy="1975104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66175" y="39319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作った後が見えない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5" y="4370832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誰が何のために使う環境か、期限やコスト責任が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追えない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66175" y="5212080"/>
            <a:ext cx="1051560" cy="310896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66175" y="5212080"/>
            <a:ext cx="1051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棚卸し困難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" y="603504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結果として、構築作業そのものよりも前後工程に時間がかかっている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219456"/>
            <a:ext cx="110212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改善対象は「作る時間」だけではない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804672"/>
            <a:ext cx="11021263" cy="0"/>
          </a:xfrm>
          <a:prstGeom prst="line">
            <a:avLst/>
          </a:prstGeom>
          <a:ln w="12700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896112"/>
            <a:ext cx="11021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申請、設計、承認、構築、確認、運用移管までのリードタイム全体を短縮する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182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298448"/>
            <a:ext cx="5358384" cy="457200"/>
          </a:xfrm>
          <a:prstGeom prst="rect">
            <a:avLst/>
          </a:prstGeom>
          <a:solidFill>
            <a:srgbClr val="F4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2" y="1298448"/>
            <a:ext cx="49926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Before：人手依存の払い出し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755648"/>
            <a:ext cx="5358384" cy="320040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9536" y="2093976"/>
            <a:ext cx="118872" cy="118872"/>
          </a:xfrm>
          <a:prstGeom prst="rect">
            <a:avLst/>
          </a:prstGeom>
          <a:solidFill>
            <a:srgbClr val="F4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52144" y="2011680"/>
            <a:ext cx="4489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申請内容の確認に時間がかかる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2843784"/>
            <a:ext cx="118872" cy="118872"/>
          </a:xfrm>
          <a:prstGeom prst="rect">
            <a:avLst/>
          </a:prstGeom>
          <a:solidFill>
            <a:srgbClr val="F4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52144" y="2761488"/>
            <a:ext cx="4489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設計判断とレビューが都度発生する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" y="3593591"/>
            <a:ext cx="118872" cy="118872"/>
          </a:xfrm>
          <a:prstGeom prst="rect">
            <a:avLst/>
          </a:prstGeom>
          <a:solidFill>
            <a:srgbClr val="F4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52144" y="3511296"/>
            <a:ext cx="4489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構築・権限付与・監視設定が別々に進む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" y="4343400"/>
            <a:ext cx="118872" cy="118872"/>
          </a:xfrm>
          <a:prstGeom prst="rect">
            <a:avLst/>
          </a:prstGeom>
          <a:solidFill>
            <a:srgbClr val="F4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52144" y="4261104"/>
            <a:ext cx="4489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運用開始後に設定漏れを修正する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298448"/>
            <a:ext cx="5358384" cy="4572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64808" y="1298448"/>
            <a:ext cx="49926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After：一連の流れとして提供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1755648"/>
            <a:ext cx="5358384" cy="320040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19672" y="2093976"/>
            <a:ext cx="118872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12280" y="2011680"/>
            <a:ext cx="4489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標準入力で必要情報を最初にそろえる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9672" y="2843784"/>
            <a:ext cx="118872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12280" y="2761488"/>
            <a:ext cx="4489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承認ルートと構成を自動で判定する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19672" y="3593591"/>
            <a:ext cx="118872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12280" y="3511296"/>
            <a:ext cx="4489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IaC とガードレールで構築する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9672" y="4343400"/>
            <a:ext cx="118872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12280" y="4261104"/>
            <a:ext cx="4489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運用品質を組み込んだ状態で引き渡す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5998464" y="3072384"/>
            <a:ext cx="256032" cy="365760"/>
          </a:xfrm>
          <a:prstGeom prst="triangle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85216" y="5138928"/>
            <a:ext cx="11021263" cy="731520"/>
          </a:xfrm>
          <a:prstGeom prst="rect">
            <a:avLst/>
          </a:prstGeom>
          <a:solidFill>
            <a:srgbClr val="09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50976" y="5138928"/>
            <a:ext cx="10289743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効率化の対象は、申請リードタイム、承認待ち、設計判断、構築作業、運用引き継ぎのすべて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219456"/>
            <a:ext cx="110212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目指す姿：安全に、速く、迷わず使える Azure 環境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804672"/>
            <a:ext cx="11021263" cy="0"/>
          </a:xfrm>
          <a:prstGeom prst="line">
            <a:avLst/>
          </a:prstGeom>
          <a:ln w="12700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896112"/>
            <a:ext cx="11021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払い出し時点で、構築・統制・運用・コスト管理がそろっている状態をつくる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182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417320"/>
            <a:ext cx="3493008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" y="1472184"/>
            <a:ext cx="3493008" cy="320040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" y="171907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317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利用者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52928"/>
            <a:ext cx="296265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用途を選ぶだけで、必要な Azure 環境を</a:t>
            </a:r>
          </a:p>
          <a:p>
            <a:pPr marL="0" marR="0" lvl="0" indent="0" algn="l" defTabSz="4572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安全に使い始められる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" y="4023360"/>
            <a:ext cx="1188720" cy="3291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7824" y="4023360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迷わない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417320"/>
            <a:ext cx="3493008" cy="54864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97679" y="1472184"/>
            <a:ext cx="3493008" cy="320040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0288" y="171907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9C5B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3317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管理者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852928"/>
            <a:ext cx="296265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個別レビューではなく、標準パターンと</a:t>
            </a:r>
          </a:p>
          <a:p>
            <a:pPr marL="0" marR="0" lvl="0" indent="0" algn="l" defTabSz="4572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ポリシーで統制する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0288" y="4023360"/>
            <a:ext cx="1188720" cy="329184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90288" y="4023360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守れる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1417320"/>
            <a:ext cx="3493008" cy="54864"/>
          </a:xfrm>
          <a:prstGeom prst="rect">
            <a:avLst/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10144" y="1472184"/>
            <a:ext cx="3493008" cy="320040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02752" y="171907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2A446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3317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運用チーム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852928"/>
            <a:ext cx="296265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後追いで修正するのではなく、払い出し時点で</a:t>
            </a:r>
          </a:p>
          <a:p>
            <a:pPr marL="0" marR="0" lvl="0" indent="0" algn="l" defTabSz="4572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運用品質を組み込む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02752" y="4023360"/>
            <a:ext cx="1188720" cy="329184"/>
          </a:xfrm>
          <a:prstGeom prst="rect">
            <a:avLst/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02752" y="4023360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運用可能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" y="493776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「早く作る」だけではなく、「安全に、迷わず、運用可能な状態で提供する」ことを目標にする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219456"/>
            <a:ext cx="110212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払い出しプロセス全体の標準化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804672"/>
            <a:ext cx="11021263" cy="0"/>
          </a:xfrm>
          <a:prstGeom prst="line">
            <a:avLst/>
          </a:prstGeom>
          <a:ln w="12700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896112"/>
            <a:ext cx="11021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技術テンプレートより先に、申請情報・判断基準・責任分界点をそろえる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182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371600"/>
            <a:ext cx="3493008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" y="1426464"/>
            <a:ext cx="3493008" cy="3931920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168249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申請情報の標準化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2157984"/>
            <a:ext cx="2980943" cy="0"/>
          </a:xfrm>
          <a:prstGeom prst="line">
            <a:avLst/>
          </a:prstGeom>
          <a:ln w="9525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" y="2414015"/>
            <a:ext cx="100584" cy="1005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233172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利用目的、環境種別、本番／非本番、想定利用期間、利用部門、責任者を必須化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383279"/>
            <a:ext cx="100584" cy="1005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3300984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データ分類、インターネット公開有無、接続先、可用性要件、監査要件を確認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4352544"/>
            <a:ext cx="100584" cy="1005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4270248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タグ、命名規則、コストセンター、運用窓口を申請時点で決める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1371600"/>
            <a:ext cx="3493008" cy="54864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97679" y="1426464"/>
            <a:ext cx="3493008" cy="3931920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53712" y="168249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49C5B1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用途別メニューの定義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53712" y="2157984"/>
            <a:ext cx="2980943" cy="0"/>
          </a:xfrm>
          <a:prstGeom prst="line">
            <a:avLst/>
          </a:prstGeom>
          <a:ln w="9525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553712" y="2414015"/>
            <a:ext cx="100584" cy="100584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09744" y="233172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Web アプリ環境、検証環境、データ分析環境、閉域接続環境などを用意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3712" y="3383279"/>
            <a:ext cx="100584" cy="100584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09744" y="3300984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メニューごとに標準リソース、ネットワーク、セキュリティ、監視、コスト上限を定義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4352544"/>
            <a:ext cx="100584" cy="100584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9744" y="4270248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自由入力ではなく選択式にして、利用者の判断を簡素化する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0144" y="1371600"/>
            <a:ext cx="3493008" cy="54864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010144" y="1426464"/>
            <a:ext cx="3493008" cy="3931920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66175" y="168249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標準と例外の切り分け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66175" y="2157984"/>
            <a:ext cx="2980944" cy="0"/>
          </a:xfrm>
          <a:prstGeom prst="line">
            <a:avLst/>
          </a:prstGeom>
          <a:ln w="9525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266175" y="2414015"/>
            <a:ext cx="100584" cy="100584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22208" y="233172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標準パターンは迅速に払い出す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66175" y="3383279"/>
            <a:ext cx="100584" cy="100584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22208" y="3300984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標準から外れる要件は、追加レビューや個別設計へ回す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66175" y="4352544"/>
            <a:ext cx="100584" cy="100584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22208" y="4270248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例外を記録し、頻出するものは次の標準メニューへ取り込む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" y="553212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標準化によって、自動化できる範囲を広げ、確認の往復を減らす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219456"/>
            <a:ext cx="110212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セルフサービス払い出しの全体像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804672"/>
            <a:ext cx="11021263" cy="0"/>
          </a:xfrm>
          <a:prstGeom prst="line">
            <a:avLst/>
          </a:prstGeom>
          <a:ln w="12700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896112"/>
            <a:ext cx="11021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利用者は待たずに依頼でき、管理者は手作業ではなく仕組みで提供する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182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417320"/>
            <a:ext cx="1965960" cy="306324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" y="1417320"/>
            <a:ext cx="50292" cy="3063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申請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152704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用途別メニューを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ポータルやチケットから選択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2889504"/>
            <a:ext cx="137160" cy="41148"/>
          </a:xfrm>
          <a:prstGeom prst="rect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Isosceles Triangle 12"/>
          <p:cNvSpPr/>
          <p:nvPr/>
        </p:nvSpPr>
        <p:spPr>
          <a:xfrm rot="5400000">
            <a:off x="2743200" y="2807208"/>
            <a:ext cx="155448" cy="219456"/>
          </a:xfrm>
          <a:prstGeom prst="triangle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34640" y="1417320"/>
            <a:ext cx="1965960" cy="306324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834640" y="1417320"/>
            <a:ext cx="50292" cy="3063240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72384" y="1645920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49C5B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217627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判定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384" y="2606040"/>
            <a:ext cx="152704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入力内容に応じて承認ルートと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必要な構成を自動判定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5464" y="2889504"/>
            <a:ext cx="137160" cy="41148"/>
          </a:xfrm>
          <a:prstGeom prst="rect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Isosceles Triangle 19"/>
          <p:cNvSpPr/>
          <p:nvPr/>
        </p:nvSpPr>
        <p:spPr>
          <a:xfrm rot="5400000">
            <a:off x="4992624" y="2807208"/>
            <a:ext cx="155448" cy="219456"/>
          </a:xfrm>
          <a:prstGeom prst="triangle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84064" y="1417320"/>
            <a:ext cx="1965960" cy="306324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84064" y="1417320"/>
            <a:ext cx="50292" cy="3063240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21807" y="1645920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7" y="217627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承認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7" y="2606040"/>
            <a:ext cx="152704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リスクに応じた承認者のみに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承認を依頼し履歴を残す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04887" y="2889504"/>
            <a:ext cx="137160" cy="41148"/>
          </a:xfrm>
          <a:prstGeom prst="rect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Isosceles Triangle 26"/>
          <p:cNvSpPr/>
          <p:nvPr/>
        </p:nvSpPr>
        <p:spPr>
          <a:xfrm rot="5400000">
            <a:off x="7242047" y="2807208"/>
            <a:ext cx="155448" cy="219456"/>
          </a:xfrm>
          <a:prstGeom prst="triangle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333488" y="1417320"/>
            <a:ext cx="1965960" cy="306324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333488" y="1417320"/>
            <a:ext cx="50292" cy="3063240"/>
          </a:xfrm>
          <a:prstGeom prst="rect">
            <a:avLst/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71231" y="1645920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A446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217627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構築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1231" y="2606040"/>
            <a:ext cx="152704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承認後に IaC パイプラインや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自動化処理を実行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54312" y="2889504"/>
            <a:ext cx="137160" cy="41148"/>
          </a:xfrm>
          <a:prstGeom prst="rect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Isosceles Triangle 33"/>
          <p:cNvSpPr/>
          <p:nvPr/>
        </p:nvSpPr>
        <p:spPr>
          <a:xfrm rot="5400000">
            <a:off x="9491472" y="2807208"/>
            <a:ext cx="155448" cy="219456"/>
          </a:xfrm>
          <a:prstGeom prst="triangle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582912" y="1417320"/>
            <a:ext cx="1965960" cy="306324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582912" y="1417320"/>
            <a:ext cx="50292" cy="3063240"/>
          </a:xfrm>
          <a:prstGeom prst="rect">
            <a:avLst/>
          </a:prstGeom>
          <a:solidFill>
            <a:srgbClr val="09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820656" y="1645920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0656" y="217627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通知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0656" y="2606040"/>
            <a:ext cx="152704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アクセス権、利用手順、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運用情報を利用者へ連携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" y="4754880"/>
            <a:ext cx="914400" cy="3108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85216" y="475488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入口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36776" y="47548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Power Platform、ServiceNow、GitHub Issue などを申請 UI にする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79" y="4754880"/>
            <a:ext cx="914400" cy="3108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297679" y="475488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実行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47548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承認後に Azure DevOps / GitHub Actions / Automation を起動する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10144" y="4754880"/>
            <a:ext cx="914400" cy="3108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010144" y="475488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完了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61704" y="47548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利用者へアクセス方法、責任者、期限、問い合わせ先を通知する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" y="562356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スピードと統制を両立させるため、セルフサービスの裏側にガードレールを置く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219456"/>
            <a:ext cx="110212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承認フローとサブスクリプション払い出しの自動化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804672"/>
            <a:ext cx="11021263" cy="0"/>
          </a:xfrm>
          <a:prstGeom prst="line">
            <a:avLst/>
          </a:prstGeom>
          <a:ln w="12700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896112"/>
            <a:ext cx="11021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リスクに応じて承認を分岐させ、初期設定済みの状態で払い出す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182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98448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承認ルートの自動分岐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700784"/>
            <a:ext cx="5358384" cy="896112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5216" y="1700784"/>
            <a:ext cx="50292" cy="896112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1828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49C5B1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低リスク検証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7627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非本番 / 閉域 / 低コスト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700784"/>
            <a:ext cx="25603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自動承認または簡易承認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2752344"/>
            <a:ext cx="5358384" cy="896112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5216" y="2752344"/>
            <a:ext cx="50292" cy="89611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4672" y="28803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通常業務環境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2278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標準メニュー / 部門利用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2752344"/>
            <a:ext cx="25603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部門責任者 ＋ 運用確認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3803904"/>
            <a:ext cx="5358384" cy="896112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85216" y="3803904"/>
            <a:ext cx="50292" cy="896112"/>
          </a:xfrm>
          <a:prstGeom prst="rect">
            <a:avLst/>
          </a:prstGeom>
          <a:solidFill>
            <a:srgbClr val="F4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4672" y="3931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4364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高リスク環境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793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本番 / 外部公開 / 機密データ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6976" y="3803904"/>
            <a:ext cx="25603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セキュリティ ＋ 運用 ＋ コスト承認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298448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サブスクリプション払い出し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1700784"/>
            <a:ext cx="5358384" cy="786384"/>
          </a:xfrm>
          <a:prstGeom prst="rect">
            <a:avLst/>
          </a:prstGeom>
          <a:solidFill>
            <a:srgbClr val="09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19672" y="1700784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空のサブスクリプションを渡さず、運用可能な状態で提供する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2697480"/>
            <a:ext cx="2578608" cy="896112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45352" y="2697480"/>
            <a:ext cx="50292" cy="89611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64808" y="282549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Management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317296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用途や組織に合う階層へ配置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88552" y="2697480"/>
            <a:ext cx="2578608" cy="896112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988552" y="2697480"/>
            <a:ext cx="50292" cy="896112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208008" y="282549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Azure 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8008" y="317296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標準ルールを初期状態で適用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3749039"/>
            <a:ext cx="2578608" cy="896112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45352" y="3749039"/>
            <a:ext cx="50292" cy="896112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64808" y="3877055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RBAC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4224527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利用者グループへ権限を付与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88552" y="3749039"/>
            <a:ext cx="2578608" cy="896112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988552" y="3749039"/>
            <a:ext cx="50292" cy="896112"/>
          </a:xfrm>
          <a:prstGeom prst="rect">
            <a:avLst/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8008" y="3877055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Budget / 診断設定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08008" y="4224527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予算・アラート・ログを設定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502920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大規模組織では、リソース単位よりサブスクリプション単位の標準化が有効になる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219456"/>
            <a:ext cx="110212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IaC による構築自動化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804672"/>
            <a:ext cx="11021263" cy="0"/>
          </a:xfrm>
          <a:prstGeom prst="line">
            <a:avLst/>
          </a:prstGeom>
          <a:ln w="12700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896112"/>
            <a:ext cx="11021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承認済み構成を、再現性高く、短時間で、レビュー可能な形で払い出す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182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98448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IaC の位置づけ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682496"/>
            <a:ext cx="2569464" cy="402336"/>
          </a:xfrm>
          <a:prstGeom prst="rect">
            <a:avLst/>
          </a:prstGeom>
          <a:solidFill>
            <a:srgbClr val="F4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8096" y="1682496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手順書ベースの構築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2084831"/>
            <a:ext cx="2569464" cy="219456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4672" y="2359152"/>
            <a:ext cx="100584" cy="100584"/>
          </a:xfrm>
          <a:prstGeom prst="rect">
            <a:avLst/>
          </a:prstGeom>
          <a:solidFill>
            <a:srgbClr val="F4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2416" y="2286000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担当者によって設定が変わる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017520"/>
            <a:ext cx="100584" cy="100584"/>
          </a:xfrm>
          <a:prstGeom prst="rect">
            <a:avLst/>
          </a:prstGeom>
          <a:solidFill>
            <a:srgbClr val="F4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42416" y="2944368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作業記録と実態がずれる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3675887"/>
            <a:ext cx="100584" cy="100584"/>
          </a:xfrm>
          <a:prstGeom prst="rect">
            <a:avLst/>
          </a:prstGeom>
          <a:solidFill>
            <a:srgbClr val="F4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42416" y="3602736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再作成や横展開に時間がかかる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4136" y="1682496"/>
            <a:ext cx="2569464" cy="40233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57016" y="1682496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IaC による構築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4136" y="2084831"/>
            <a:ext cx="2569464" cy="219456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593591" y="2359152"/>
            <a:ext cx="100584" cy="1005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31335" y="2286000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構成をコードとして定義する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93591" y="3017520"/>
            <a:ext cx="100584" cy="1005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31335" y="2944368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Pull Request で変更をレビューする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93591" y="3675887"/>
            <a:ext cx="100584" cy="1005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31335" y="3602736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環境差分をパラメーターで吸収する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1298448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標準テンプレートの整備と共有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682496"/>
            <a:ext cx="5358384" cy="1280160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45352" y="1682496"/>
            <a:ext cx="50292" cy="1280160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83096" y="184708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49C5B1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Bicep によるモジュール化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2212848"/>
            <a:ext cx="4892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リソースグループ、ネットワーク、App Service、Storage、Key Vault などをモジュール化し、命名・タグ・診断設定・Managed Identity を組み込む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3145536"/>
            <a:ext cx="5358384" cy="1280160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245352" y="3145536"/>
            <a:ext cx="50292" cy="1280160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83096" y="331012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Template Specs による共有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3096" y="3675888"/>
            <a:ext cx="4892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承認済みテンプレートを Azure 上でバージョン管理して共有し、更新・廃止・バージョン固定を管理する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4608576"/>
            <a:ext cx="5358384" cy="1280160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245352" y="4608576"/>
            <a:ext cx="50292" cy="1280160"/>
          </a:xfrm>
          <a:prstGeom prst="rect">
            <a:avLst/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83096" y="477316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A446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コピー分岐を防ぐ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3096" y="5138928"/>
            <a:ext cx="4892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各チームが独自にテンプレートを複製して分岐する状態を避け、レビュー済みの標準だけを利用対象にする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" y="461772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IaC は再現性を高めるが、申請・承認・権限付与・運用引き継ぎは別途設計が必要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219456"/>
            <a:ext cx="110212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ガードレールによる安全な自動化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804672"/>
            <a:ext cx="11021263" cy="0"/>
          </a:xfrm>
          <a:prstGeom prst="line">
            <a:avLst/>
          </a:prstGeom>
          <a:ln w="12700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896112"/>
            <a:ext cx="11021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人が毎回レビューするのではなく、守るべきルールを自動適用する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182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98448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Azure Policy によるルール適用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700784"/>
            <a:ext cx="5358384" cy="768096"/>
          </a:xfrm>
          <a:prstGeom prst="rect">
            <a:avLst/>
          </a:prstGeom>
          <a:solidFill>
            <a:srgbClr val="F4F3F5"/>
          </a:solidFill>
          <a:ln w="9525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5216" y="1700784"/>
            <a:ext cx="50292" cy="768096"/>
          </a:xfrm>
          <a:prstGeom prst="rect">
            <a:avLst/>
          </a:prstGeom>
          <a:solidFill>
            <a:srgbClr val="F4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4364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1700784"/>
            <a:ext cx="361188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許可されていないリージョン、SKU、Public IP の作成を拒否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2596896"/>
            <a:ext cx="535838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85216" y="2596896"/>
            <a:ext cx="50292" cy="7680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2596896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B9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6" y="2596896"/>
            <a:ext cx="361188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標準外構成や未設定項目を検出し、継続的に可視化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3493008"/>
            <a:ext cx="5358384" cy="768096"/>
          </a:xfrm>
          <a:prstGeom prst="rect">
            <a:avLst/>
          </a:prstGeom>
          <a:solidFill>
            <a:srgbClr val="F4F3F5"/>
          </a:solidFill>
          <a:ln w="9525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85216" y="3493008"/>
            <a:ext cx="50292" cy="768096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3493008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49C5B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Modify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3493008"/>
            <a:ext cx="361188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必須タグや診断設定などを作成時に自動補完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4389120"/>
            <a:ext cx="535838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85216" y="4389120"/>
            <a:ext cx="50292" cy="7680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Remediate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5416" y="4389120"/>
            <a:ext cx="361188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既存リソースのポリシー違反を修復タスクで是正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1298448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Landing Zone とセキュリティ既定値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1700784"/>
            <a:ext cx="5358384" cy="1097280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45352" y="1700784"/>
            <a:ext cx="50292" cy="10972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83096" y="184708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Management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219456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組織全体の標準設定を階層で管理し、配置するだけで標準ルールを適用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2935224"/>
            <a:ext cx="5358384" cy="1097280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45352" y="2935224"/>
            <a:ext cx="50292" cy="1097280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83096" y="308152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49C5B1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Landing Zone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342900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ネットワーク、ID、セキュリティ、ログ、ポリシーの共通基盤を整備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4169664"/>
            <a:ext cx="5358384" cy="1097280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245352" y="4169664"/>
            <a:ext cx="50292" cy="1097280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83096" y="431596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セキュリティ既定値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3096" y="466344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Defender for Cloud、Log Analytics、診断設定、Key Vault、Managed Identity、Private Endpoint を標準構成に含める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" y="544068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スピードを上げるほど、禁止・強制・監査の仕組みが重要になる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219456"/>
            <a:ext cx="110212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権限付与と運用移管の効率化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804672"/>
            <a:ext cx="11021263" cy="0"/>
          </a:xfrm>
          <a:prstGeom prst="line">
            <a:avLst/>
          </a:prstGeom>
          <a:ln w="12700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896112"/>
            <a:ext cx="11021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リソースを作って終わりではなく、利用開始と運用開始までをスムーズにする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182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371600"/>
            <a:ext cx="3493008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" y="1426464"/>
            <a:ext cx="3493008" cy="3977639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権限付与の標準化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2139696"/>
            <a:ext cx="2980943" cy="0"/>
          </a:xfrm>
          <a:prstGeom prst="line">
            <a:avLst/>
          </a:prstGeom>
          <a:ln w="9525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" y="2377440"/>
            <a:ext cx="100584" cy="1005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2304288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個人に直接付与せず、Entra ID グループを経由する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127248"/>
            <a:ext cx="100584" cy="1005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3054096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Owner / Contributor / Reader を用途別に定義する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3877056"/>
            <a:ext cx="100584" cy="1005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3803904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本番の強権限は PIM で期限付き・承認付きにする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4626864"/>
            <a:ext cx="100584" cy="1005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4553712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グループ作成、メンバー追加、RBAC 割り当てを自動化する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1371600"/>
            <a:ext cx="3493008" cy="54864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297679" y="1426464"/>
            <a:ext cx="3493008" cy="3977639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53712" y="16642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9C5B1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監視・ログ・アラート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53712" y="2139696"/>
            <a:ext cx="2980943" cy="0"/>
          </a:xfrm>
          <a:prstGeom prst="line">
            <a:avLst/>
          </a:prstGeom>
          <a:ln w="9525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553712" y="2377440"/>
            <a:ext cx="100584" cy="100584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09744" y="2304288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Log Analytics、Application Insights、診断設定を標準適用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3127248"/>
            <a:ext cx="100584" cy="100584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9744" y="3054096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リソース種別ごとに必要なメトリック・ログをテンプレート化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53712" y="3877056"/>
            <a:ext cx="100584" cy="100584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09744" y="3803904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アラート通知先を運用チーム・利用部門・責任者へ紐づける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53712" y="4626864"/>
            <a:ext cx="100584" cy="100584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09744" y="4553712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監視未設定のまま利用開始される状態を防ぐ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0144" y="1371600"/>
            <a:ext cx="3493008" cy="54864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010144" y="1426464"/>
            <a:ext cx="3493008" cy="3977639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66175" y="16642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運用移管情報の自動生成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66175" y="2139696"/>
            <a:ext cx="2980944" cy="0"/>
          </a:xfrm>
          <a:prstGeom prst="line">
            <a:avLst/>
          </a:prstGeom>
          <a:ln w="9525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266175" y="2377440"/>
            <a:ext cx="100584" cy="100584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22208" y="2304288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リソース一覧、構成情報、責任者、コストセンターを記録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66175" y="3127248"/>
            <a:ext cx="100584" cy="100584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22208" y="3054096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利用開始手順、接続情報、運用窓口、エスカレーション先を通知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66175" y="3877056"/>
            <a:ext cx="100584" cy="100584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22208" y="3803904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CMDB やチケットシステムと連携し資産管理へ反映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66175" y="4626864"/>
            <a:ext cx="100584" cy="100584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522208" y="4553712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「誰が何のために使う環境か」を後から追えるようにする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" y="557784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運用チームの後追い対応や設定漏れを、払い出しプロセスの中で減らす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219456"/>
            <a:ext cx="110212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コストとライフサイクル管理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804672"/>
            <a:ext cx="11021263" cy="0"/>
          </a:xfrm>
          <a:prstGeom prst="line">
            <a:avLst/>
          </a:prstGeom>
          <a:ln w="12700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896112"/>
            <a:ext cx="11021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速く払い出すだけでなく、不要リソースやコスト増を抑える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182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98448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コスト可視化の組み込み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700784"/>
            <a:ext cx="2578608" cy="859536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5216" y="1700784"/>
            <a:ext cx="50292" cy="85953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1828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タグ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57984"/>
            <a:ext cx="2240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部門、案件、環境、責任者、期限を必須化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8416" y="1700784"/>
            <a:ext cx="2578608" cy="859536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28416" y="1700784"/>
            <a:ext cx="50292" cy="859536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47872" y="1828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49C5B1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157984"/>
            <a:ext cx="2240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サブスクリプションや RG 単位で予算を設定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2706624"/>
            <a:ext cx="2578608" cy="859536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85216" y="2706624"/>
            <a:ext cx="50292" cy="859536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4672" y="2834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Cost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163824"/>
            <a:ext cx="2240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予算超過や急増を責任者へ自動通知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28416" y="2706624"/>
            <a:ext cx="2578608" cy="859536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328416" y="2706624"/>
            <a:ext cx="50292" cy="859536"/>
          </a:xfrm>
          <a:prstGeom prst="rect">
            <a:avLst/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47872" y="2834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A446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レポート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163824"/>
            <a:ext cx="2240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月次の利用状況を部門・案件単位で可視化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3877056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検証環境の期限付き払い出し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" y="4370832"/>
            <a:ext cx="100584" cy="100584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9536" y="4297680"/>
            <a:ext cx="50292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PoC・検証・開発環境には利用期限を設定する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" y="4882896"/>
            <a:ext cx="100584" cy="100584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9536" y="4809744"/>
            <a:ext cx="50292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期限前通知、延長申請、自動停止、自動削除の流れを用意する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" y="5394960"/>
            <a:ext cx="100584" cy="100584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9536" y="5321808"/>
            <a:ext cx="50292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夜間・休日停止やスケールダウンを標準化する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1298448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継続的な棚卸しと改善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1700784"/>
            <a:ext cx="5358384" cy="1042415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45352" y="1700784"/>
            <a:ext cx="50292" cy="1042415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83096" y="184708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未使用検出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3096" y="2176272"/>
            <a:ext cx="48920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未使用リソース、孤立ディスク、未接続 Public IP、低利用 VM を定期検出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5352" y="2889504"/>
            <a:ext cx="5358384" cy="1042415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245352" y="2889504"/>
            <a:ext cx="50292" cy="1042415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83096" y="303580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49C5B1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例外分析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3096" y="3364992"/>
            <a:ext cx="48920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例外利用や標準外構成をレビューし、必要に応じて標準メニューへ反映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5352" y="4078224"/>
            <a:ext cx="5358384" cy="1042415"/>
          </a:xfrm>
          <a:prstGeom prst="rect">
            <a:avLst/>
          </a:prstGeom>
          <a:noFill/>
          <a:ln w="12700">
            <a:solidFill>
              <a:srgbClr val="D6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245352" y="4078224"/>
            <a:ext cx="50292" cy="1042415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83096" y="422452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KPI 可視化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83096" y="4553712"/>
            <a:ext cx="48920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コスト、リードタイム、ポリシー違反数、手作業件数を継続的に測定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45352" y="5321808"/>
            <a:ext cx="5358384" cy="694944"/>
          </a:xfrm>
          <a:prstGeom prst="rect">
            <a:avLst/>
          </a:prstGeom>
          <a:solidFill>
            <a:srgbClr val="09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19672" y="5321808"/>
            <a:ext cx="48463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払い出しプロセスを一度作って終わりにせず、継続的に改善する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219456"/>
            <a:ext cx="110212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払い出し効率化の全体像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804672"/>
            <a:ext cx="11021263" cy="0"/>
          </a:xfrm>
          <a:prstGeom prst="line">
            <a:avLst/>
          </a:prstGeom>
          <a:ln w="12700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896112"/>
            <a:ext cx="11021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5 つの要素を組み合わせて初めて、安全に速く提供できる状態になる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182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554480"/>
            <a:ext cx="1965960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" y="1609344"/>
            <a:ext cx="1965960" cy="228600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6384" y="1874519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標準化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" y="2578608"/>
            <a:ext cx="1554480" cy="0"/>
          </a:xfrm>
          <a:prstGeom prst="line">
            <a:avLst/>
          </a:prstGeom>
          <a:ln w="9525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6384" y="2743200"/>
            <a:ext cx="1627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入力、構成、判断基準をそろえる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554480"/>
            <a:ext cx="1965960" cy="54864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34640" y="1609344"/>
            <a:ext cx="1965960" cy="228600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35808" y="1874519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49C5B1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セルフサービス化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35808" y="2578608"/>
            <a:ext cx="1554480" cy="0"/>
          </a:xfrm>
          <a:prstGeom prst="line">
            <a:avLst/>
          </a:prstGeom>
          <a:ln w="9525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035808" y="2743200"/>
            <a:ext cx="1627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利用者が迷わず依頼できる入口を作る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4064" y="1554480"/>
            <a:ext cx="1965960" cy="54864"/>
          </a:xfrm>
          <a:prstGeom prst="rect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84064" y="1609344"/>
            <a:ext cx="1965960" cy="228600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85231" y="1874519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IaC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85231" y="2578608"/>
            <a:ext cx="1554481" cy="0"/>
          </a:xfrm>
          <a:prstGeom prst="line">
            <a:avLst/>
          </a:prstGeom>
          <a:ln w="9525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85231" y="2743200"/>
            <a:ext cx="1627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再現性高く、短時間で構築する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1554480"/>
            <a:ext cx="1965960" cy="54864"/>
          </a:xfrm>
          <a:prstGeom prst="rect">
            <a:avLst/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333488" y="1609344"/>
            <a:ext cx="1965960" cy="228600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34656" y="1874519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2A446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ガードレール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34656" y="2578608"/>
            <a:ext cx="1554480" cy="0"/>
          </a:xfrm>
          <a:prstGeom prst="line">
            <a:avLst/>
          </a:prstGeom>
          <a:ln w="9525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34656" y="2743200"/>
            <a:ext cx="1627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セキュリティ、コスト、運用品質を自動で担保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82912" y="1554480"/>
            <a:ext cx="1965960" cy="54864"/>
          </a:xfrm>
          <a:prstGeom prst="rect">
            <a:avLst/>
          </a:prstGeom>
          <a:solidFill>
            <a:srgbClr val="09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582912" y="1609344"/>
            <a:ext cx="1965960" cy="2286000"/>
          </a:xfrm>
          <a:prstGeom prst="rect">
            <a:avLst/>
          </a:prstGeom>
          <a:solidFill>
            <a:srgbClr val="F4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84080" y="1874519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運用組み込み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84080" y="2578608"/>
            <a:ext cx="1554480" cy="0"/>
          </a:xfrm>
          <a:prstGeom prst="line">
            <a:avLst/>
          </a:prstGeom>
          <a:ln w="9525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784080" y="2743200"/>
            <a:ext cx="1627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監視、権限、責任者、ライフサイクルまで提供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" y="4279392"/>
            <a:ext cx="11021263" cy="914400"/>
          </a:xfrm>
          <a:prstGeom prst="rect">
            <a:avLst/>
          </a:prstGeom>
          <a:solidFill>
            <a:srgbClr val="09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50976" y="4279392"/>
            <a:ext cx="1028974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安全に、速く、迷わず使える Azure 環境を、標準サービスとして提供する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544068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IaC は重要な実装手段だが、申請・承認・統制・運用移管と組み合わせて初めて効果が出る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219456"/>
            <a:ext cx="110212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段階的な進め方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804672"/>
            <a:ext cx="11021263" cy="0"/>
          </a:xfrm>
          <a:prstGeom prst="line">
            <a:avLst/>
          </a:prstGeom>
          <a:ln w="12700">
            <a:solidFill>
              <a:srgbClr val="D6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896112"/>
            <a:ext cx="11021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現状の可視化から始め、標準化・自動化・統制・セルフサービス化へ広げる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182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2295144"/>
            <a:ext cx="1965960" cy="2871215"/>
          </a:xfrm>
          <a:prstGeom prst="rect">
            <a:avLst/>
          </a:prstGeom>
          <a:solidFill>
            <a:srgbClr val="8D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2" y="25146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07208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現状可視化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4672" y="3502152"/>
            <a:ext cx="1508760" cy="0"/>
          </a:xfrm>
          <a:prstGeom prst="line">
            <a:avLst/>
          </a:prstGeom>
          <a:ln w="9525">
            <a:solidFill>
              <a:srgbClr val="091F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2" y="3666744"/>
            <a:ext cx="157276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払い出しフローとボトルネックを洗い出す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075688"/>
            <a:ext cx="1965960" cy="30906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4096" y="229514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587752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標準メニュー化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4096" y="3282696"/>
            <a:ext cx="150876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054096" y="3447288"/>
            <a:ext cx="157276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よくあるリソースパターンをカタログ化する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4064" y="1856232"/>
            <a:ext cx="1965960" cy="3310127"/>
          </a:xfrm>
          <a:prstGeom prst="rect">
            <a:avLst/>
          </a:prstGeom>
          <a:solidFill>
            <a:srgbClr val="49C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03520" y="207568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368296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IaC 整備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03520" y="3063240"/>
            <a:ext cx="1508759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03520" y="3227832"/>
            <a:ext cx="157276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Bicep などで標準テンプレートを整備する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1636776"/>
            <a:ext cx="1965960" cy="3529583"/>
          </a:xfrm>
          <a:prstGeom prst="rect">
            <a:avLst/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52944" y="185623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2148840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統制の組み込み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52944" y="2843784"/>
            <a:ext cx="150876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52944" y="3008376"/>
            <a:ext cx="157276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Policy、RBAC、Budget、監視を組み込む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82912" y="1417320"/>
            <a:ext cx="1965960" cy="3749039"/>
          </a:xfrm>
          <a:prstGeom prst="rect">
            <a:avLst/>
          </a:prstGeom>
          <a:solidFill>
            <a:srgbClr val="09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02368" y="163677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1929384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セルフサービス化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02368" y="2624328"/>
            <a:ext cx="150876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802368" y="2788920"/>
            <a:ext cx="157276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ポータルやチケット連携で入口を提供する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" y="548640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まず現状整理と標準メニュー定義から着手し、効果を確認しながら範囲を広げる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5216" y="585216"/>
            <a:ext cx="132588" cy="132588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3407" y="585216"/>
            <a:ext cx="132588" cy="132588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743407"/>
            <a:ext cx="132588" cy="132588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3407" y="743407"/>
            <a:ext cx="132588" cy="132588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6579" y="566928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182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8DC8E8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630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キーメッセージ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011680"/>
            <a:ext cx="8778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目指すのは「早く作る」ことではなく、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「安全に、迷わず、運用可能な状態で提供する」こと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5216" y="3785615"/>
            <a:ext cx="1097279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85216" y="4224528"/>
            <a:ext cx="118872" cy="118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4114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IaC は実装手段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4114800"/>
            <a:ext cx="76809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申請・承認・統制・運用移管と組み合わせて初めて効果が出る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4864608"/>
            <a:ext cx="118872" cy="118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標準化が基盤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4754880"/>
            <a:ext cx="76809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入力・構成・判断基準をそろえることで自動化できる範囲が広がる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5504688"/>
            <a:ext cx="118872" cy="118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6112" y="53949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作った後まで設計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5394960"/>
            <a:ext cx="76809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+mn-ea"/>
                <a:cs typeface="+mn-cs"/>
              </a:rPr>
              <a:t>権限、監視、コスト、ライフサイクルを払い出し時点で組み込む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2023 Template">
  <a:themeElements>
    <a:clrScheme name="Custom 4">
      <a:dk1>
        <a:srgbClr val="000000"/>
      </a:dk1>
      <a:lt1>
        <a:srgbClr val="FFFFFF"/>
      </a:lt1>
      <a:dk2>
        <a:srgbClr val="0078D4"/>
      </a:dk2>
      <a:lt2>
        <a:srgbClr val="E8E6DF"/>
      </a:lt2>
      <a:accent1>
        <a:srgbClr val="0078D4"/>
      </a:accent1>
      <a:accent2>
        <a:srgbClr val="2A446F"/>
      </a:accent2>
      <a:accent3>
        <a:srgbClr val="49C5B1"/>
      </a:accent3>
      <a:accent4>
        <a:srgbClr val="8DE971"/>
      </a:accent4>
      <a:accent5>
        <a:srgbClr val="F4364F"/>
      </a:accent5>
      <a:accent6>
        <a:srgbClr val="C03BC4"/>
      </a:accent6>
      <a:hlink>
        <a:srgbClr val="091F2C"/>
      </a:hlink>
      <a:folHlink>
        <a:srgbClr val="091F2C"/>
      </a:folHlink>
    </a:clrScheme>
    <a:fontScheme name="Custom 4">
      <a:majorFont>
        <a:latin typeface="Segoe Sans Text Semibold"/>
        <a:ea typeface=""/>
        <a:cs typeface=""/>
      </a:majorFont>
      <a:minorFont>
        <a:latin typeface="Segoe Sans Tex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pt-temp-zukako-202606" id="{23E9B240-4F91-42A5-A1CD-006A9BB1DFD2}" vid="{2F7A8913-8206-4755-8D1B-E3D020321D70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1088</Words>
  <Application>Microsoft Office PowerPoint</Application>
  <PresentationFormat>Widescreen</PresentationFormat>
  <Paragraphs>330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Arial</vt:lpstr>
      <vt:lpstr>Avenir Next LT Pro Light</vt:lpstr>
      <vt:lpstr>Calibri</vt:lpstr>
      <vt:lpstr>Segoe UI</vt:lpstr>
      <vt:lpstr>Wingdings</vt:lpstr>
      <vt:lpstr>Yu Gothic UI</vt:lpstr>
      <vt:lpstr>Azure 2023 Template</vt:lpstr>
      <vt:lpstr>2_Office Theme</vt:lpstr>
      <vt:lpstr>Azure リソースの払い出し効率化 AI に頼らなくてもできることはある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Koki Ishizuka</dc:creator>
  <cp:lastModifiedBy>Koki Ishizuka</cp:lastModifiedBy>
  <cp:revision>1</cp:revision>
  <dcterms:created xsi:type="dcterms:W3CDTF">2026-09-08T05:55:08Z</dcterms:created>
  <dcterms:modified xsi:type="dcterms:W3CDTF">2026-09-08T05:56:32Z</dcterms:modified>
</cp:coreProperties>
</file>